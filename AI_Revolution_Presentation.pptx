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65760"/>
            <a:ext cx="1371600" cy="1371600"/>
          </a:xfrm>
          <a:prstGeom prst="ellipse">
            <a:avLst/>
          </a:prstGeom>
          <a:solidFill>
            <a:srgbClr val="1A3A5C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286000"/>
            <a:ext cx="731520" cy="731520"/>
          </a:xfrm>
          <a:prstGeom prst="ellipse">
            <a:avLst/>
          </a:prstGeom>
          <a:solidFill>
            <a:srgbClr val="1A3A5C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3474720"/>
            <a:ext cx="1097280" cy="1097280"/>
          </a:xfrm>
          <a:prstGeom prst="ellipse">
            <a:avLst/>
          </a:prstGeom>
          <a:solidFill>
            <a:srgbClr val="1A3A5C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0" y="1737360"/>
            <a:ext cx="0" cy="54864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2834640"/>
            <a:ext cx="0" cy="64008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7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STRATEGY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9144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REVOLUTION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Machine Learning to Agentic AI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20040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0604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deep-dive for CTOs, Enterprise Architects,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Architects &amp; Developers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828800" cy="347472"/>
          </a:xfrm>
          <a:prstGeom prst="rect">
            <a:avLst/>
          </a:prstGeom>
          <a:solidFill>
            <a:srgbClr val="0D3A5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657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1143000" cy="320040"/>
          </a:xfrm>
          <a:prstGeom prst="rect">
            <a:avLst/>
          </a:prstGeom>
          <a:solidFill>
            <a:srgbClr val="38BDF8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2062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91640" y="4206240"/>
            <a:ext cx="1143000" cy="320040"/>
          </a:xfrm>
          <a:prstGeom prst="rect">
            <a:avLst/>
          </a:prstGeom>
          <a:solidFill>
            <a:srgbClr val="818CF8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91640" y="42062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0" y="4206240"/>
            <a:ext cx="1143000" cy="320040"/>
          </a:xfrm>
          <a:prstGeom prst="rect">
            <a:avLst/>
          </a:prstGeom>
          <a:solidFill>
            <a:srgbClr val="34D399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26080" y="42062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60520" y="4206240"/>
            <a:ext cx="1143000" cy="320040"/>
          </a:xfrm>
          <a:prstGeom prst="rect">
            <a:avLst/>
          </a:prstGeom>
          <a:solidFill>
            <a:srgbClr val="FB923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60520" y="42062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9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1645920" cy="1645920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468880"/>
            <a:ext cx="822960" cy="822960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47472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54864" cy="9601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447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4447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Evolution Timeline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8105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years of AI development condensed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411480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68880"/>
            <a:ext cx="54864" cy="9601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420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25420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Foundations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9077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training, and supervised/unsupervised learning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411480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66160"/>
            <a:ext cx="54864" cy="9601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6393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4128" y="36393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Neural Networks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40050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CNNs, RNNs, LSTMs and the deep learning revolution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1371600"/>
            <a:ext cx="411480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371600"/>
            <a:ext cx="54864" cy="9601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4447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4688" y="14447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&amp; GPT Models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04688" y="18105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mechanisms, LLMs and generative AI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468880"/>
            <a:ext cx="411480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468880"/>
            <a:ext cx="54864" cy="9601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5420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04688" y="25420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Auto Agents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04688" y="29077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agents, multi-agent systems, orchestration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3566160"/>
            <a:ext cx="411480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566160"/>
            <a:ext cx="54864" cy="9601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6393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04688" y="36393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&amp; Strategy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04688" y="40050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patterns, governance, and what it means for your org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EVOLUTION 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70+ Years of Artificial Intelligence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0"/>
            <a:ext cx="84124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624328"/>
            <a:ext cx="274320" cy="274320"/>
          </a:xfrm>
          <a:prstGeom prst="ellipse">
            <a:avLst/>
          </a:prstGeom>
          <a:solidFill>
            <a:srgbClr val="4B556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150876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1508760" cy="4572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Winter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expert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43000" y="2514600"/>
            <a:ext cx="0" cy="109728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2624328"/>
            <a:ext cx="274320" cy="2743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Shape 12"/>
          <p:cNvSpPr/>
          <p:nvPr/>
        </p:nvSpPr>
        <p:spPr>
          <a:xfrm>
            <a:off x="2148840" y="2926080"/>
            <a:ext cx="150876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48840" y="2926080"/>
            <a:ext cx="150876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2148840" y="2926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1990s–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48840" y="33101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3749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SVMs, Decision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Trees, Random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34640" y="2898648"/>
            <a:ext cx="0" cy="27432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2624328"/>
            <a:ext cx="274320" cy="2743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1188720"/>
            <a:ext cx="150876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0" y="1188720"/>
            <a:ext cx="150876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1188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0" y="157276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2011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CNNs, RNNs,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26280" y="2514600"/>
            <a:ext cx="0" cy="109728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2624328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532120" y="2926080"/>
            <a:ext cx="150876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32120" y="2926080"/>
            <a:ext cx="15087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Text 28"/>
          <p:cNvSpPr/>
          <p:nvPr/>
        </p:nvSpPr>
        <p:spPr>
          <a:xfrm>
            <a:off x="5532120" y="2926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32120" y="33101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Era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3749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GPT-3,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17920" y="2898648"/>
            <a:ext cx="0" cy="27432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2624328"/>
            <a:ext cx="274320" cy="27432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5" name="Shape 33"/>
          <p:cNvSpPr/>
          <p:nvPr/>
        </p:nvSpPr>
        <p:spPr>
          <a:xfrm>
            <a:off x="7223760" y="1188720"/>
            <a:ext cx="150876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23760" y="1188720"/>
            <a:ext cx="150876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0" y="1188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23760" y="157276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2011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agents,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apps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909560" y="2514600"/>
            <a:ext cx="0" cy="109728"/>
          </a:xfrm>
          <a:prstGeom prst="line">
            <a:avLst/>
          </a:prstGeom>
          <a:noFill/>
          <a:ln w="1270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4279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You Are Here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ORIGIN STORY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Image Processing Cracked a Gold Theft Case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1371600" cy="384048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– 2017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1430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ML &amp; Early Deep Learning Era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64208"/>
            <a:ext cx="1993392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664208"/>
            <a:ext cx="19933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" y="182880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704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2542032"/>
            <a:ext cx="1042416" cy="384048"/>
          </a:xfrm>
          <a:prstGeom prst="rect">
            <a:avLst/>
          </a:prstGeom>
          <a:solidFill>
            <a:srgbClr val="0A12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542032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308152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Footage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630168"/>
            <a:ext cx="17739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surveillance video from the railway station covering the critical time window of the gold theft incident.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50008" y="28529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96312" y="1664208"/>
            <a:ext cx="1993392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96312" y="1664208"/>
            <a:ext cx="199339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9544" y="1828800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9544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971800" y="2542032"/>
            <a:ext cx="1042416" cy="384048"/>
          </a:xfrm>
          <a:prstGeom prst="rect">
            <a:avLst/>
          </a:prstGeom>
          <a:solidFill>
            <a:srgbClr val="0A12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2542032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87752" y="308152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606040" y="3630168"/>
            <a:ext cx="17739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frame extraction, noise reduction, contrast enhancement and object detection to isolate usable frames from grainy footage.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98848" y="28529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45152" y="1664208"/>
            <a:ext cx="1993392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45152" y="1664208"/>
            <a:ext cx="1993392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Shape 27"/>
          <p:cNvSpPr/>
          <p:nvPr/>
        </p:nvSpPr>
        <p:spPr>
          <a:xfrm>
            <a:off x="5358384" y="1828800"/>
            <a:ext cx="566928" cy="5669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5358384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120640" y="2542032"/>
            <a:ext cx="1042416" cy="384048"/>
          </a:xfrm>
          <a:prstGeom prst="rect">
            <a:avLst/>
          </a:prstGeom>
          <a:solidFill>
            <a:srgbClr val="0A12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542032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36592" y="308152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Vehicle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54880" y="3630168"/>
            <a:ext cx="17739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and identified the auto-rickshaw using shape detection, pattern matching and license plate region analysis across frames.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647688" y="28529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793992" y="1664208"/>
            <a:ext cx="1993392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93992" y="1664208"/>
            <a:ext cx="1993392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8" name="Shape 36"/>
          <p:cNvSpPr/>
          <p:nvPr/>
        </p:nvSpPr>
        <p:spPr>
          <a:xfrm>
            <a:off x="7507224" y="1828800"/>
            <a:ext cx="566928" cy="566928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9" name="Text 37"/>
          <p:cNvSpPr/>
          <p:nvPr/>
        </p:nvSpPr>
        <p:spPr>
          <a:xfrm>
            <a:off x="7507224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269480" y="2542032"/>
            <a:ext cx="1042416" cy="384048"/>
          </a:xfrm>
          <a:prstGeom prst="rect">
            <a:avLst/>
          </a:prstGeom>
          <a:solidFill>
            <a:srgbClr val="0A122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9480" y="2542032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85432" y="308152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Passion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Ignited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903720" y="3630168"/>
            <a:ext cx="17739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real-world success — solving a crime through pixels and algorithms — sparked a deep, lasting passion for AI and Machine Learning.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7472" y="4773168"/>
            <a:ext cx="8449056" cy="256032"/>
          </a:xfrm>
          <a:prstGeom prst="rect">
            <a:avLst/>
          </a:prstGeom>
          <a:solidFill>
            <a:srgbClr val="1C0F00"/>
          </a:solidFill>
          <a:ln/>
        </p:spPr>
      </p:sp>
      <p:sp>
        <p:nvSpPr>
          <p:cNvPr id="45" name="Shape 43"/>
          <p:cNvSpPr/>
          <p:nvPr/>
        </p:nvSpPr>
        <p:spPr>
          <a:xfrm>
            <a:off x="347472" y="4773168"/>
            <a:ext cx="54864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47823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AI is most powerful when it solves real problems — this case proved that pixels, math, and curiosity can bring justice.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ROADS TO THE SKY — A RESEARCH JOURNEY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Pothole Detection, Deep Learning &amp; a Patent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1371600" cy="347472"/>
          </a:xfrm>
          <a:prstGeom prst="rect">
            <a:avLst/>
          </a:prstGeom>
          <a:solidFill>
            <a:srgbClr val="0F3D3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– 2016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965960" y="115214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 →  Deep Learning  →  Big Data  →  Patent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1581912"/>
            <a:ext cx="3977640" cy="148132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581912"/>
            <a:ext cx="3977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682496"/>
            <a:ext cx="1280160" cy="246888"/>
          </a:xfrm>
          <a:prstGeom prst="rect">
            <a:avLst/>
          </a:prstGeom>
          <a:solidFill>
            <a:srgbClr val="0F3D3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82496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74520" y="17099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00253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Pothole Detection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2322576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classical image processing techniques to detect road potholes from camera feeds: 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detection (Canny), morphological operations, contour analysis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depth estimation — providing actionable road condition data.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990088"/>
            <a:ext cx="1207008" cy="237744"/>
          </a:xfrm>
          <a:prstGeom prst="rect">
            <a:avLst/>
          </a:prstGeom>
          <a:solidFill>
            <a:srgbClr val="0F3D39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990088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01368" y="2990088"/>
            <a:ext cx="1207008" cy="237744"/>
          </a:xfrm>
          <a:prstGeom prst="rect">
            <a:avLst/>
          </a:prstGeom>
          <a:solidFill>
            <a:srgbClr val="0F3D39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01368" y="2990088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Analysis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99816" y="2990088"/>
            <a:ext cx="1207008" cy="237744"/>
          </a:xfrm>
          <a:prstGeom prst="rect">
            <a:avLst/>
          </a:prstGeom>
          <a:solidFill>
            <a:srgbClr val="0F3D39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099816" y="2990088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Estimation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3337560"/>
            <a:ext cx="3977640" cy="148132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337560"/>
            <a:ext cx="397764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3438144"/>
            <a:ext cx="1280160" cy="246888"/>
          </a:xfrm>
          <a:prstGeom prst="rect">
            <a:avLst/>
          </a:prstGeom>
          <a:solidFill>
            <a:srgbClr val="1E105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438144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74520" y="346557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74904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Pothole Model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02920" y="406908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the solution to a 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 (CNN)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trained on annotated road imagery — achieving significantly higher accuracy and generalisation across varying lighting and weather conditions than the classical approach.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690872"/>
            <a:ext cx="1207008" cy="237744"/>
          </a:xfrm>
          <a:prstGeom prst="rect">
            <a:avLst/>
          </a:prstGeom>
          <a:solidFill>
            <a:srgbClr val="1E105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469087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801368" y="4690872"/>
            <a:ext cx="1207008" cy="237744"/>
          </a:xfrm>
          <a:prstGeom prst="rect">
            <a:avLst/>
          </a:prstGeom>
          <a:solidFill>
            <a:srgbClr val="1E105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801368" y="469087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99816" y="4690872"/>
            <a:ext cx="1207008" cy="237744"/>
          </a:xfrm>
          <a:prstGeom prst="rect">
            <a:avLst/>
          </a:prstGeom>
          <a:solidFill>
            <a:srgbClr val="1E105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099816" y="469087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98848" y="1581912"/>
            <a:ext cx="4297680" cy="323697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98848" y="1581912"/>
            <a:ext cx="4297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4645152" y="1691640"/>
            <a:ext cx="1417320" cy="274320"/>
          </a:xfrm>
          <a:prstGeom prst="rect">
            <a:avLst/>
          </a:prstGeom>
          <a:solidFill>
            <a:srgbClr val="3D2800"/>
          </a:solidFill>
          <a:ln/>
        </p:spPr>
      </p:sp>
      <p:sp>
        <p:nvSpPr>
          <p:cNvPr id="38" name="Text 36"/>
          <p:cNvSpPr/>
          <p:nvPr/>
        </p:nvSpPr>
        <p:spPr>
          <a:xfrm>
            <a:off x="4645152" y="16916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FILED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45152" y="2048256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Aircraft Anomaly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 Patent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4645152" y="2761488"/>
            <a:ext cx="3977640" cy="658368"/>
          </a:xfrm>
          <a:prstGeom prst="rect">
            <a:avLst/>
          </a:prstGeom>
          <a:solidFill>
            <a:srgbClr val="1C1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280720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"Methods for detecting one or more aircraft anomalies and devices thereof"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45152" y="35021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Applied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45152" y="3822192"/>
            <a:ext cx="3977640" cy="44805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45152" y="3822192"/>
            <a:ext cx="54864" cy="44805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5" name="Text 43"/>
          <p:cNvSpPr/>
          <p:nvPr/>
        </p:nvSpPr>
        <p:spPr>
          <a:xfrm>
            <a:off x="4773168" y="3858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73168" y="40507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aircraft sensor &amp; telemetry data processing pipelines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45152" y="4334256"/>
            <a:ext cx="3977640" cy="44805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45152" y="4334256"/>
            <a:ext cx="54864" cy="44805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9" name="Text 47"/>
          <p:cNvSpPr/>
          <p:nvPr/>
        </p:nvSpPr>
        <p:spPr>
          <a:xfrm>
            <a:off x="4773168" y="4370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73168" y="456285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state modelling of aircraft system transitions to detect anomaly patterns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7472" y="4855464"/>
            <a:ext cx="8449056" cy="219456"/>
          </a:xfrm>
          <a:prstGeom prst="rect">
            <a:avLst/>
          </a:prstGeom>
          <a:solidFill>
            <a:srgbClr val="0A1A14"/>
          </a:solidFill>
          <a:ln/>
        </p:spPr>
      </p:sp>
      <p:sp>
        <p:nvSpPr>
          <p:cNvPr id="52" name="Shape 50"/>
          <p:cNvSpPr/>
          <p:nvPr/>
        </p:nvSpPr>
        <p:spPr>
          <a:xfrm>
            <a:off x="347472" y="4855464"/>
            <a:ext cx="54864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Three technologies, one vision: using AI to make infrastructure safer — on roads and in the sky.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CONTINUES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 Recognition, Academic Excellence &amp; AI at Scale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389888" y="1170432"/>
            <a:ext cx="45720" cy="374904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7" name="Shape 5"/>
          <p:cNvSpPr/>
          <p:nvPr/>
        </p:nvSpPr>
        <p:spPr>
          <a:xfrm>
            <a:off x="1271016" y="1298448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1691640" y="1152144"/>
            <a:ext cx="7086600" cy="13898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91640" y="1152144"/>
            <a:ext cx="70866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819656" y="124358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2018–19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243584"/>
            <a:ext cx="1005840" cy="228600"/>
          </a:xfrm>
          <a:prstGeom prst="rect">
            <a:avLst/>
          </a:prstGeom>
          <a:solidFill>
            <a:srgbClr val="2E1065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24358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19656" y="1517904"/>
            <a:ext cx="6830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via Face Recognition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819656" y="1819656"/>
            <a:ext cx="6830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real-time system detecting and identifying faces from a live feed, matching against an enrolled database to log attendance automatically — using OpenCV, Haar Cascades and LBPH algorithms.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19656" y="2231136"/>
            <a:ext cx="1645920" cy="237744"/>
          </a:xfrm>
          <a:prstGeom prst="rect">
            <a:avLst/>
          </a:prstGeom>
          <a:solidFill>
            <a:srgbClr val="1E105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19656" y="22311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38728" y="2231136"/>
            <a:ext cx="1645920" cy="237744"/>
          </a:xfrm>
          <a:prstGeom prst="rect">
            <a:avLst/>
          </a:prstGeom>
          <a:solidFill>
            <a:srgbClr val="1E105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38728" y="22311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57800" y="2231136"/>
            <a:ext cx="1645920" cy="237744"/>
          </a:xfrm>
          <a:prstGeom prst="rect">
            <a:avLst/>
          </a:prstGeom>
          <a:solidFill>
            <a:srgbClr val="1E105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22311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LBPH Eigenfaces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76872" y="2231136"/>
            <a:ext cx="1645920" cy="237744"/>
          </a:xfrm>
          <a:prstGeom prst="rect">
            <a:avLst/>
          </a:prstGeom>
          <a:solidFill>
            <a:srgbClr val="1E105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76872" y="22311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Logging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271016" y="2779776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1640" y="2633472"/>
            <a:ext cx="7086600" cy="13898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91640" y="2633472"/>
            <a:ext cx="7086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1819656" y="272491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06040" y="2724912"/>
            <a:ext cx="1005840" cy="228600"/>
          </a:xfrm>
          <a:prstGeom prst="rect">
            <a:avLst/>
          </a:prstGeom>
          <a:solidFill>
            <a:srgbClr val="0C2A40"/>
          </a:solidFill>
          <a:ln/>
        </p:spPr>
      </p:sp>
      <p:sp>
        <p:nvSpPr>
          <p:cNvPr id="28" name="Text 26"/>
          <p:cNvSpPr/>
          <p:nvPr/>
        </p:nvSpPr>
        <p:spPr>
          <a:xfrm>
            <a:off x="2606040" y="272491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19656" y="2999232"/>
            <a:ext cx="6830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PGP in AI &amp; ML — NIT Warangal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819656" y="3300984"/>
            <a:ext cx="6830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Formalised hands-on expertise with the Post Graduate Programme in AI &amp; ML at the prestigious National Institute of Technology Warangal — covering deep learning, NLP, computer vision and MLOps.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19656" y="3712464"/>
            <a:ext cx="1645920" cy="237744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819656" y="37124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38728" y="3712464"/>
            <a:ext cx="1645920" cy="237744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538728" y="37124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Transformers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257800" y="3712464"/>
            <a:ext cx="1645920" cy="237744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57800" y="37124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976872" y="3712464"/>
            <a:ext cx="1645920" cy="237744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76872" y="37124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271016" y="4261104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Shape 38"/>
          <p:cNvSpPr/>
          <p:nvPr/>
        </p:nvSpPr>
        <p:spPr>
          <a:xfrm>
            <a:off x="1691640" y="4114800"/>
            <a:ext cx="708660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691640" y="4114800"/>
            <a:ext cx="7086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1819656" y="4206240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2020+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06040" y="4206240"/>
            <a:ext cx="1005840" cy="228600"/>
          </a:xfrm>
          <a:prstGeom prst="rect">
            <a:avLst/>
          </a:prstGeom>
          <a:solidFill>
            <a:srgbClr val="052E16"/>
          </a:solidFill>
          <a:ln/>
        </p:spPr>
      </p:sp>
      <p:sp>
        <p:nvSpPr>
          <p:cNvPr id="44" name="Text 42"/>
          <p:cNvSpPr/>
          <p:nvPr/>
        </p:nvSpPr>
        <p:spPr>
          <a:xfrm>
            <a:off x="2606040" y="42062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703320" y="4206240"/>
            <a:ext cx="4946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Full-Fledged AI/ML Projects at Work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819656" y="4672584"/>
            <a:ext cx="1645920" cy="237744"/>
          </a:xfrm>
          <a:prstGeom prst="rect">
            <a:avLst/>
          </a:prstGeom>
          <a:solidFill>
            <a:srgbClr val="052E1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819656" y="46725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ML Systems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538728" y="4672584"/>
            <a:ext cx="1645920" cy="237744"/>
          </a:xfrm>
          <a:prstGeom prst="rect">
            <a:avLst/>
          </a:prstGeom>
          <a:solidFill>
            <a:srgbClr val="052E1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538728" y="46725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Strategy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257800" y="4672584"/>
            <a:ext cx="1645920" cy="237744"/>
          </a:xfrm>
          <a:prstGeom prst="rect">
            <a:avLst/>
          </a:prstGeom>
          <a:solidFill>
            <a:srgbClr val="052E1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257800" y="46725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7472" y="4937760"/>
            <a:ext cx="8449056" cy="173736"/>
          </a:xfrm>
          <a:prstGeom prst="rect">
            <a:avLst/>
          </a:prstGeom>
          <a:solidFill>
            <a:srgbClr val="0D0A1E"/>
          </a:solidFill>
          <a:ln/>
        </p:spPr>
      </p:sp>
      <p:sp>
        <p:nvSpPr>
          <p:cNvPr id="53" name="Shape 51"/>
          <p:cNvSpPr/>
          <p:nvPr/>
        </p:nvSpPr>
        <p:spPr>
          <a:xfrm>
            <a:off x="347472" y="4937760"/>
            <a:ext cx="54864" cy="1737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4942332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Every project built the next — from faces to aircraft to enterprise AI, the thread is curiosity turning into impact.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RESEARCH &amp; PUBLIC SPEAKING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Taking AI Knowledge to the World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4828032" cy="37307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15568"/>
            <a:ext cx="482803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25296"/>
            <a:ext cx="1691640" cy="246888"/>
          </a:xfrm>
          <a:prstGeom prst="rect">
            <a:avLst/>
          </a:prstGeom>
          <a:solidFill>
            <a:srgbClr val="022C2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25296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ARTICLE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0" y="1225296"/>
            <a:ext cx="1188720" cy="246888"/>
          </a:xfrm>
          <a:prstGeom prst="rect">
            <a:avLst/>
          </a:prstGeom>
          <a:solidFill>
            <a:srgbClr val="022C22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25296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11880" y="1225296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OpenSourceForU Magazine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55448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an AI Model for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Bird Voice Identification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02920" y="2340864"/>
            <a:ext cx="4526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complete audio AI pipeline to detect and classify bird species by their vocalisations — supporting biodiversity monitoring and conservation efforts at scale.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907792"/>
            <a:ext cx="1024128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907792"/>
            <a:ext cx="1024128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944368"/>
            <a:ext cx="1024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45336" y="3072384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0" y="2907792"/>
            <a:ext cx="1024128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45920" y="2907792"/>
            <a:ext cx="1024128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0" y="2944368"/>
            <a:ext cx="1024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88336" y="3072384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88920" y="2907792"/>
            <a:ext cx="1024128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88920" y="2907792"/>
            <a:ext cx="1024128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5" name="Text 23"/>
          <p:cNvSpPr/>
          <p:nvPr/>
        </p:nvSpPr>
        <p:spPr>
          <a:xfrm>
            <a:off x="2788920" y="2944368"/>
            <a:ext cx="1024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31336" y="3072384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31920" y="2907792"/>
            <a:ext cx="1024128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931920" y="2907792"/>
            <a:ext cx="1024128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0" y="2944368"/>
            <a:ext cx="1024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36576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Areas: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645920" y="3657600"/>
            <a:ext cx="841248" cy="237744"/>
          </a:xfrm>
          <a:prstGeom prst="rect">
            <a:avLst/>
          </a:prstGeom>
          <a:solidFill>
            <a:srgbClr val="022C2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645920" y="3657600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Identification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60320" y="3657600"/>
            <a:ext cx="841248" cy="237744"/>
          </a:xfrm>
          <a:prstGeom prst="rect">
            <a:avLst/>
          </a:prstGeom>
          <a:solidFill>
            <a:srgbClr val="022C2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560320" y="3657600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Monitoring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474720" y="3657600"/>
            <a:ext cx="841248" cy="237744"/>
          </a:xfrm>
          <a:prstGeom prst="rect">
            <a:avLst/>
          </a:prstGeom>
          <a:solidFill>
            <a:srgbClr val="022C2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474720" y="3657600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Mapping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389120" y="3657600"/>
            <a:ext cx="841248" cy="237744"/>
          </a:xfrm>
          <a:prstGeom prst="rect">
            <a:avLst/>
          </a:prstGeom>
          <a:solidFill>
            <a:srgbClr val="022C2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389120" y="3657600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AI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2920" y="4005072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opensourceforu.com/2024/10/building-an-ai-model-for-bird-voice-identification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920" y="4261104"/>
            <a:ext cx="1024128" cy="219456"/>
          </a:xfrm>
          <a:prstGeom prst="rect">
            <a:avLst/>
          </a:prstGeom>
          <a:solidFill>
            <a:srgbClr val="022C2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4261104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627632" y="4261104"/>
            <a:ext cx="1024128" cy="219456"/>
          </a:xfrm>
          <a:prstGeom prst="rect">
            <a:avLst/>
          </a:prstGeom>
          <a:solidFill>
            <a:srgbClr val="022C2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627632" y="4261104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52344" y="4261104"/>
            <a:ext cx="1024128" cy="219456"/>
          </a:xfrm>
          <a:prstGeom prst="rect">
            <a:avLst/>
          </a:prstGeom>
          <a:solidFill>
            <a:srgbClr val="022C2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52344" y="4261104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TensorFlow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77056" y="4261104"/>
            <a:ext cx="1024128" cy="219456"/>
          </a:xfrm>
          <a:prstGeom prst="rect">
            <a:avLst/>
          </a:prstGeom>
          <a:solidFill>
            <a:srgbClr val="022C2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877056" y="4261104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Spectrogram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49240" y="1115568"/>
            <a:ext cx="3493008" cy="37307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349240" y="1115568"/>
            <a:ext cx="3493008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0" name="Shape 48"/>
          <p:cNvSpPr/>
          <p:nvPr/>
        </p:nvSpPr>
        <p:spPr>
          <a:xfrm>
            <a:off x="5504688" y="1225296"/>
            <a:ext cx="1463040" cy="246888"/>
          </a:xfrm>
          <a:prstGeom prst="rect">
            <a:avLst/>
          </a:prstGeom>
          <a:solidFill>
            <a:srgbClr val="3D1C00"/>
          </a:solidFill>
          <a:ln/>
        </p:spPr>
      </p:sp>
      <p:sp>
        <p:nvSpPr>
          <p:cNvPr id="51" name="Text 49"/>
          <p:cNvSpPr/>
          <p:nvPr/>
        </p:nvSpPr>
        <p:spPr>
          <a:xfrm>
            <a:off x="5504688" y="1225296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SESSION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504688" y="1572768"/>
            <a:ext cx="3200400" cy="475488"/>
          </a:xfrm>
          <a:prstGeom prst="rect">
            <a:avLst/>
          </a:prstGeom>
          <a:solidFill>
            <a:srgbClr val="1C0E0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04688" y="157276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NASSCOM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5504688" y="2103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Premier Technology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Body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504688" y="2606040"/>
            <a:ext cx="3200400" cy="10058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504688" y="2606040"/>
            <a:ext cx="45720" cy="10058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7" name="Text 55"/>
          <p:cNvSpPr/>
          <p:nvPr/>
        </p:nvSpPr>
        <p:spPr>
          <a:xfrm>
            <a:off x="5614416" y="26517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Session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614416" y="292608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live session at Nasscom — India's largest tech industry forum — sharing expertise in AI and Machine Learning with industry leaders, practitioners and decision-makers.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504688" y="3730752"/>
            <a:ext cx="3200400" cy="548640"/>
          </a:xfrm>
          <a:prstGeom prst="rect">
            <a:avLst/>
          </a:prstGeom>
          <a:solidFill>
            <a:srgbClr val="3D1C0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5577840" y="3767328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Thought Leader in AI/ML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577840" y="3986784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Invited speaker at national industry forums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04688" y="43525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youtube.com/watch?v=WEew-RUsbu8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47472" y="4937760"/>
            <a:ext cx="8449056" cy="173736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64" name="Shape 62"/>
          <p:cNvSpPr/>
          <p:nvPr/>
        </p:nvSpPr>
        <p:spPr>
          <a:xfrm>
            <a:off x="347472" y="4937760"/>
            <a:ext cx="54864" cy="1737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502920" y="4942332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From conserving birds with AI to inspiring engineers at Nasscom — AI is a tool for real-world change and community growth.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SDLC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AI is Reshaping Every Phase of Software Delivery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788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7889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170432"/>
            <a:ext cx="384048" cy="292608"/>
          </a:xfrm>
          <a:prstGeom prst="rect">
            <a:avLst/>
          </a:prstGeom>
          <a:solidFill>
            <a:srgbClr val="34D399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170432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0392" y="1188720"/>
            <a:ext cx="566928" cy="237744"/>
          </a:xfrm>
          <a:prstGeom prst="rect">
            <a:avLst/>
          </a:prstGeom>
          <a:solidFill>
            <a:srgbClr val="0A2010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" y="118872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49961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Planning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88366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generates user stories from feature briefs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3969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NLP parses stakeholder interviews into requirements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ML models predict story points &amp; sprint velocity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651760"/>
            <a:ext cx="1266444" cy="201168"/>
          </a:xfrm>
          <a:prstGeom prst="rect">
            <a:avLst/>
          </a:prstGeom>
          <a:solidFill>
            <a:srgbClr val="0A201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651760"/>
            <a:ext cx="12664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for Docs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751076" y="2651760"/>
            <a:ext cx="1266444" cy="201168"/>
          </a:xfrm>
          <a:prstGeom prst="rect">
            <a:avLst/>
          </a:prstGeom>
          <a:solidFill>
            <a:srgbClr val="0A201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751076" y="2651760"/>
            <a:ext cx="12664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AI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64408" y="1078992"/>
            <a:ext cx="2788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1078992"/>
            <a:ext cx="278892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1" name="Shape 19"/>
          <p:cNvSpPr/>
          <p:nvPr/>
        </p:nvSpPr>
        <p:spPr>
          <a:xfrm>
            <a:off x="3355848" y="1170432"/>
            <a:ext cx="384048" cy="292608"/>
          </a:xfrm>
          <a:prstGeom prst="rect">
            <a:avLst/>
          </a:prstGeom>
          <a:solidFill>
            <a:srgbClr val="818CF8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55848" y="1170432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94760" y="1188720"/>
            <a:ext cx="566928" cy="237744"/>
          </a:xfrm>
          <a:prstGeom prst="rect">
            <a:avLst/>
          </a:prstGeom>
          <a:solidFill>
            <a:srgbClr val="0D0A30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118872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55848" y="149961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Design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55848" y="188366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suggests optimal architecture patterns from context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55848" y="213969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Auto-generates API contracts and data models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55848" y="239572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LLMs evaluate design trade-offs and flag anti-patterns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55848" y="2651760"/>
            <a:ext cx="1266444" cy="201168"/>
          </a:xfrm>
          <a:prstGeom prst="rect">
            <a:avLst/>
          </a:prstGeom>
          <a:solidFill>
            <a:srgbClr val="0D0A3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55848" y="2651760"/>
            <a:ext cx="12664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Architecture AI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95444" y="2651760"/>
            <a:ext cx="1266444" cy="201168"/>
          </a:xfrm>
          <a:prstGeom prst="rect">
            <a:avLst/>
          </a:prstGeom>
          <a:solidFill>
            <a:srgbClr val="0D0A3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95444" y="2651760"/>
            <a:ext cx="12664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208776" y="1078992"/>
            <a:ext cx="2788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08776" y="1078992"/>
            <a:ext cx="278892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5" name="Shape 33"/>
          <p:cNvSpPr/>
          <p:nvPr/>
        </p:nvSpPr>
        <p:spPr>
          <a:xfrm>
            <a:off x="6300216" y="1170432"/>
            <a:ext cx="384048" cy="292608"/>
          </a:xfrm>
          <a:prstGeom prst="rect">
            <a:avLst/>
          </a:prstGeom>
          <a:solidFill>
            <a:srgbClr val="38BDF8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0216" y="1170432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39128" y="1188720"/>
            <a:ext cx="566928" cy="237744"/>
          </a:xfrm>
          <a:prstGeom prst="rect">
            <a:avLst/>
          </a:prstGeom>
          <a:solidFill>
            <a:srgbClr val="071A28"/>
          </a:solidFill>
          <a:ln/>
        </p:spPr>
      </p:sp>
      <p:sp>
        <p:nvSpPr>
          <p:cNvPr id="38" name="Text 36"/>
          <p:cNvSpPr/>
          <p:nvPr/>
        </p:nvSpPr>
        <p:spPr>
          <a:xfrm>
            <a:off x="6739128" y="118872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0216" y="149961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Coding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0216" y="188366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pair programmer writes 40–60% of new code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300216" y="213969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Auto-completes functions, classes, and unit tests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00216" y="239572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Real-time code review: bugs, smells, security issues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00216" y="2651760"/>
            <a:ext cx="1266444" cy="201168"/>
          </a:xfrm>
          <a:prstGeom prst="rect">
            <a:avLst/>
          </a:prstGeom>
          <a:solidFill>
            <a:srgbClr val="071A28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00216" y="2651760"/>
            <a:ext cx="12664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639812" y="2651760"/>
            <a:ext cx="1266444" cy="201168"/>
          </a:xfrm>
          <a:prstGeom prst="rect">
            <a:avLst/>
          </a:prstGeom>
          <a:solidFill>
            <a:srgbClr val="071A28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639812" y="2651760"/>
            <a:ext cx="12664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Devin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20040" y="3017520"/>
            <a:ext cx="2788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3017520"/>
            <a:ext cx="278892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9" name="Shape 47"/>
          <p:cNvSpPr/>
          <p:nvPr/>
        </p:nvSpPr>
        <p:spPr>
          <a:xfrm>
            <a:off x="411480" y="3108960"/>
            <a:ext cx="384048" cy="292608"/>
          </a:xfrm>
          <a:prstGeom prst="rect">
            <a:avLst/>
          </a:prstGeom>
          <a:solidFill>
            <a:srgbClr val="FB923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11480" y="310896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50392" y="3127248"/>
            <a:ext cx="566928" cy="237744"/>
          </a:xfrm>
          <a:prstGeom prst="rect">
            <a:avLst/>
          </a:prstGeom>
          <a:solidFill>
            <a:srgbClr val="281400"/>
          </a:solidFill>
          <a:ln/>
        </p:spPr>
      </p:sp>
      <p:sp>
        <p:nvSpPr>
          <p:cNvPr id="52" name="Text 50"/>
          <p:cNvSpPr/>
          <p:nvPr/>
        </p:nvSpPr>
        <p:spPr>
          <a:xfrm>
            <a:off x="850392" y="312724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1480" y="343814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QA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11480" y="382219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auto-generates unit, integration &amp; E2E test suites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11480" y="407822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Intelligent test selection — runs only impacted tests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11480" y="433425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Visual regression AI catches UI regressions instantly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11480" y="4590288"/>
            <a:ext cx="1266444" cy="201168"/>
          </a:xfrm>
          <a:prstGeom prst="rect">
            <a:avLst/>
          </a:prstGeom>
          <a:solidFill>
            <a:srgbClr val="28140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11480" y="4590288"/>
            <a:ext cx="12664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Diffblue Cover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751076" y="4590288"/>
            <a:ext cx="1266444" cy="201168"/>
          </a:xfrm>
          <a:prstGeom prst="rect">
            <a:avLst/>
          </a:prstGeom>
          <a:solidFill>
            <a:srgbClr val="28140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1751076" y="4590288"/>
            <a:ext cx="12664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 AI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264408" y="3017520"/>
            <a:ext cx="2788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264408" y="3017520"/>
            <a:ext cx="278892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63" name="Shape 61"/>
          <p:cNvSpPr/>
          <p:nvPr/>
        </p:nvSpPr>
        <p:spPr>
          <a:xfrm>
            <a:off x="3355848" y="3108960"/>
            <a:ext cx="384048" cy="292608"/>
          </a:xfrm>
          <a:prstGeom prst="rect">
            <a:avLst/>
          </a:prstGeom>
          <a:solidFill>
            <a:srgbClr val="F472B6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355848" y="310896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794760" y="3127248"/>
            <a:ext cx="566928" cy="237744"/>
          </a:xfrm>
          <a:prstGeom prst="rect">
            <a:avLst/>
          </a:prstGeom>
          <a:solidFill>
            <a:srgbClr val="280A1A"/>
          </a:solidFill>
          <a:ln/>
        </p:spPr>
      </p:sp>
      <p:sp>
        <p:nvSpPr>
          <p:cNvPr id="66" name="Text 64"/>
          <p:cNvSpPr/>
          <p:nvPr/>
        </p:nvSpPr>
        <p:spPr>
          <a:xfrm>
            <a:off x="3794760" y="312724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355848" y="343814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3355848" y="382219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analyses PR risk and auto-gates high-risk merges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355848" y="407822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Predictive rollback: detects anomalies pre-production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355848" y="433425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ML optimises pipeline parallelism and resource usage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355848" y="4590288"/>
            <a:ext cx="1266444" cy="201168"/>
          </a:xfrm>
          <a:prstGeom prst="rect">
            <a:avLst/>
          </a:prstGeom>
          <a:solidFill>
            <a:srgbClr val="280A1A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355848" y="4590288"/>
            <a:ext cx="12664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AI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695444" y="4590288"/>
            <a:ext cx="1266444" cy="201168"/>
          </a:xfrm>
          <a:prstGeom prst="rect">
            <a:avLst/>
          </a:prstGeom>
          <a:solidFill>
            <a:srgbClr val="280A1A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4695444" y="4590288"/>
            <a:ext cx="12664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 AI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208776" y="3017520"/>
            <a:ext cx="2788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208776" y="3017520"/>
            <a:ext cx="27889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7" name="Shape 75"/>
          <p:cNvSpPr/>
          <p:nvPr/>
        </p:nvSpPr>
        <p:spPr>
          <a:xfrm>
            <a:off x="6300216" y="3108960"/>
            <a:ext cx="384048" cy="292608"/>
          </a:xfrm>
          <a:prstGeom prst="rect">
            <a:avLst/>
          </a:prstGeom>
          <a:solidFill>
            <a:srgbClr val="34D399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6300216" y="310896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739128" y="3127248"/>
            <a:ext cx="566928" cy="237744"/>
          </a:xfrm>
          <a:prstGeom prst="rect">
            <a:avLst/>
          </a:prstGeom>
          <a:solidFill>
            <a:srgbClr val="0A2010"/>
          </a:solidFill>
          <a:ln/>
        </p:spPr>
      </p:sp>
      <p:sp>
        <p:nvSpPr>
          <p:cNvPr id="80" name="Text 78"/>
          <p:cNvSpPr/>
          <p:nvPr/>
        </p:nvSpPr>
        <p:spPr>
          <a:xfrm>
            <a:off x="6739128" y="312724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300216" y="343814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AIOps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300216" y="382219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correlates logs, metrics, traces for root cause in seconds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300216" y="407822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Anomaly detection before users notice any degradation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300216" y="433425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Auto-remediation: agents restart services, scale infra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300216" y="4590288"/>
            <a:ext cx="1266444" cy="201168"/>
          </a:xfrm>
          <a:prstGeom prst="rect">
            <a:avLst/>
          </a:prstGeom>
          <a:solidFill>
            <a:srgbClr val="0A201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6300216" y="4590288"/>
            <a:ext cx="12664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Davis AI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639812" y="4590288"/>
            <a:ext cx="1266444" cy="201168"/>
          </a:xfrm>
          <a:prstGeom prst="rect">
            <a:avLst/>
          </a:prstGeom>
          <a:solidFill>
            <a:srgbClr val="0A201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7639812" y="4590288"/>
            <a:ext cx="12664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Watchdog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solidFill>
            <a:srgbClr val="080C14"/>
          </a:solidFill>
          <a:ln/>
        </p:spPr>
      </p:sp>
      <p:sp>
        <p:nvSpPr>
          <p:cNvPr id="90" name="Text 88"/>
          <p:cNvSpPr/>
          <p:nvPr/>
        </p:nvSpPr>
        <p:spPr>
          <a:xfrm>
            <a:off x="457200" y="4937760"/>
            <a:ext cx="3840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55%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59536" y="4937760"/>
            <a:ext cx="1783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code written with AI assist  ·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2633472" y="4937760"/>
            <a:ext cx="3840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3035808" y="4937760"/>
            <a:ext cx="1783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CI/CD release cycles  ·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4809744" y="4937760"/>
            <a:ext cx="3840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5212080" y="4937760"/>
            <a:ext cx="1783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escaped defects (AI QA)  ·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986016" y="4937760"/>
            <a:ext cx="384048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7388352" y="4937760"/>
            <a:ext cx="1783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 reduction with AIOps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— BUSINESS ANALYST  ×  OLLAMA LOCAL AI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88352" y="128016"/>
            <a:ext cx="1444752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88352" y="128016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Redefining the BA Role — Powered by Ollama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7472" y="1060704"/>
            <a:ext cx="8476488" cy="347472"/>
          </a:xfrm>
          <a:prstGeom prst="rect">
            <a:avLst/>
          </a:prstGeom>
          <a:solidFill>
            <a:srgbClr val="071A40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15568"/>
            <a:ext cx="457200" cy="2011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155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96696" y="113385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100% On-Premise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1115568"/>
            <a:ext cx="457200" cy="2011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1155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88336" y="113385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Leaves Org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86200" y="1115568"/>
            <a:ext cx="457200" cy="2011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3886200" y="11155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379976" y="113385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Costs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1115568"/>
            <a:ext cx="457200" cy="2011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11155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71616" y="113385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Models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69480" y="1115568"/>
            <a:ext cx="457200" cy="2011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1155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63256" y="113385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/ CPU Inference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1499616"/>
            <a:ext cx="2487168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1499616"/>
            <a:ext cx="2487168" cy="4572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" y="1499616"/>
            <a:ext cx="2487168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149961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" y="1938528"/>
            <a:ext cx="2304288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8912" y="1938528"/>
            <a:ext cx="36576" cy="402336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" y="1965960"/>
            <a:ext cx="2139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0352" y="2148840"/>
            <a:ext cx="2139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interviews &amp; workshop sessions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8912" y="2404872"/>
            <a:ext cx="2304288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912" y="2404872"/>
            <a:ext cx="36576" cy="402336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" y="2432304"/>
            <a:ext cx="2139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Analysis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0352" y="2615184"/>
            <a:ext cx="2139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reading hundreds of policy pages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8912" y="2871216"/>
            <a:ext cx="2304288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8912" y="2871216"/>
            <a:ext cx="36576" cy="402336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2898648"/>
            <a:ext cx="2139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Mapping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0352" y="3081528"/>
            <a:ext cx="2139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Hand-drawn flows, Visio diagrams from scratch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38912" y="3337560"/>
            <a:ext cx="2304288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8912" y="3337560"/>
            <a:ext cx="36576" cy="402336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" y="3364992"/>
            <a:ext cx="2139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30352" y="3547872"/>
            <a:ext cx="2139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comparison of as-is vs to-be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38912" y="3803904"/>
            <a:ext cx="2304288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38912" y="3803904"/>
            <a:ext cx="36576" cy="402336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45" name="Text 43"/>
          <p:cNvSpPr/>
          <p:nvPr/>
        </p:nvSpPr>
        <p:spPr>
          <a:xfrm>
            <a:off x="530352" y="3831336"/>
            <a:ext cx="2139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Reports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30352" y="4014216"/>
            <a:ext cx="2139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building PowerPoints manually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38912" y="4270248"/>
            <a:ext cx="2304288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38912" y="4270248"/>
            <a:ext cx="36576" cy="402336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49" name="Text 47"/>
          <p:cNvSpPr/>
          <p:nvPr/>
        </p:nvSpPr>
        <p:spPr>
          <a:xfrm>
            <a:off x="530352" y="4297680"/>
            <a:ext cx="2139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Writing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30352" y="4480560"/>
            <a:ext cx="2139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epic decomposition into stories &amp; ACs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926080" y="1499616"/>
            <a:ext cx="1005840" cy="3200400"/>
          </a:xfrm>
          <a:prstGeom prst="rect">
            <a:avLst/>
          </a:prstGeom>
          <a:solidFill>
            <a:srgbClr val="060D1C"/>
          </a:solidFill>
          <a:ln/>
        </p:spPr>
      </p:sp>
      <p:sp>
        <p:nvSpPr>
          <p:cNvPr id="52" name="Text 50"/>
          <p:cNvSpPr/>
          <p:nvPr/>
        </p:nvSpPr>
        <p:spPr>
          <a:xfrm rot="16200000">
            <a:off x="2926080" y="2286000"/>
            <a:ext cx="1005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L L A M A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273552" y="18745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273552" y="23408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273552" y="2807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273552" y="3273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273552" y="37398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023360" y="1499616"/>
            <a:ext cx="4800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023360" y="1499616"/>
            <a:ext cx="48006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0" name="Shape 58"/>
          <p:cNvSpPr/>
          <p:nvPr/>
        </p:nvSpPr>
        <p:spPr>
          <a:xfrm>
            <a:off x="4023360" y="1499616"/>
            <a:ext cx="4800600" cy="347472"/>
          </a:xfrm>
          <a:prstGeom prst="rect">
            <a:avLst/>
          </a:prstGeom>
          <a:solidFill>
            <a:srgbClr val="071A40"/>
          </a:solidFill>
          <a:ln/>
        </p:spPr>
      </p:sp>
      <p:sp>
        <p:nvSpPr>
          <p:cNvPr id="61" name="Text 59"/>
          <p:cNvSpPr/>
          <p:nvPr/>
        </p:nvSpPr>
        <p:spPr>
          <a:xfrm>
            <a:off x="4023360" y="1499616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OLLAMA-POWERED BA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133088" y="1938528"/>
            <a:ext cx="4590288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133088" y="1938528"/>
            <a:ext cx="36576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4" name="Text 62"/>
          <p:cNvSpPr/>
          <p:nvPr/>
        </p:nvSpPr>
        <p:spPr>
          <a:xfrm>
            <a:off x="4224528" y="196596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Requirements Elicitation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095744" y="1975104"/>
            <a:ext cx="1554480" cy="201168"/>
          </a:xfrm>
          <a:prstGeom prst="rect">
            <a:avLst/>
          </a:prstGeom>
          <a:solidFill>
            <a:srgbClr val="07122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95744" y="197510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llama3.2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224528" y="2157984"/>
            <a:ext cx="4425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transcripts &amp; emails → auto-draft BRDs in minutes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133088" y="2404872"/>
            <a:ext cx="4590288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133088" y="2404872"/>
            <a:ext cx="36576" cy="40233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0" name="Text 68"/>
          <p:cNvSpPr/>
          <p:nvPr/>
        </p:nvSpPr>
        <p:spPr>
          <a:xfrm>
            <a:off x="4224528" y="2432304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Doc Processing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095744" y="2441448"/>
            <a:ext cx="1554480" cy="201168"/>
          </a:xfrm>
          <a:prstGeom prst="rect">
            <a:avLst/>
          </a:prstGeom>
          <a:solidFill>
            <a:srgbClr val="071225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095744" y="244144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mistral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224528" y="2624328"/>
            <a:ext cx="4425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summarise requirements from 1000-page policy docs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133088" y="2871216"/>
            <a:ext cx="4590288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133088" y="2871216"/>
            <a:ext cx="36576" cy="40233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6" name="Text 74"/>
          <p:cNvSpPr/>
          <p:nvPr/>
        </p:nvSpPr>
        <p:spPr>
          <a:xfrm>
            <a:off x="4224528" y="289864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Process Mining &amp; Mapping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095744" y="2907792"/>
            <a:ext cx="1554480" cy="201168"/>
          </a:xfrm>
          <a:prstGeom prst="rect">
            <a:avLst/>
          </a:prstGeom>
          <a:solidFill>
            <a:srgbClr val="071225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095744" y="29077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phi4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224528" y="3090672"/>
            <a:ext cx="4425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actual process flows from event logs &amp; text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133088" y="3337560"/>
            <a:ext cx="4590288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133088" y="3337560"/>
            <a:ext cx="36576" cy="40233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2" name="Text 80"/>
          <p:cNvSpPr/>
          <p:nvPr/>
        </p:nvSpPr>
        <p:spPr>
          <a:xfrm>
            <a:off x="4224528" y="3364992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&amp; Impact Analysis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095744" y="3374136"/>
            <a:ext cx="1554480" cy="201168"/>
          </a:xfrm>
          <a:prstGeom prst="rect">
            <a:avLst/>
          </a:prstGeom>
          <a:solidFill>
            <a:srgbClr val="071225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95744" y="337413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deepseek-r1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4224528" y="3557016"/>
            <a:ext cx="4425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as-is docs vs target architecture; flag all gaps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133088" y="3803904"/>
            <a:ext cx="4590288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4133088" y="3803904"/>
            <a:ext cx="36576" cy="40233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88" name="Text 86"/>
          <p:cNvSpPr/>
          <p:nvPr/>
        </p:nvSpPr>
        <p:spPr>
          <a:xfrm>
            <a:off x="4224528" y="383133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Report Generation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095744" y="3840480"/>
            <a:ext cx="1554480" cy="201168"/>
          </a:xfrm>
          <a:prstGeom prst="rect">
            <a:avLst/>
          </a:prstGeom>
          <a:solidFill>
            <a:srgbClr val="071225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095744" y="384048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mixtral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4224528" y="4023360"/>
            <a:ext cx="4425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meeting notes into exec-ready summaries in &lt; 60 secs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133088" y="4270248"/>
            <a:ext cx="4590288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4133088" y="4270248"/>
            <a:ext cx="36576" cy="40233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4" name="Text 92"/>
          <p:cNvSpPr/>
          <p:nvPr/>
        </p:nvSpPr>
        <p:spPr>
          <a:xfrm>
            <a:off x="4224528" y="429768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&amp; AC Generation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7095744" y="4306824"/>
            <a:ext cx="1554480" cy="201168"/>
          </a:xfrm>
          <a:prstGeom prst="rect">
            <a:avLst/>
          </a:prstGeom>
          <a:solidFill>
            <a:srgbClr val="071225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095744" y="43068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codellama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4224528" y="4489704"/>
            <a:ext cx="442569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epics into stories with acceptance criteria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347472" y="4791456"/>
            <a:ext cx="8476488" cy="329184"/>
          </a:xfrm>
          <a:prstGeom prst="rect">
            <a:avLst/>
          </a:prstGeom>
          <a:solidFill>
            <a:srgbClr val="060D1C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7200" y="48463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used: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1508760" y="4828032"/>
            <a:ext cx="1170432" cy="219456"/>
          </a:xfrm>
          <a:prstGeom prst="rect">
            <a:avLst/>
          </a:prstGeom>
          <a:solidFill>
            <a:srgbClr val="07122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508760" y="4828032"/>
            <a:ext cx="11704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llama3.2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1508760" y="4937760"/>
            <a:ext cx="117043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2752344" y="4828032"/>
            <a:ext cx="1170432" cy="219456"/>
          </a:xfrm>
          <a:prstGeom prst="rect">
            <a:avLst/>
          </a:prstGeom>
          <a:solidFill>
            <a:srgbClr val="071225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752344" y="4828032"/>
            <a:ext cx="11704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2752344" y="4937760"/>
            <a:ext cx="117043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Analysis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3995928" y="4828032"/>
            <a:ext cx="1170432" cy="219456"/>
          </a:xfrm>
          <a:prstGeom prst="rect">
            <a:avLst/>
          </a:prstGeom>
          <a:solidFill>
            <a:srgbClr val="071225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995928" y="4828032"/>
            <a:ext cx="11704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phi4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3995928" y="4937760"/>
            <a:ext cx="117043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Maps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5239512" y="4828032"/>
            <a:ext cx="1170432" cy="219456"/>
          </a:xfrm>
          <a:prstGeom prst="rect">
            <a:avLst/>
          </a:prstGeom>
          <a:solidFill>
            <a:srgbClr val="071225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239512" y="4828032"/>
            <a:ext cx="11704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deepseek-r1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5239512" y="4937760"/>
            <a:ext cx="117043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6483096" y="4828032"/>
            <a:ext cx="1170432" cy="219456"/>
          </a:xfrm>
          <a:prstGeom prst="rect">
            <a:avLst/>
          </a:prstGeom>
          <a:solidFill>
            <a:srgbClr val="071225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483096" y="4828032"/>
            <a:ext cx="11704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mixtral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6483096" y="4937760"/>
            <a:ext cx="117043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7726680" y="4828032"/>
            <a:ext cx="1170432" cy="219456"/>
          </a:xfrm>
          <a:prstGeom prst="rect">
            <a:avLst/>
          </a:prstGeom>
          <a:solidFill>
            <a:srgbClr val="071225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726680" y="4828032"/>
            <a:ext cx="11704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codellama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7726680" y="4937760"/>
            <a:ext cx="117043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7315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7315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7315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AI COUNCIL — COMMUNITY TRAINING INITIATIVE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the Next Generation of AI Practitioners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7472" y="1097280"/>
            <a:ext cx="3200400" cy="3703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97280"/>
            <a:ext cx="32004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207008"/>
            <a:ext cx="2889504" cy="530352"/>
          </a:xfrm>
          <a:prstGeom prst="rect">
            <a:avLst/>
          </a:prstGeom>
          <a:solidFill>
            <a:srgbClr val="0A1535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07008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428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BFS AI COUNCIL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1527048"/>
            <a:ext cx="2889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Financial Services &amp; AI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1847088"/>
            <a:ext cx="2889504" cy="914400"/>
          </a:xfrm>
          <a:prstGeom prst="rect">
            <a:avLst/>
          </a:prstGeom>
          <a:solidFill>
            <a:srgbClr val="071A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847088"/>
            <a:ext cx="2889504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92024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28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2889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Trained on 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871216"/>
            <a:ext cx="2889504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871216"/>
            <a:ext cx="45720" cy="4023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953512"/>
            <a:ext cx="512064" cy="219456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953512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61288" y="2962656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Trainer &amp; AI Evangelist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346704"/>
            <a:ext cx="2889504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346704"/>
            <a:ext cx="45720" cy="4023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429000"/>
            <a:ext cx="512064" cy="219456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429000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61288" y="3438144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AI Council (Industry Body)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822192"/>
            <a:ext cx="2889504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3822192"/>
            <a:ext cx="45720" cy="40233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3904488"/>
            <a:ext cx="512064" cy="219456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904488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61288" y="3913632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Developers, Architects, Analysts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4297680"/>
            <a:ext cx="2889504" cy="402336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4297680"/>
            <a:ext cx="45720" cy="4023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4379976"/>
            <a:ext cx="512064" cy="219456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379976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61288" y="438912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 + Live Demos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12464" y="1097280"/>
            <a:ext cx="5093208" cy="21762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712464" y="1097280"/>
            <a:ext cx="5093208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9" name="Shape 37"/>
          <p:cNvSpPr/>
          <p:nvPr/>
        </p:nvSpPr>
        <p:spPr>
          <a:xfrm>
            <a:off x="3858768" y="1188720"/>
            <a:ext cx="1554480" cy="256032"/>
          </a:xfrm>
          <a:prstGeom prst="rect">
            <a:avLst/>
          </a:prstGeom>
          <a:solidFill>
            <a:srgbClr val="281400"/>
          </a:solidFill>
          <a:ln/>
        </p:spPr>
      </p:sp>
      <p:sp>
        <p:nvSpPr>
          <p:cNvPr id="40" name="Text 38"/>
          <p:cNvSpPr/>
          <p:nvPr/>
        </p:nvSpPr>
        <p:spPr>
          <a:xfrm>
            <a:off x="3858768" y="11887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58768" y="1499616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 Training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858768" y="1920240"/>
            <a:ext cx="2359152" cy="34747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858768" y="1920240"/>
            <a:ext cx="45720" cy="34747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4" name="Text 42"/>
          <p:cNvSpPr/>
          <p:nvPr/>
        </p:nvSpPr>
        <p:spPr>
          <a:xfrm>
            <a:off x="3950208" y="1929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AI Agents?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950208" y="2103120"/>
            <a:ext cx="2194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Anatomy: LLM core, memory, tools, planning &amp; action loops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327648" y="1920240"/>
            <a:ext cx="2359152" cy="34747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27648" y="1920240"/>
            <a:ext cx="45720" cy="34747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8" name="Text 46"/>
          <p:cNvSpPr/>
          <p:nvPr/>
        </p:nvSpPr>
        <p:spPr>
          <a:xfrm>
            <a:off x="6419088" y="1929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&amp; Chain-of-Thought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19088" y="2103120"/>
            <a:ext cx="2194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patterns that make agents reason before acting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858768" y="2322576"/>
            <a:ext cx="2359152" cy="34747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858768" y="2322576"/>
            <a:ext cx="45720" cy="34747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2" name="Text 50"/>
          <p:cNvSpPr/>
          <p:nvPr/>
        </p:nvSpPr>
        <p:spPr>
          <a:xfrm>
            <a:off x="3950208" y="23317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950208" y="2505456"/>
            <a:ext cx="2194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crews of specialised agents with LangGraph &amp; CrewAI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327648" y="2322576"/>
            <a:ext cx="2359152" cy="34747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327648" y="2322576"/>
            <a:ext cx="45720" cy="34747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6" name="Text 54"/>
          <p:cNvSpPr/>
          <p:nvPr/>
        </p:nvSpPr>
        <p:spPr>
          <a:xfrm>
            <a:off x="6419088" y="23317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Memory &amp; RAG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419088" y="2505456"/>
            <a:ext cx="2194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agents to databases, APIs and vector stores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712464" y="3410712"/>
            <a:ext cx="5093208" cy="13898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712464" y="3410712"/>
            <a:ext cx="509320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0" name="Shape 58"/>
          <p:cNvSpPr/>
          <p:nvPr/>
        </p:nvSpPr>
        <p:spPr>
          <a:xfrm>
            <a:off x="3858768" y="3456432"/>
            <a:ext cx="1371600" cy="219456"/>
          </a:xfrm>
          <a:prstGeom prst="rect">
            <a:avLst/>
          </a:prstGeom>
          <a:solidFill>
            <a:srgbClr val="071535"/>
          </a:solidFill>
          <a:ln/>
        </p:spPr>
      </p:sp>
      <p:sp>
        <p:nvSpPr>
          <p:cNvPr id="61" name="Text 59"/>
          <p:cNvSpPr/>
          <p:nvPr/>
        </p:nvSpPr>
        <p:spPr>
          <a:xfrm>
            <a:off x="3858768" y="345643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858768" y="3685032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8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pPr indent="0" marL="0">
              <a:buNone/>
            </a:pPr>
            <a:r>
              <a:rPr lang="en-US" sz="1800" b="1" dirty="0">
                <a:solidFill>
                  <a:srgbClr val="EA43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pPr indent="0" marL="0">
              <a:buNone/>
            </a:pPr>
            <a:r>
              <a:rPr lang="en-US" sz="1800" b="1" dirty="0">
                <a:solidFill>
                  <a:srgbClr val="FBBC0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pPr indent="0" marL="0">
              <a:buNone/>
            </a:pPr>
            <a:r>
              <a:rPr lang="en-US" sz="1800" b="1" dirty="0">
                <a:solidFill>
                  <a:srgbClr val="428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pPr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pPr indent="0" marL="0">
              <a:buNone/>
            </a:pPr>
            <a:r>
              <a:rPr lang="en-US" sz="1800" b="1" dirty="0">
                <a:solidFill>
                  <a:srgbClr val="EA43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 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Development Kit (ADK)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3858768" y="3986784"/>
            <a:ext cx="1161288" cy="685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858768" y="3986784"/>
            <a:ext cx="1161288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5" name="Text 63"/>
          <p:cNvSpPr/>
          <p:nvPr/>
        </p:nvSpPr>
        <p:spPr>
          <a:xfrm>
            <a:off x="3913632" y="405079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Architecture &amp; Setup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913632" y="429768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agents, tools &amp; sessions in Python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093208" y="3986784"/>
            <a:ext cx="1161288" cy="685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093208" y="3986784"/>
            <a:ext cx="1161288" cy="45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9" name="Text 67"/>
          <p:cNvSpPr/>
          <p:nvPr/>
        </p:nvSpPr>
        <p:spPr>
          <a:xfrm>
            <a:off x="5148072" y="405079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148072" y="429768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parallel &amp; loop agent patterns in ADK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327648" y="3986784"/>
            <a:ext cx="1161288" cy="685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327648" y="3986784"/>
            <a:ext cx="1161288" cy="457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73" name="Text 71"/>
          <p:cNvSpPr/>
          <p:nvPr/>
        </p:nvSpPr>
        <p:spPr>
          <a:xfrm>
            <a:off x="6382512" y="405079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ADK Integration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382512" y="429768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agents with Gemini models &amp; Vertex AI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562088" y="3986784"/>
            <a:ext cx="1161288" cy="685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7562088" y="3986784"/>
            <a:ext cx="1161288" cy="457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77" name="Text 75"/>
          <p:cNvSpPr/>
          <p:nvPr/>
        </p:nvSpPr>
        <p:spPr>
          <a:xfrm>
            <a:off x="7616952" y="405079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on Cloud Run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616952" y="429768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Containerising &amp; shipping ADK agents to production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47472" y="4910328"/>
            <a:ext cx="8476488" cy="210312"/>
          </a:xfrm>
          <a:prstGeom prst="rect">
            <a:avLst/>
          </a:prstGeom>
          <a:solidFill>
            <a:srgbClr val="080C14"/>
          </a:solidFill>
          <a:ln/>
        </p:spPr>
      </p:sp>
      <p:sp>
        <p:nvSpPr>
          <p:cNvPr id="80" name="Shape 78"/>
          <p:cNvSpPr/>
          <p:nvPr/>
        </p:nvSpPr>
        <p:spPr>
          <a:xfrm>
            <a:off x="347472" y="4910328"/>
            <a:ext cx="54864" cy="21031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1" name="Text 79"/>
          <p:cNvSpPr/>
          <p:nvPr/>
        </p:nvSpPr>
        <p:spPr>
          <a:xfrm>
            <a:off x="50292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From practitioner to community builder — training 50+ professionals to wield AI as a competitive advantage in Banking &amp; Financial Services.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MATURITY MODEL  ×  CLAUDE CODE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Levels of AI-Assisted Development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859536"/>
            <a:ext cx="1673352" cy="3913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59536"/>
            <a:ext cx="1673352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950976"/>
            <a:ext cx="347472" cy="237744"/>
          </a:xfrm>
          <a:prstGeom prst="rect">
            <a:avLst/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50976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243584"/>
            <a:ext cx="1490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PROMPTING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" y="1481328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→ Build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" y="1700784"/>
            <a:ext cx="1435608" cy="0"/>
          </a:xfrm>
          <a:prstGeom prst="line">
            <a:avLst/>
          </a:prstGeom>
          <a:noFill/>
          <a:ln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773936"/>
            <a:ext cx="1472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Claude Code, describe what you want, it builds. Works surprisingly well for small tasks.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3282696"/>
            <a:ext cx="1490472" cy="182880"/>
          </a:xfrm>
          <a:prstGeom prst="rect">
            <a:avLst/>
          </a:prstGeom>
          <a:solidFill>
            <a:srgbClr val="0D1F38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282696"/>
            <a:ext cx="1490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92608" y="3493008"/>
            <a:ext cx="147218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grows past a single conversation — agent forgets conventions, you spend more time correcting than building.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901952" y="859536"/>
            <a:ext cx="1673352" cy="3913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01952" y="859536"/>
            <a:ext cx="1673352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Shape 16"/>
          <p:cNvSpPr/>
          <p:nvPr/>
        </p:nvSpPr>
        <p:spPr>
          <a:xfrm>
            <a:off x="1993392" y="950976"/>
            <a:ext cx="347472" cy="237744"/>
          </a:xfrm>
          <a:prstGeom prst="rect">
            <a:avLst/>
          </a:prstGeom>
          <a:solidFill>
            <a:srgbClr val="38BDF8">
              <a:alpha val="20000"/>
            </a:srgbClr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3392" y="950976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1243584"/>
            <a:ext cx="1490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1481328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11680" y="1700784"/>
            <a:ext cx="1435608" cy="0"/>
          </a:xfrm>
          <a:prstGeom prst="line">
            <a:avLst/>
          </a:prstGeom>
          <a:noFill/>
          <a:ln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1773936"/>
            <a:ext cx="1472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at project root: tech stack, naming conventions, patterns to follow and avoid. Changes everything.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93392" y="3282696"/>
            <a:ext cx="1490472" cy="182880"/>
          </a:xfrm>
          <a:prstGeom prst="rect">
            <a:avLst/>
          </a:prstGeom>
          <a:solidFill>
            <a:srgbClr val="0D1F38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3282696"/>
            <a:ext cx="1490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011680" y="3493008"/>
            <a:ext cx="147218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yours hit 145 lines — compliance degraded before the 200-line limit. Trimmed to 77 lines: compliance recovered. Keep it tight.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621024" y="859536"/>
            <a:ext cx="1673352" cy="3913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21024" y="859536"/>
            <a:ext cx="1673352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9" name="Shape 27"/>
          <p:cNvSpPr/>
          <p:nvPr/>
        </p:nvSpPr>
        <p:spPr>
          <a:xfrm>
            <a:off x="3712464" y="950976"/>
            <a:ext cx="347472" cy="237744"/>
          </a:xfrm>
          <a:prstGeom prst="rect">
            <a:avLst/>
          </a:prstGeom>
          <a:solidFill>
            <a:srgbClr val="818CF8">
              <a:alpha val="20000"/>
            </a:srgbClr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12464" y="950976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30752" y="1243584"/>
            <a:ext cx="1490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30752" y="1481328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Files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30752" y="1700784"/>
            <a:ext cx="1435608" cy="0"/>
          </a:xfrm>
          <a:prstGeom prst="line">
            <a:avLst/>
          </a:prstGeom>
          <a:noFill/>
          <a:ln w="9525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30752" y="1773936"/>
            <a:ext cx="1472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workflow files for specific task types. Load on demand, zero tokens when inactive.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712464" y="3282696"/>
            <a:ext cx="1490472" cy="182880"/>
          </a:xfrm>
          <a:prstGeom prst="rect">
            <a:avLst/>
          </a:prstGeom>
          <a:solidFill>
            <a:srgbClr val="0D1F38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12464" y="3282696"/>
            <a:ext cx="1490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730752" y="3493008"/>
            <a:ext cx="147218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follows your protocols but nobody checks its work automatically. You're still the quality gate.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5340096" y="859536"/>
            <a:ext cx="1673352" cy="3913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340096" y="859536"/>
            <a:ext cx="1673352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0" name="Shape 38"/>
          <p:cNvSpPr/>
          <p:nvPr/>
        </p:nvSpPr>
        <p:spPr>
          <a:xfrm>
            <a:off x="5431536" y="950976"/>
            <a:ext cx="347472" cy="237744"/>
          </a:xfrm>
          <a:prstGeom prst="rect">
            <a:avLst/>
          </a:prstGeom>
          <a:solidFill>
            <a:srgbClr val="FB923C">
              <a:alpha val="20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31536" y="950976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49824" y="1243584"/>
            <a:ext cx="1490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49824" y="1481328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Scripts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49824" y="1700784"/>
            <a:ext cx="1435608" cy="0"/>
          </a:xfrm>
          <a:prstGeom prst="line">
            <a:avLst/>
          </a:prstGeom>
          <a:noFill/>
          <a:ln w="9525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9824" y="1773936"/>
            <a:ext cx="1472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PostToolUse: per-file typecheck after every edit. Stop hooks: quality gates before completion. SessionStart: pre-load context.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431536" y="3282696"/>
            <a:ext cx="1490472" cy="182880"/>
          </a:xfrm>
          <a:prstGeom prst="rect">
            <a:avLst/>
          </a:prstGeom>
          <a:solidFill>
            <a:srgbClr val="0D1F38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31536" y="3282696"/>
            <a:ext cx="1490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449824" y="3493008"/>
            <a:ext cx="147218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stop telling the agent to validate — you build infrastructure that validates for it. Still one agent, one context window.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7059168" y="859536"/>
            <a:ext cx="1673352" cy="3913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059168" y="859536"/>
            <a:ext cx="1673352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51" name="Shape 49"/>
          <p:cNvSpPr/>
          <p:nvPr/>
        </p:nvSpPr>
        <p:spPr>
          <a:xfrm>
            <a:off x="7150608" y="950976"/>
            <a:ext cx="347472" cy="237744"/>
          </a:xfrm>
          <a:prstGeom prst="rect">
            <a:avLst/>
          </a:prstGeom>
          <a:solidFill>
            <a:srgbClr val="F472B6">
              <a:alpha val="20000"/>
            </a:srgbClr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0608" y="950976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68896" y="1243584"/>
            <a:ext cx="1490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168896" y="1481328"/>
            <a:ext cx="1490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Scale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68896" y="1700784"/>
            <a:ext cx="1435608" cy="0"/>
          </a:xfrm>
          <a:prstGeom prst="line">
            <a:avLst/>
          </a:prstGeom>
          <a:noFill/>
          <a:ln w="9525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68896" y="1773936"/>
            <a:ext cx="1472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agents in isolated worktrees. Persistent campaign files carry state across sessions. One developer at institutional scale.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150608" y="3282696"/>
            <a:ext cx="1490472" cy="182880"/>
          </a:xfrm>
          <a:prstGeom prst="rect">
            <a:avLst/>
          </a:prstGeom>
          <a:solidFill>
            <a:srgbClr val="0D1F38"/>
          </a:solidFill>
          <a:ln w="6350">
            <a:solidFill>
              <a:srgbClr val="33446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50608" y="3282696"/>
            <a:ext cx="1490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168896" y="3493008"/>
            <a:ext cx="147218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agents across 32 fleet sessions → 3.1% merge conflict rate. Most projects never need this. Know when you do.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4983480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live between Level 2 and Level 4.  Level 5 is real — but earn it.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01 — MACHINE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Foundation of Modern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47472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4747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704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enables systems to automatically learn and improve from experience without being explicitly programmed. Instead of writing rules, we feed data and let algorithms discover patterns.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87168"/>
            <a:ext cx="3200400" cy="603504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487168"/>
            <a:ext cx="45720" cy="60350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2374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data → predict outcomes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Regression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182112"/>
            <a:ext cx="3200400" cy="603504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182112"/>
            <a:ext cx="45720" cy="60350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3814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data → find structure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Dimensionality reduction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877056"/>
            <a:ext cx="3200400" cy="603504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877056"/>
            <a:ext cx="45720" cy="60350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1363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1330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Rewards → learn behavior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strategy through trial &amp; error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23360" y="1097280"/>
            <a:ext cx="475488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0" y="1097280"/>
            <a:ext cx="475488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4160520" y="11704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Algorithms &amp; Techniques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60520" y="1645920"/>
            <a:ext cx="4434840" cy="52120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60520" y="1682496"/>
            <a:ext cx="658368" cy="21945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1682496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64608" y="16733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64608" y="1920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models; interpretable predictions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60520" y="2240280"/>
            <a:ext cx="4434840" cy="52120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60520" y="2276856"/>
            <a:ext cx="658368" cy="219456"/>
          </a:xfrm>
          <a:prstGeom prst="rect">
            <a:avLst/>
          </a:prstGeom>
          <a:solidFill>
            <a:srgbClr val="1C3348"/>
          </a:solidFill>
          <a:ln/>
        </p:spPr>
      </p:sp>
      <p:sp>
        <p:nvSpPr>
          <p:cNvPr id="31" name="Text 29"/>
          <p:cNvSpPr/>
          <p:nvPr/>
        </p:nvSpPr>
        <p:spPr>
          <a:xfrm>
            <a:off x="4160520" y="2276856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64608" y="22677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&amp; Random Forests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64608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data; high accuracy; feature importance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60520" y="2834640"/>
            <a:ext cx="4434840" cy="52120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60520" y="2871216"/>
            <a:ext cx="658368" cy="21945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4160520" y="2871216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64608" y="28620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 (SVM)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64608" y="31089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 data; classification boundaries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60520" y="3429000"/>
            <a:ext cx="4434840" cy="52120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60520" y="3465576"/>
            <a:ext cx="658368" cy="219456"/>
          </a:xfrm>
          <a:prstGeom prst="rect">
            <a:avLst/>
          </a:prstGeom>
          <a:solidFill>
            <a:srgbClr val="1C3020"/>
          </a:solidFill>
          <a:ln/>
        </p:spPr>
      </p:sp>
      <p:sp>
        <p:nvSpPr>
          <p:cNvPr id="41" name="Text 39"/>
          <p:cNvSpPr/>
          <p:nvPr/>
        </p:nvSpPr>
        <p:spPr>
          <a:xfrm>
            <a:off x="4160520" y="3465576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Best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64608" y="3456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(XGBoost, LightGBM)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864608" y="3703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Kaggle-winning; structured/tabular data king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160520" y="4023360"/>
            <a:ext cx="4434840" cy="52120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160520" y="4059936"/>
            <a:ext cx="658368" cy="219456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46" name="Text 44"/>
          <p:cNvSpPr/>
          <p:nvPr/>
        </p:nvSpPr>
        <p:spPr>
          <a:xfrm>
            <a:off x="4160520" y="4059936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64608" y="40507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&amp; DBSCAN Clustering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864608" y="4297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segmentation; anomaly detection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02 — DEEP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Neural Network Revolution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16736" y="1755648"/>
            <a:ext cx="1243584" cy="-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16736" y="1755648"/>
            <a:ext cx="1243584" cy="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1755648"/>
            <a:ext cx="1243584" cy="109728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16736" y="1755648"/>
            <a:ext cx="1243584" cy="182880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2487168"/>
            <a:ext cx="1243584" cy="-109728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16736" y="2487168"/>
            <a:ext cx="1243584" cy="-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16736" y="2487168"/>
            <a:ext cx="1243584" cy="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16736" y="2487168"/>
            <a:ext cx="1243584" cy="109728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6736" y="3218688"/>
            <a:ext cx="1243584" cy="-182880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16736" y="3218688"/>
            <a:ext cx="1243584" cy="-109728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16736" y="3218688"/>
            <a:ext cx="1243584" cy="-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16736" y="3218688"/>
            <a:ext cx="1243584" cy="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62656" y="1389888"/>
            <a:ext cx="1243584" cy="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62656" y="1389888"/>
            <a:ext cx="1243584" cy="73152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62656" y="1389888"/>
            <a:ext cx="1243584" cy="146304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62656" y="1389888"/>
            <a:ext cx="1243584" cy="21945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62656" y="2121408"/>
            <a:ext cx="1243584" cy="-73152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62656" y="2121408"/>
            <a:ext cx="1243584" cy="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62656" y="2121408"/>
            <a:ext cx="1243584" cy="73152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62656" y="2121408"/>
            <a:ext cx="1243584" cy="146304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62656" y="2852928"/>
            <a:ext cx="1243584" cy="-146304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62656" y="2852928"/>
            <a:ext cx="1243584" cy="-73152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62656" y="2852928"/>
            <a:ext cx="1243584" cy="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62656" y="2852928"/>
            <a:ext cx="1243584" cy="73152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62656" y="3584448"/>
            <a:ext cx="1243584" cy="-21945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62656" y="3584448"/>
            <a:ext cx="1243584" cy="-146304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62656" y="3584448"/>
            <a:ext cx="1243584" cy="-73152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62656" y="3584448"/>
            <a:ext cx="1243584" cy="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08576" y="1389888"/>
            <a:ext cx="1243584" cy="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08576" y="1389888"/>
            <a:ext cx="1243584" cy="109728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08576" y="1389888"/>
            <a:ext cx="1243584" cy="182880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08576" y="2121408"/>
            <a:ext cx="1243584" cy="-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08576" y="2121408"/>
            <a:ext cx="1243584" cy="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08576" y="2121408"/>
            <a:ext cx="1243584" cy="109728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08576" y="2852928"/>
            <a:ext cx="1243584" cy="-109728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08576" y="2852928"/>
            <a:ext cx="1243584" cy="-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08576" y="2852928"/>
            <a:ext cx="1243584" cy="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08576" y="3584448"/>
            <a:ext cx="1243584" cy="-182880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08576" y="3584448"/>
            <a:ext cx="1243584" cy="-109728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08576" y="3584448"/>
            <a:ext cx="1243584" cy="-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54496" y="1755648"/>
            <a:ext cx="1152144" cy="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54496" y="1755648"/>
            <a:ext cx="1152144" cy="109728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54496" y="2487168"/>
            <a:ext cx="1152144" cy="-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487168"/>
            <a:ext cx="1152144" cy="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54496" y="3218688"/>
            <a:ext cx="1152144" cy="-109728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54496" y="3218688"/>
            <a:ext cx="1152144" cy="-365760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4400" y="1554480"/>
            <a:ext cx="402336" cy="402336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14400" y="2286000"/>
            <a:ext cx="402336" cy="402336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14400" y="3017520"/>
            <a:ext cx="402336" cy="402336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85800" y="41148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560320" y="1188720"/>
            <a:ext cx="402336" cy="402336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560320" y="1920240"/>
            <a:ext cx="402336" cy="402336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560320" y="2651760"/>
            <a:ext cx="402336" cy="402336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560320" y="3383280"/>
            <a:ext cx="402336" cy="402336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2331720" y="41148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206240" y="1188720"/>
            <a:ext cx="402336" cy="402336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206240" y="1920240"/>
            <a:ext cx="402336" cy="402336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206240" y="2651760"/>
            <a:ext cx="402336" cy="402336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206240" y="3383280"/>
            <a:ext cx="402336" cy="402336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977640" y="41148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852160" y="1554480"/>
            <a:ext cx="402336" cy="402336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852160" y="2286000"/>
            <a:ext cx="402336" cy="402336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852160" y="3017520"/>
            <a:ext cx="402336" cy="402336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5623560" y="41148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406640" y="1920240"/>
            <a:ext cx="402336" cy="402336"/>
          </a:xfrm>
          <a:prstGeom prst="ellipse">
            <a:avLst/>
          </a:prstGeom>
          <a:solidFill>
            <a:srgbClr val="FB923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7406640" y="2651760"/>
            <a:ext cx="402336" cy="402336"/>
          </a:xfrm>
          <a:prstGeom prst="ellipse">
            <a:avLst/>
          </a:prstGeom>
          <a:solidFill>
            <a:srgbClr val="FB923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7178040" y="41148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47472" y="4480560"/>
            <a:ext cx="84582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3" name="Text 71"/>
          <p:cNvSpPr/>
          <p:nvPr/>
        </p:nvSpPr>
        <p:spPr>
          <a:xfrm>
            <a:off x="502920" y="45262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02920" y="472744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vision, images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651760" y="45262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2651760" y="472744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Sequences, time series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800600" y="45262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4800600" y="472744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dependencies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949440" y="45262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949440" y="472744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Image/data generation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47472" y="1051560"/>
            <a:ext cx="548640" cy="457200"/>
          </a:xfrm>
          <a:prstGeom prst="rect">
            <a:avLst/>
          </a:prstGeom>
          <a:solidFill>
            <a:srgbClr val="0D3A5C"/>
          </a:solidFill>
          <a:ln/>
        </p:spPr>
      </p:sp>
      <p:sp>
        <p:nvSpPr>
          <p:cNvPr id="82" name="Text 80"/>
          <p:cNvSpPr/>
          <p:nvPr/>
        </p:nvSpPr>
        <p:spPr>
          <a:xfrm>
            <a:off x="347472" y="1051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960120" y="1051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Breakthrough: ImageNet 2012 — AlexNet reduced error rate from 26% to 15% using GPU-powered deep CNNs. The deep learning era had begun.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03 — TRANSFORMERS &amp; GPT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Attention Revolution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8404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704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Mechanism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insight: instead of processing tokens sequentially, Transformers process all tokens in parallel, letting each word "attend" to every other word in context.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94360" cy="32004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774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52728" y="2377440"/>
            <a:ext cx="594360" cy="320040"/>
          </a:xfrm>
          <a:prstGeom prst="rect">
            <a:avLst/>
          </a:prstGeom>
          <a:solidFill>
            <a:srgbClr val="38BDF8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52728" y="23774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56816" y="2377440"/>
            <a:ext cx="594360" cy="32004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56816" y="23774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60904" y="2377440"/>
            <a:ext cx="594360" cy="32004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60904" y="23774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64992" y="2377440"/>
            <a:ext cx="594360" cy="32004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64992" y="23774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49908" y="2537460"/>
            <a:ext cx="-704088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9908" y="2537460"/>
            <a:ext cx="704088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9908" y="2537460"/>
            <a:ext cx="1408176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49908" y="2537460"/>
            <a:ext cx="2112264" cy="0"/>
          </a:xfrm>
          <a:prstGeom prst="line">
            <a:avLst/>
          </a:prstGeom>
          <a:noFill/>
          <a:ln w="2667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 attends strongly to "mat" — grasping semantic context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218688"/>
            <a:ext cx="3566160" cy="329184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218688"/>
            <a:ext cx="4572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322783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392424"/>
            <a:ext cx="3383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attention across multiple representation subspaces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3602736"/>
            <a:ext cx="3566160" cy="329184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602736"/>
            <a:ext cx="4572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361188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776472"/>
            <a:ext cx="3383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sequence order information without recurrence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3986784"/>
            <a:ext cx="3566160" cy="329184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3986784"/>
            <a:ext cx="4572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399592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Layers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160520"/>
            <a:ext cx="3383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Per-position transformations with non-linear activations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" y="4370832"/>
            <a:ext cx="3566160" cy="329184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" y="4370832"/>
            <a:ext cx="4572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" y="4379976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Normalization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" y="4544568"/>
            <a:ext cx="3383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Stabilizes deep training across 96-175 layers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389120" y="1097280"/>
            <a:ext cx="438912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389120" y="1097280"/>
            <a:ext cx="438912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2" name="Text 40"/>
          <p:cNvSpPr/>
          <p:nvPr/>
        </p:nvSpPr>
        <p:spPr>
          <a:xfrm>
            <a:off x="452628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Model Evolution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526280" y="1600200"/>
            <a:ext cx="4114800" cy="4572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26280" y="1600200"/>
            <a:ext cx="73152" cy="45720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45" name="Text 43"/>
          <p:cNvSpPr/>
          <p:nvPr/>
        </p:nvSpPr>
        <p:spPr>
          <a:xfrm>
            <a:off x="4828032" y="16276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28032" y="184708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33872" y="16276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117M params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48272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unsupervised pre-training works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26280" y="2121408"/>
            <a:ext cx="4114800" cy="4572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26280" y="2121408"/>
            <a:ext cx="118872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1" name="Text 49"/>
          <p:cNvSpPr/>
          <p:nvPr/>
        </p:nvSpPr>
        <p:spPr>
          <a:xfrm>
            <a:off x="4828032" y="21488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828032" y="236829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833872" y="21488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params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748272" y="2167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tasks; too dangerous to release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26280" y="2642616"/>
            <a:ext cx="4114800" cy="4572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526280" y="2642616"/>
            <a:ext cx="164592" cy="4572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7" name="Text 55"/>
          <p:cNvSpPr/>
          <p:nvPr/>
        </p:nvSpPr>
        <p:spPr>
          <a:xfrm>
            <a:off x="4828032" y="26700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828032" y="288950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33872" y="26700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175B params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748272" y="26883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learning; API-first paradigm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26280" y="3163824"/>
            <a:ext cx="4114800" cy="4572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526280" y="3163824"/>
            <a:ext cx="210312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3" name="Text 61"/>
          <p:cNvSpPr/>
          <p:nvPr/>
        </p:nvSpPr>
        <p:spPr>
          <a:xfrm>
            <a:off x="4828032" y="31912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828032" y="341071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833872" y="31912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params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748272" y="32095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users in 2 months; AI for everyone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26280" y="3685032"/>
            <a:ext cx="4114800" cy="4572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526280" y="3685032"/>
            <a:ext cx="256032" cy="4572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69" name="Text 67"/>
          <p:cNvSpPr/>
          <p:nvPr/>
        </p:nvSpPr>
        <p:spPr>
          <a:xfrm>
            <a:off x="4828032" y="37124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828032" y="393192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833872" y="371246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~1T+ params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748272" y="3730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Multimodal; expert-level reasoning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526280" y="4206240"/>
            <a:ext cx="4114800" cy="4572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526280" y="4206240"/>
            <a:ext cx="301752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5" name="Text 73"/>
          <p:cNvSpPr/>
          <p:nvPr/>
        </p:nvSpPr>
        <p:spPr>
          <a:xfrm>
            <a:off x="4828032" y="42336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o1 / o3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828032" y="445312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2024-25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833872" y="42336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 params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748272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reasoning, agentic 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LLMs Actually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15544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155448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28016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 into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tokens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(GPT-4: 100K vocab)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2423160"/>
            <a:ext cx="164592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22860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84832" y="1143000"/>
            <a:ext cx="15544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84832" y="1143000"/>
            <a:ext cx="155448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5" name="Shape 13"/>
          <p:cNvSpPr/>
          <p:nvPr/>
        </p:nvSpPr>
        <p:spPr>
          <a:xfrm>
            <a:off x="2615184" y="1280160"/>
            <a:ext cx="502920" cy="5029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6" name="Text 14"/>
          <p:cNvSpPr/>
          <p:nvPr/>
        </p:nvSpPr>
        <p:spPr>
          <a:xfrm>
            <a:off x="2615184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84832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76272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mapped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(e.g. 12,288d)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0" y="2423160"/>
            <a:ext cx="164592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22860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22192" y="1143000"/>
            <a:ext cx="15544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22192" y="1143000"/>
            <a:ext cx="15544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352544" y="128016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4352544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22192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13632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layers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2423160"/>
            <a:ext cx="164592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22860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59552" y="1143000"/>
            <a:ext cx="15544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59552" y="1143000"/>
            <a:ext cx="155448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1" name="Shape 29"/>
          <p:cNvSpPr/>
          <p:nvPr/>
        </p:nvSpPr>
        <p:spPr>
          <a:xfrm>
            <a:off x="6089904" y="1280160"/>
            <a:ext cx="502920" cy="50292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2" name="Text 30"/>
          <p:cNvSpPr/>
          <p:nvPr/>
        </p:nvSpPr>
        <p:spPr>
          <a:xfrm>
            <a:off x="6089904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59552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Token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50992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vocabulary;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or sampling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32320" y="2423160"/>
            <a:ext cx="164592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0" y="22860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96912" y="1143000"/>
            <a:ext cx="15544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96912" y="1143000"/>
            <a:ext cx="15544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9" name="Shape 37"/>
          <p:cNvSpPr/>
          <p:nvPr/>
        </p:nvSpPr>
        <p:spPr>
          <a:xfrm>
            <a:off x="7827264" y="1280160"/>
            <a:ext cx="502920" cy="5029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40" name="Text 38"/>
          <p:cNvSpPr/>
          <p:nvPr/>
        </p:nvSpPr>
        <p:spPr>
          <a:xfrm>
            <a:off x="7827264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96912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88352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helpful,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 output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041648"/>
            <a:ext cx="201168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4041648"/>
            <a:ext cx="20116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114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100K+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365760" y="4462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Tokens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0" y="4041648"/>
            <a:ext cx="201168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560320" y="4041648"/>
            <a:ext cx="201168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9" name="Text 47"/>
          <p:cNvSpPr/>
          <p:nvPr/>
        </p:nvSpPr>
        <p:spPr>
          <a:xfrm>
            <a:off x="2560320" y="4114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1T+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2560320" y="4462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Tokens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4041648"/>
            <a:ext cx="201168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4041648"/>
            <a:ext cx="201168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3" name="Text 51"/>
          <p:cNvSpPr/>
          <p:nvPr/>
        </p:nvSpPr>
        <p:spPr>
          <a:xfrm>
            <a:off x="4754880" y="4114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4754880" y="4462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Layers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49440" y="4041648"/>
            <a:ext cx="201168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949440" y="4041648"/>
            <a:ext cx="201168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7" name="Text 55"/>
          <p:cNvSpPr/>
          <p:nvPr/>
        </p:nvSpPr>
        <p:spPr>
          <a:xfrm>
            <a:off x="6949440" y="4114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~$100M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6949440" y="4462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8101E"/>
          </a:solidFill>
          <a:ln/>
        </p:spPr>
      </p:sp>
      <p:sp>
        <p:nvSpPr>
          <p:cNvPr id="3" name="Shape 1"/>
          <p:cNvSpPr/>
          <p:nvPr/>
        </p:nvSpPr>
        <p:spPr>
          <a:xfrm>
            <a:off x="3639312" y="0"/>
            <a:ext cx="36576" cy="51435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Paradigm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201168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0632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answering questions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taking actions.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tools to teammates.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93192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429768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9319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429768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93192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429768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393192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423160" y="429768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3886200" y="228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an AI Agent Different?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3840480" y="777240"/>
            <a:ext cx="13716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3"/>
          <p:cNvSpPr/>
          <p:nvPr/>
        </p:nvSpPr>
        <p:spPr>
          <a:xfrm>
            <a:off x="3840480" y="777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Chatbot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46520" y="777240"/>
            <a:ext cx="2331720" cy="347472"/>
          </a:xfrm>
          <a:prstGeom prst="rect">
            <a:avLst/>
          </a:prstGeom>
          <a:solidFill>
            <a:srgbClr val="0D2B1A"/>
          </a:solidFill>
          <a:ln/>
        </p:spPr>
      </p:sp>
      <p:sp>
        <p:nvSpPr>
          <p:cNvPr id="21" name="Text 15"/>
          <p:cNvSpPr/>
          <p:nvPr/>
        </p:nvSpPr>
        <p:spPr>
          <a:xfrm>
            <a:off x="6446520" y="7772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840480" y="1234440"/>
            <a:ext cx="493776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3886200" y="12527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0" y="1280160"/>
            <a:ext cx="0" cy="566928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886200" y="1581912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response per prompt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419088" y="1280160"/>
            <a:ext cx="0" cy="566928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92240" y="134416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autonomous workflows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840480" y="1993392"/>
            <a:ext cx="4937760" cy="685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3886200" y="2011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029200" y="2039112"/>
            <a:ext cx="0" cy="566928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886200" y="2340864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only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6419088" y="2039112"/>
            <a:ext cx="0" cy="566928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492240" y="2103120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+ long-term + external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3840480" y="2752344"/>
            <a:ext cx="493776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3886200" y="27706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029200" y="2798064"/>
            <a:ext cx="0" cy="566928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886200" y="3099816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 only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6419088" y="2798064"/>
            <a:ext cx="0" cy="566928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92240" y="2862072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search, code exec, APIs, DBs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3840480" y="3511296"/>
            <a:ext cx="4937760" cy="6858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Text 35"/>
          <p:cNvSpPr/>
          <p:nvPr/>
        </p:nvSpPr>
        <p:spPr>
          <a:xfrm>
            <a:off x="3886200" y="35295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5029200" y="3557016"/>
            <a:ext cx="0" cy="566928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886200" y="3858768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in token prediction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6419088" y="3557016"/>
            <a:ext cx="0" cy="566928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492240" y="3621024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reasoning &amp; task decomposition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3840480" y="4270248"/>
            <a:ext cx="493776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7" name="Text 41"/>
          <p:cNvSpPr/>
          <p:nvPr/>
        </p:nvSpPr>
        <p:spPr>
          <a:xfrm>
            <a:off x="3886200" y="42885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5029200" y="4315968"/>
            <a:ext cx="0" cy="566928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3886200" y="4617720"/>
            <a:ext cx="2514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after training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6419088" y="4315968"/>
            <a:ext cx="0" cy="566928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492240" y="4379976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via feedback and memory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Anatomy of an AI Agent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0" y="1645920"/>
            <a:ext cx="2194560" cy="1828800"/>
          </a:xfrm>
          <a:prstGeom prst="ellipse">
            <a:avLst/>
          </a:prstGeom>
          <a:solidFill>
            <a:srgbClr val="0D2244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16459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2560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914400"/>
            <a:ext cx="256032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987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Memory Systems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2984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Working Memory (context window)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49961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Episodic Memory (conversation history)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170078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Memory (vector DB / RAG)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190195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Procedural Memory (skill library)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91440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914400"/>
            <a:ext cx="25603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987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Tool Belt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2984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Search &amp; Browser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149961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Interpreter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170078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APIs &amp; Webhooks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190195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System Access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283464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2834640"/>
            <a:ext cx="256032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9077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Planning Module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2186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decomposition (ReAct)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341985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Chain-of-thought reasoning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36210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 tracking &amp; sub-goals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382219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recovery &amp; retry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283464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2834640"/>
            <a:ext cx="256032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29077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Perception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32186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&amp; document parsing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341985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 &amp; video understanding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36210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data (JSON, SQL)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382219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event streams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0" y="1508760"/>
            <a:ext cx="731520" cy="594360"/>
          </a:xfrm>
          <a:prstGeom prst="line">
            <a:avLst/>
          </a:prstGeom>
          <a:noFill/>
          <a:ln w="12700">
            <a:solidFill>
              <a:srgbClr val="38BDF8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400800" y="1508760"/>
            <a:ext cx="-731520" cy="594360"/>
          </a:xfrm>
          <a:prstGeom prst="line">
            <a:avLst/>
          </a:prstGeom>
          <a:noFill/>
          <a:ln w="12700">
            <a:solidFill>
              <a:srgbClr val="38BDF8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743200" y="3429000"/>
            <a:ext cx="731520" cy="-228600"/>
          </a:xfrm>
          <a:prstGeom prst="line">
            <a:avLst/>
          </a:prstGeom>
          <a:noFill/>
          <a:ln w="12700">
            <a:solidFill>
              <a:srgbClr val="38BDF8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400800" y="3429000"/>
            <a:ext cx="-731520" cy="-228600"/>
          </a:xfrm>
          <a:prstGeom prst="line">
            <a:avLst/>
          </a:prstGeom>
          <a:noFill/>
          <a:ln w="12700">
            <a:solidFill>
              <a:srgbClr val="38BDF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365760" y="4160520"/>
            <a:ext cx="8412480" cy="7498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2976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280160" y="42976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057400" y="42976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834640" y="42976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611880" y="42976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389120" y="42976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166360" y="42976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43600" y="42976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720840" y="42976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98080" y="42976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275320" y="42976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Orchestrating AI Agent Networks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6576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65760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704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Orchestrator-Agent Pattern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1645920"/>
            <a:ext cx="1828800" cy="502920"/>
          </a:xfrm>
          <a:prstGeom prst="rect">
            <a:avLst/>
          </a:prstGeom>
          <a:solidFill>
            <a:srgbClr val="2D1B4E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1645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Orchestrator 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10972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6060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51560" y="2606040"/>
            <a:ext cx="0" cy="-457200"/>
          </a:xfrm>
          <a:prstGeom prst="line">
            <a:avLst/>
          </a:prstGeom>
          <a:noFill/>
          <a:ln w="12700">
            <a:solidFill>
              <a:srgbClr val="818CF8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1737360" y="2606040"/>
            <a:ext cx="10972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37360" y="26060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0" y="2606040"/>
            <a:ext cx="0" cy="-457200"/>
          </a:xfrm>
          <a:prstGeom prst="line">
            <a:avLst/>
          </a:prstGeom>
          <a:noFill/>
          <a:ln w="12700">
            <a:solidFill>
              <a:srgbClr val="38BDF8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2971800" y="2606040"/>
            <a:ext cx="10972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71800" y="26060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Writing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2606040"/>
            <a:ext cx="0" cy="-457200"/>
          </a:xfrm>
          <a:prstGeom prst="line">
            <a:avLst/>
          </a:prstGeom>
          <a:noFill/>
          <a:ln w="12700">
            <a:solidFill>
              <a:srgbClr val="34D399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502920" y="3657600"/>
            <a:ext cx="713232" cy="347472"/>
          </a:xfrm>
          <a:prstGeom prst="rect">
            <a:avLst/>
          </a:prstGeom>
          <a:solidFill>
            <a:srgbClr val="1A3D5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65760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07592" y="3657600"/>
            <a:ext cx="713232" cy="347472"/>
          </a:xfrm>
          <a:prstGeom prst="rect">
            <a:avLst/>
          </a:prstGeom>
          <a:solidFill>
            <a:srgbClr val="1A3D5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07592" y="365760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DB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12264" y="3657600"/>
            <a:ext cx="713232" cy="347472"/>
          </a:xfrm>
          <a:prstGeom prst="rect">
            <a:avLst/>
          </a:prstGeom>
          <a:solidFill>
            <a:srgbClr val="1A3D5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12264" y="365760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API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16936" y="3657600"/>
            <a:ext cx="713232" cy="347472"/>
          </a:xfrm>
          <a:prstGeom prst="rect">
            <a:avLst/>
          </a:prstGeom>
          <a:solidFill>
            <a:srgbClr val="1A3D5C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16936" y="365760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Files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40416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 Layer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06240" y="1097280"/>
            <a:ext cx="45720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06240" y="1097280"/>
            <a:ext cx="45720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4343400" y="11704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Patterns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43400" y="15727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ReAct: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77840" y="15727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Act: interleaved thinking and tool calls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1874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Plan &amp; Execute: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577840" y="18745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decomposes; executor runs subtasks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4340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Reflexion: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77840" y="21762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Self-critique and iterative improvement loops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43400" y="24780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CAMEL: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577840" y="24780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Role-playing agents with collaborative dialog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06240" y="2880360"/>
            <a:ext cx="4572000" cy="1874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206240" y="2880360"/>
            <a:ext cx="457200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1" name="Text 39"/>
          <p:cNvSpPr/>
          <p:nvPr/>
        </p:nvSpPr>
        <p:spPr>
          <a:xfrm>
            <a:off x="4343400" y="29443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Frameworks &amp; Platforms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343400" y="3319272"/>
            <a:ext cx="45720" cy="23774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3" name="Text 41"/>
          <p:cNvSpPr/>
          <p:nvPr/>
        </p:nvSpPr>
        <p:spPr>
          <a:xfrm>
            <a:off x="4462272" y="333756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53328" y="333756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multi-actor apps; graph-based agent workflows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343400" y="3593592"/>
            <a:ext cx="45720" cy="23774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6" name="Text 44"/>
          <p:cNvSpPr/>
          <p:nvPr/>
        </p:nvSpPr>
        <p:spPr>
          <a:xfrm>
            <a:off x="4462272" y="361188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(Microsoft):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53328" y="361188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conversations; code execution built-in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343400" y="3867912"/>
            <a:ext cx="45720" cy="23774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9" name="Text 47"/>
          <p:cNvSpPr/>
          <p:nvPr/>
        </p:nvSpPr>
        <p:spPr>
          <a:xfrm>
            <a:off x="4462272" y="388620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53328" y="38862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crew of agents for complex collaborative tasks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343400" y="4142232"/>
            <a:ext cx="45720" cy="23774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2" name="Text 50"/>
          <p:cNvSpPr/>
          <p:nvPr/>
        </p:nvSpPr>
        <p:spPr>
          <a:xfrm>
            <a:off x="4462272" y="416052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Agents: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053328" y="416052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 infrastructure on AWS with native connectors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343400" y="4416552"/>
            <a:ext cx="45720" cy="23774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55" name="Text 53"/>
          <p:cNvSpPr/>
          <p:nvPr/>
        </p:nvSpPr>
        <p:spPr>
          <a:xfrm>
            <a:off x="4462272" y="443484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Agents / Operator: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53328" y="443484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agentic APIs with computer use capabilities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AGENTS IN PRODUCTION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Agentic AI Use Cases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2743200" cy="17556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27432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1887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Software Development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96312" y="1188720"/>
            <a:ext cx="530352" cy="219456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9" name="Text 7"/>
          <p:cNvSpPr/>
          <p:nvPr/>
        </p:nvSpPr>
        <p:spPr>
          <a:xfrm>
            <a:off x="2496312" y="118872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8912" y="15361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Copilot Workspace — full feature implementation from issue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9476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Devin AI — end-to-end coding, testing, deployment agent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3591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Cursor Agent — multi-file refactoring with context awareness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1097280"/>
            <a:ext cx="2743200" cy="17556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097280"/>
            <a:ext cx="27432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11887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Business Intelligence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22392" y="1188720"/>
            <a:ext cx="530352" cy="219456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17" name="Text 15"/>
          <p:cNvSpPr/>
          <p:nvPr/>
        </p:nvSpPr>
        <p:spPr>
          <a:xfrm>
            <a:off x="5422392" y="118872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64992" y="15361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Autonomous data analyst agents querying DWH and narrating insights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64992" y="19476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Forecast agents monitoring KPIs and alerting on anomalies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64992" y="23591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Competitive intelligence agents scraping and synthesizing market data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99632" y="1097280"/>
            <a:ext cx="2743200" cy="17556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99632" y="1097280"/>
            <a:ext cx="274320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3" name="Text 21"/>
          <p:cNvSpPr/>
          <p:nvPr/>
        </p:nvSpPr>
        <p:spPr>
          <a:xfrm>
            <a:off x="6291072" y="11887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Customer Operations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48472" y="1188720"/>
            <a:ext cx="530352" cy="219456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25" name="Text 23"/>
          <p:cNvSpPr/>
          <p:nvPr/>
        </p:nvSpPr>
        <p:spPr>
          <a:xfrm>
            <a:off x="8348472" y="118872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91072" y="15361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Multi-turn support agents resolving tickets end-to-end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91072" y="19476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handoff with full context to human agents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91072" y="23591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outreach agents triggered by behavioral signals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3017520"/>
            <a:ext cx="2743200" cy="17556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3017520"/>
            <a:ext cx="274320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" y="3108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IT &amp; DevOps Automation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496312" y="3108960"/>
            <a:ext cx="530352" cy="219456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33" name="Text 31"/>
          <p:cNvSpPr/>
          <p:nvPr/>
        </p:nvSpPr>
        <p:spPr>
          <a:xfrm>
            <a:off x="2496312" y="310896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38912" y="34564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Incident response agents parsing logs, diagnosing, auto-remediating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" y="38679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agents provisioning cloud resources via IaC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8912" y="4279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agents scanning CVEs and generating patch PRs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73552" y="3017520"/>
            <a:ext cx="2743200" cy="17556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73552" y="3017520"/>
            <a:ext cx="274320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9" name="Text 37"/>
          <p:cNvSpPr/>
          <p:nvPr/>
        </p:nvSpPr>
        <p:spPr>
          <a:xfrm>
            <a:off x="3364992" y="3108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Legal &amp; Compliance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22392" y="3108960"/>
            <a:ext cx="530352" cy="219456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41" name="Text 39"/>
          <p:cNvSpPr/>
          <p:nvPr/>
        </p:nvSpPr>
        <p:spPr>
          <a:xfrm>
            <a:off x="5422392" y="310896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364992" y="34564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Contract review agents flagging non-standard clauses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64992" y="38679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Regulatory compliance agents monitoring policy changes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64992" y="4279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Due diligence agents synthesizing financial filings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99632" y="3017520"/>
            <a:ext cx="2743200" cy="17556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99632" y="3017520"/>
            <a:ext cx="27432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7" name="Text 45"/>
          <p:cNvSpPr/>
          <p:nvPr/>
        </p:nvSpPr>
        <p:spPr>
          <a:xfrm>
            <a:off x="6291072" y="3108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Research &amp; Discovery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48472" y="3108960"/>
            <a:ext cx="530352" cy="219456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49" name="Text 47"/>
          <p:cNvSpPr/>
          <p:nvPr/>
        </p:nvSpPr>
        <p:spPr>
          <a:xfrm>
            <a:off x="8348472" y="3108960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291072" y="34564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Literature review agents synthesizing 1000s of papers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91072" y="38679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Drug discovery agents proposing novel molecular candidates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91072" y="4279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AlphaFold-style domain-specific scientific agents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 ×  CANONICAL REFERENCE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Platform Reference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22376" y="841248"/>
            <a:ext cx="100584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841248"/>
            <a:ext cx="10058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932688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" y="1289304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Web/Mobile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Voice/Chat/API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737360" y="129844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837944" y="841248"/>
            <a:ext cx="100584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37944" y="841248"/>
            <a:ext cx="100584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1883664" y="932688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83664" y="1289304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Auth/Rate Limit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Routing/SSL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852928" y="129844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2953512" y="841248"/>
            <a:ext cx="100584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53512" y="841248"/>
            <a:ext cx="100584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7" name="Text 15"/>
          <p:cNvSpPr/>
          <p:nvPr/>
        </p:nvSpPr>
        <p:spPr>
          <a:xfrm>
            <a:off x="2999232" y="932688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99232" y="1289304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Manager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968496" y="129844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069080" y="841248"/>
            <a:ext cx="100584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69080" y="841248"/>
            <a:ext cx="10058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932688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1289304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Planning/Memory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84064" y="129844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184648" y="841248"/>
            <a:ext cx="100584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84648" y="841248"/>
            <a:ext cx="100584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5230368" y="932688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30368" y="1289304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Functions/MCP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199632" y="129844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6300216" y="841248"/>
            <a:ext cx="100584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0216" y="841248"/>
            <a:ext cx="100584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2" name="Text 30"/>
          <p:cNvSpPr/>
          <p:nvPr/>
        </p:nvSpPr>
        <p:spPr>
          <a:xfrm>
            <a:off x="6345936" y="932688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45936" y="1289304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DB/RAG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DW/Knowledge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315200" y="129844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7415784" y="841248"/>
            <a:ext cx="100584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15784" y="841248"/>
            <a:ext cx="10058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7461504" y="932688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61504" y="1289304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Logs/Metrics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Traces/Alerts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225296" y="1773936"/>
            <a:ext cx="0" cy="146304"/>
          </a:xfrm>
          <a:prstGeom prst="line">
            <a:avLst/>
          </a:prstGeom>
          <a:noFill/>
          <a:ln w="9525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1938528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here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456432" y="1773936"/>
            <a:ext cx="0" cy="146304"/>
          </a:xfrm>
          <a:prstGeom prst="line">
            <a:avLst/>
          </a:prstGeom>
          <a:noFill/>
          <a:ln w="9525">
            <a:solidFill>
              <a:srgbClr val="F472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80944" y="1938528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logic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572000" y="1773936"/>
            <a:ext cx="0" cy="146304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96512" y="1938528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here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803136" y="1773936"/>
            <a:ext cx="0" cy="146304"/>
          </a:xfrm>
          <a:prstGeom prst="line">
            <a:avLst/>
          </a:prstGeom>
          <a:noFill/>
          <a:ln w="9525">
            <a:solidFill>
              <a:srgbClr val="FB92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1938528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here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918704" y="1773936"/>
            <a:ext cx="0" cy="146304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43216" y="1938528"/>
            <a:ext cx="950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&amp;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here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0040" y="2487168"/>
            <a:ext cx="4206240" cy="4389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" y="2487168"/>
            <a:ext cx="420624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1" name="Text 49"/>
          <p:cNvSpPr/>
          <p:nvPr/>
        </p:nvSpPr>
        <p:spPr>
          <a:xfrm>
            <a:off x="411480" y="255117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11480" y="2724912"/>
            <a:ext cx="4041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 · Auth · Rate Limiting · Routing · SSL Termination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63440" y="2487168"/>
            <a:ext cx="4160520" cy="4389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2487168"/>
            <a:ext cx="416052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5" name="Text 53"/>
          <p:cNvSpPr/>
          <p:nvPr/>
        </p:nvSpPr>
        <p:spPr>
          <a:xfrm>
            <a:off x="4754880" y="255117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754880" y="2724912"/>
            <a:ext cx="3995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· Vector Store · Retrieval · Caching · Streaming Pipelines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0040" y="3017520"/>
            <a:ext cx="2651760" cy="475488"/>
          </a:xfrm>
          <a:prstGeom prst="rect">
            <a:avLst/>
          </a:prstGeom>
          <a:solidFill>
            <a:srgbClr val="0A1626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11480" y="3081528"/>
            <a:ext cx="2514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LAYER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11480" y="326440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LLM calls · Sub-100ms · Streaming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08960" y="3017520"/>
            <a:ext cx="2926080" cy="475488"/>
          </a:xfrm>
          <a:prstGeom prst="rect">
            <a:avLst/>
          </a:prstGeom>
          <a:solidFill>
            <a:srgbClr val="0A1626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200400" y="3081528"/>
            <a:ext cx="2788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FINE-TUNE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200400" y="3264408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 · Model versioning · Eval pipelines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172200" y="3017520"/>
            <a:ext cx="2651760" cy="475488"/>
          </a:xfrm>
          <a:prstGeom prst="rect">
            <a:avLst/>
          </a:prstGeom>
          <a:solidFill>
            <a:srgbClr val="0A1626"/>
          </a:solidFill>
          <a:ln w="6350">
            <a:solidFill>
              <a:srgbClr val="F472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263640" y="3081528"/>
            <a:ext cx="2514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263640" y="326440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· Tool selection · Memory · Feedback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0040" y="3611880"/>
            <a:ext cx="4206240" cy="365760"/>
          </a:xfrm>
          <a:prstGeom prst="rect">
            <a:avLst/>
          </a:prstGeom>
          <a:solidFill>
            <a:srgbClr val="050D1A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3666744"/>
            <a:ext cx="658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097280" y="3712464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Sub-100ms inference · Streaming responses · Real-time context retrieval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663440" y="3611880"/>
            <a:ext cx="4160520" cy="365760"/>
          </a:xfrm>
          <a:prstGeom prst="rect">
            <a:avLst/>
          </a:prstGeom>
          <a:solidFill>
            <a:srgbClr val="050D1A"/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0" y="366674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5394960" y="37124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pipelines · Fine-tuning runs · Evaluation datasets · Scheduled ingestion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20040" y="4096512"/>
            <a:ext cx="8503920" cy="34747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73" name="Shape 71"/>
          <p:cNvSpPr/>
          <p:nvPr/>
        </p:nvSpPr>
        <p:spPr>
          <a:xfrm>
            <a:off x="320040" y="4096512"/>
            <a:ext cx="45720" cy="3474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4" name="Text 72"/>
          <p:cNvSpPr/>
          <p:nvPr/>
        </p:nvSpPr>
        <p:spPr>
          <a:xfrm>
            <a:off x="457200" y="41879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LAYER: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920240" y="4187952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 ·  gRPC  ·  Event Bus (Kafka/SQS)  ·  MCP (Model Context Protocol)  ·  Webhooks  ·  Legacy Adapters  ·  API-first &amp; Agent-first patterns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0" y="4553712"/>
            <a:ext cx="9144000" cy="182880"/>
          </a:xfrm>
          <a:prstGeom prst="rect">
            <a:avLst/>
          </a:prstGeom>
          <a:solidFill>
            <a:srgbClr val="040810"/>
          </a:solidFill>
          <a:ln/>
        </p:spPr>
      </p:sp>
      <p:sp>
        <p:nvSpPr>
          <p:cNvPr id="77" name="Text 75"/>
          <p:cNvSpPr/>
          <p:nvPr/>
        </p:nvSpPr>
        <p:spPr>
          <a:xfrm>
            <a:off x="365760" y="4562856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enterprise AI system must answer: Where does data enter?  Where does inference happen?  Where are APIs exposed?  How is everything observed?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  ×  BLUEPRINT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Architecture Blueprint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48840" y="2331720"/>
            <a:ext cx="1645920" cy="640080"/>
          </a:xfrm>
          <a:prstGeom prst="rect">
            <a:avLst/>
          </a:prstGeom>
          <a:solidFill>
            <a:srgbClr val="1A0E40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48840" y="24048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ENGINE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48840" y="26517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CoT · ReWOO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40280" y="868680"/>
            <a:ext cx="1463040" cy="566928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0280" y="92354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13432" y="1124712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decomposition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sequencing · CoT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71800" y="1453896"/>
            <a:ext cx="0" cy="87782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74320" y="3246120"/>
            <a:ext cx="1920240" cy="1481328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246120"/>
            <a:ext cx="192024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3284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593592"/>
            <a:ext cx="1737360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630168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749040"/>
            <a:ext cx="16642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· In-flight state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5760" y="3959352"/>
            <a:ext cx="1737360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995928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4114800"/>
            <a:ext cx="16642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· Episodic store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760" y="4325112"/>
            <a:ext cx="1737360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361688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4480560"/>
            <a:ext cx="16642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· Entity links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148840" y="2651760"/>
            <a:ext cx="64008" cy="36576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377440" y="3246120"/>
            <a:ext cx="1920240" cy="1481328"/>
          </a:xfrm>
          <a:prstGeom prst="rect">
            <a:avLst/>
          </a:prstGeom>
          <a:solidFill>
            <a:srgbClr val="1E293B"/>
          </a:solidFill>
          <a:ln w="9525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77440" y="3246120"/>
            <a:ext cx="192024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2377440" y="33284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3593592"/>
            <a:ext cx="1737360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9" name="Text 27"/>
          <p:cNvSpPr/>
          <p:nvPr/>
        </p:nvSpPr>
        <p:spPr>
          <a:xfrm>
            <a:off x="2514600" y="3630168"/>
            <a:ext cx="868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14600" y="3749040"/>
            <a:ext cx="16642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tools · Schemas · Permissions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468880" y="3959352"/>
            <a:ext cx="1737360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2" name="Text 30"/>
          <p:cNvSpPr/>
          <p:nvPr/>
        </p:nvSpPr>
        <p:spPr>
          <a:xfrm>
            <a:off x="2514600" y="3995928"/>
            <a:ext cx="868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14600" y="4114800"/>
            <a:ext cx="16642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gRPC / MCP / function calls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468880" y="4325112"/>
            <a:ext cx="1737360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5" name="Text 33"/>
          <p:cNvSpPr/>
          <p:nvPr/>
        </p:nvSpPr>
        <p:spPr>
          <a:xfrm>
            <a:off x="2514600" y="4361688"/>
            <a:ext cx="868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14600" y="4480560"/>
            <a:ext cx="16642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parsing · Error recovery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971800" y="2990088"/>
            <a:ext cx="365760" cy="256032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4617720" y="841248"/>
            <a:ext cx="42062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4727448" y="8869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17720" y="1188720"/>
            <a:ext cx="4206240" cy="8961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1188720"/>
            <a:ext cx="45720" cy="89611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42" name="Text 40"/>
          <p:cNvSpPr/>
          <p:nvPr/>
        </p:nvSpPr>
        <p:spPr>
          <a:xfrm>
            <a:off x="4745736" y="125272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vs Stateful?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45736" y="146304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Stateless: each call is independent — simple, scalable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Stateful: persists session memory — needed for multi-turn tasks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17720" y="2148840"/>
            <a:ext cx="4206240" cy="8961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17720" y="2148840"/>
            <a:ext cx="45720" cy="89611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6" name="Text 44"/>
          <p:cNvSpPr/>
          <p:nvPr/>
        </p:nvSpPr>
        <p:spPr>
          <a:xfrm>
            <a:off x="4745736" y="221284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memory stored?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45736" y="242316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LLM context window (tokens)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Vector DB (Pinecone, pgvector, Chroma)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Episodic: Redis or external store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17720" y="3108960"/>
            <a:ext cx="4206240" cy="8961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17720" y="3108960"/>
            <a:ext cx="45720" cy="89611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0" name="Text 48"/>
          <p:cNvSpPr/>
          <p:nvPr/>
        </p:nvSpPr>
        <p:spPr>
          <a:xfrm>
            <a:off x="4745736" y="317296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tools selected?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745736" y="338328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chooses from tool registry based on intent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schemas define inputs/outputs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+ retry on failure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17720" y="4069080"/>
            <a:ext cx="4206240" cy="8961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17720" y="4069080"/>
            <a:ext cx="45720" cy="8961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4745736" y="413308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strategy?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745736" y="434340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files for cross-session state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for long-running workflows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 for audit trail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0014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494690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 =  Planner  +  Memory  +  Tool Executor  +  Feedback Loop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 ×  ZERO TRUST SECURITY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Pipeline + Security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10058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100584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97864"/>
            <a:ext cx="932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51790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DBs, APIs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Streams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335024" y="1527048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417320" y="1115568"/>
            <a:ext cx="10058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417320" y="1115568"/>
            <a:ext cx="100584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1197864"/>
            <a:ext cx="932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63040" y="151790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432304" y="1527048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2514600" y="1115568"/>
            <a:ext cx="10058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14600" y="1115568"/>
            <a:ext cx="10058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1197864"/>
            <a:ext cx="932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60320" y="151790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dedupe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529584" y="1527048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3611880" y="1115568"/>
            <a:ext cx="10058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11880" y="1115568"/>
            <a:ext cx="100584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1197864"/>
            <a:ext cx="932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0" y="151790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OpenAI/local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26864" y="1527048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709160" y="1115568"/>
            <a:ext cx="10058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115568"/>
            <a:ext cx="100584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197864"/>
            <a:ext cx="932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151790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pgvector/Chroma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724144" y="1527048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5806440" y="1115568"/>
            <a:ext cx="10058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06440" y="1115568"/>
            <a:ext cx="100584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3" name="Text 31"/>
          <p:cNvSpPr/>
          <p:nvPr/>
        </p:nvSpPr>
        <p:spPr>
          <a:xfrm>
            <a:off x="5852160" y="1197864"/>
            <a:ext cx="932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52160" y="151790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Hybrid+RRF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821424" y="1527048"/>
            <a:ext cx="731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6903720" y="1115568"/>
            <a:ext cx="10058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03720" y="1115568"/>
            <a:ext cx="100584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0" y="1197864"/>
            <a:ext cx="932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49440" y="151790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Context-enriched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20040" y="2029968"/>
            <a:ext cx="8503920" cy="25603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208483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 Ingest → Validate → Chunk → Embed → Index → Version → Monitor drift → Re-embed on change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2395728"/>
            <a:ext cx="850392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SECURITY ARCHITECTURE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" y="2706624"/>
            <a:ext cx="201168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2706624"/>
            <a:ext cx="20116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2798064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Ingress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090672"/>
            <a:ext cx="45720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0998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· DDoS Protection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11480" y="3364992"/>
            <a:ext cx="45720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0" name="Text 48"/>
          <p:cNvSpPr/>
          <p:nvPr/>
        </p:nvSpPr>
        <p:spPr>
          <a:xfrm>
            <a:off x="521208" y="337413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11480" y="3639312"/>
            <a:ext cx="45720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2" name="Text 50"/>
          <p:cNvSpPr/>
          <p:nvPr/>
        </p:nvSpPr>
        <p:spPr>
          <a:xfrm>
            <a:off x="521208" y="36484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TLS/mTLS termination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423160" y="2706624"/>
            <a:ext cx="201168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423160" y="2706624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2514600" y="2798064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14600" y="3090672"/>
            <a:ext cx="4572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2624328" y="30998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ABAC policies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514600" y="3364992"/>
            <a:ext cx="4572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2624328" y="337413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514600" y="3639312"/>
            <a:ext cx="4572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2624328" y="36484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/ OIDC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526280" y="2706624"/>
            <a:ext cx="201168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526280" y="2706624"/>
            <a:ext cx="201168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4" name="Text 62"/>
          <p:cNvSpPr/>
          <p:nvPr/>
        </p:nvSpPr>
        <p:spPr>
          <a:xfrm>
            <a:off x="4617720" y="2798064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617720" y="3090672"/>
            <a:ext cx="45720" cy="1828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6" name="Text 64"/>
          <p:cNvSpPr/>
          <p:nvPr/>
        </p:nvSpPr>
        <p:spPr>
          <a:xfrm>
            <a:off x="4727448" y="30998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firewall / injection filter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617720" y="3364992"/>
            <a:ext cx="45720" cy="1828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8" name="Text 66"/>
          <p:cNvSpPr/>
          <p:nvPr/>
        </p:nvSpPr>
        <p:spPr>
          <a:xfrm>
            <a:off x="4727448" y="337413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layer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617720" y="3639312"/>
            <a:ext cx="45720" cy="1828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0" name="Text 68"/>
          <p:cNvSpPr/>
          <p:nvPr/>
        </p:nvSpPr>
        <p:spPr>
          <a:xfrm>
            <a:off x="4727448" y="36484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 classifier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629400" y="2706624"/>
            <a:ext cx="201168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629400" y="2706624"/>
            <a:ext cx="201168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3" name="Text 71"/>
          <p:cNvSpPr/>
          <p:nvPr/>
        </p:nvSpPr>
        <p:spPr>
          <a:xfrm>
            <a:off x="6720840" y="2798064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720840" y="3090672"/>
            <a:ext cx="45720" cy="1828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5" name="Text 73"/>
          <p:cNvSpPr/>
          <p:nvPr/>
        </p:nvSpPr>
        <p:spPr>
          <a:xfrm>
            <a:off x="6830568" y="30998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&amp; transit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720840" y="3364992"/>
            <a:ext cx="45720" cy="1828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7" name="Text 75"/>
          <p:cNvSpPr/>
          <p:nvPr/>
        </p:nvSpPr>
        <p:spPr>
          <a:xfrm>
            <a:off x="6830568" y="337413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&amp; masking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720840" y="3639312"/>
            <a:ext cx="45720" cy="1828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9" name="Text 77"/>
          <p:cNvSpPr/>
          <p:nvPr/>
        </p:nvSpPr>
        <p:spPr>
          <a:xfrm>
            <a:off x="6830568" y="36484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data isolation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20040" y="4096512"/>
            <a:ext cx="8503920" cy="347472"/>
          </a:xfrm>
          <a:prstGeom prst="rect">
            <a:avLst/>
          </a:prstGeom>
          <a:solidFill>
            <a:srgbClr val="100005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7200" y="416966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PRINCIPLE: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2057400" y="4169664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trust, always verify  ·  Least-privilege access  ·  Every agent request authenticated  ·  Every model output validated  ·  Every action audited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ENGINEERING  ×  COST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Scalability + Cost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20624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86968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ARCHITECTURE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1161288"/>
            <a:ext cx="420624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61288"/>
            <a:ext cx="45720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71016"/>
            <a:ext cx="384048" cy="237744"/>
          </a:xfrm>
          <a:prstGeom prst="rect">
            <a:avLst/>
          </a:prstGeom>
          <a:solidFill>
            <a:srgbClr val="162032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71016"/>
            <a:ext cx="384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41832" y="12344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Load Balancer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41832" y="14538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Nginx/Kong · Round-robin / least-conn · Auto-scaling groups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1874520"/>
            <a:ext cx="420624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74520"/>
            <a:ext cx="4572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984248"/>
            <a:ext cx="384048" cy="237744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84248"/>
            <a:ext cx="384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41832" y="19476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Queue-based Async Processing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41832" y="21671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SQS for LLM jobs · Dead-letter queues · Back-pressure control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2587752"/>
            <a:ext cx="420624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587752"/>
            <a:ext cx="45720" cy="6583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697480"/>
            <a:ext cx="384048" cy="237744"/>
          </a:xfrm>
          <a:prstGeom prst="rect">
            <a:avLst/>
          </a:prstGeom>
          <a:solidFill>
            <a:srgbClr val="162032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97480"/>
            <a:ext cx="384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41832" y="26609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28803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pods per agent · HPA on queue depth · Serverless (Fargate)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0040" y="3300984"/>
            <a:ext cx="420624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00984"/>
            <a:ext cx="45720" cy="6583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410712"/>
            <a:ext cx="384048" cy="237744"/>
          </a:xfrm>
          <a:prstGeom prst="rect">
            <a:avLst/>
          </a:prstGeom>
          <a:solidFill>
            <a:srgbClr val="162032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10712"/>
            <a:ext cx="384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41832" y="33741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Layer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41832" y="35935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 prompt cache + result cache · TTL-aware · ~60% cost reduction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" y="4014216"/>
            <a:ext cx="420624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4014216"/>
            <a:ext cx="45720" cy="65836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123944"/>
            <a:ext cx="384048" cy="237744"/>
          </a:xfrm>
          <a:prstGeom prst="rect">
            <a:avLst/>
          </a:prstGeom>
          <a:solidFill>
            <a:srgbClr val="162032"/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23944"/>
            <a:ext cx="384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41832" y="40873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41832" y="43068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Active/active with latency routing · Data residency compliance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54880" y="841248"/>
            <a:ext cx="406908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88696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ARCHITECTURE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1161288"/>
            <a:ext cx="40690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1161288"/>
            <a:ext cx="4572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4873752" y="12252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315200" y="1225296"/>
            <a:ext cx="1371600" cy="237744"/>
          </a:xfrm>
          <a:prstGeom prst="rect">
            <a:avLst/>
          </a:prstGeom>
          <a:solidFill>
            <a:srgbClr val="0A1626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12252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~70% cost saving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73752" y="14813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cheap queries to small models (GPT-4o-mini, Haiku)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complexity to frontier models only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2048256"/>
            <a:ext cx="40690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2048256"/>
            <a:ext cx="45720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7" name="Text 45"/>
          <p:cNvSpPr/>
          <p:nvPr/>
        </p:nvSpPr>
        <p:spPr>
          <a:xfrm>
            <a:off x="4873752" y="21122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315200" y="2112264"/>
            <a:ext cx="1371600" cy="237744"/>
          </a:xfrm>
          <a:prstGeom prst="rect">
            <a:avLst/>
          </a:prstGeom>
          <a:solidFill>
            <a:srgbClr val="0A1626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0" y="211226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~60% reduction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873752" y="236829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identical/near-identical prompt prefixes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TTL + semantic similarity threshold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54880" y="2935224"/>
            <a:ext cx="40690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2935224"/>
            <a:ext cx="45720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3" name="Text 51"/>
          <p:cNvSpPr/>
          <p:nvPr/>
        </p:nvSpPr>
        <p:spPr>
          <a:xfrm>
            <a:off x="4873752" y="29992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Optimisation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315200" y="2999232"/>
            <a:ext cx="1371600" cy="237744"/>
          </a:xfrm>
          <a:prstGeom prst="rect">
            <a:avLst/>
          </a:prstGeom>
          <a:solidFill>
            <a:srgbClr val="0A1626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0" y="299923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30-50% tokens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873752" y="325526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context windows aggressively · Compress memory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 reduce perceived latency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3822192"/>
            <a:ext cx="40690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754880" y="3822192"/>
            <a:ext cx="45720" cy="8229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9" name="Text 57"/>
          <p:cNvSpPr/>
          <p:nvPr/>
        </p:nvSpPr>
        <p:spPr>
          <a:xfrm>
            <a:off x="4873752" y="38862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SLAs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315200" y="3886200"/>
            <a:ext cx="1371600" cy="237744"/>
          </a:xfrm>
          <a:prstGeom prst="rect">
            <a:avLst/>
          </a:prstGeom>
          <a:solidFill>
            <a:srgbClr val="0A1626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0" y="38862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SLA tiers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873752" y="41422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&lt; 500ms · P99 &lt; 3s for interactive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jobs: best-effort queue with ETA notification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40E04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rule of thumb:  Cache first → Route smart → Scale horizontally → Monitor costs daily → Set hard token budgets per user/tenant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 ×  RESPONSIBLE AI GOVERNANCE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Observability Stack + Governance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50392"/>
            <a:ext cx="420624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9611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206240" cy="7863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70432"/>
            <a:ext cx="45720" cy="7863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89304"/>
            <a:ext cx="411480" cy="256032"/>
          </a:xfrm>
          <a:prstGeom prst="rect">
            <a:avLst/>
          </a:prstGeom>
          <a:solidFill>
            <a:srgbClr val="162032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930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60120" y="123444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472184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response logging · Structured JSON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PII-masked before storage · Retention policy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020824"/>
            <a:ext cx="4206240" cy="7863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20824"/>
            <a:ext cx="45720" cy="7863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139696"/>
            <a:ext cx="411480" cy="256032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3969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60120" y="2084832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322576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p50/p99 · Token usage per call · Error rates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query · Model utilisation 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871216"/>
            <a:ext cx="4206240" cy="7863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71216"/>
            <a:ext cx="45720" cy="78638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990088"/>
            <a:ext cx="411480" cy="256032"/>
          </a:xfrm>
          <a:prstGeom prst="rect">
            <a:avLst/>
          </a:prstGeom>
          <a:solidFill>
            <a:srgbClr val="162032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9008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TRC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60120" y="293522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317296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step-by-step trace · Tool call chain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(OpenTelemetry / Langfuse)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3721608"/>
            <a:ext cx="4206240" cy="7863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21608"/>
            <a:ext cx="45720" cy="7863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840480"/>
            <a:ext cx="411480" cy="256032"/>
          </a:xfrm>
          <a:prstGeom prst="rect">
            <a:avLst/>
          </a:prstGeom>
          <a:solidFill>
            <a:srgbClr val="162032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4048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60120" y="378561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4023360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 · Groundedness score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· Human eval sampling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850392"/>
            <a:ext cx="406908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89611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GOVERNANCE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1170432"/>
            <a:ext cx="4069080" cy="6217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170432"/>
            <a:ext cx="45720" cy="62179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5" name="Text 33"/>
          <p:cNvSpPr/>
          <p:nvPr/>
        </p:nvSpPr>
        <p:spPr>
          <a:xfrm>
            <a:off x="4873752" y="12252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73752" y="144475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model catalogue · Approval workflow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capability · A/B model comparison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1847088"/>
            <a:ext cx="4069080" cy="6217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1847088"/>
            <a:ext cx="45720" cy="62179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9" name="Text 37"/>
          <p:cNvSpPr/>
          <p:nvPr/>
        </p:nvSpPr>
        <p:spPr>
          <a:xfrm>
            <a:off x="4873752" y="19019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Pipeline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73752" y="212140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evals on every model change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suites · Regression detection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2523744"/>
            <a:ext cx="4069080" cy="6217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2523744"/>
            <a:ext cx="45720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4873752" y="25786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 (HITL)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73752" y="279806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actions require human sign-off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routing · Escalation paths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200400"/>
            <a:ext cx="4069080" cy="6217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200400"/>
            <a:ext cx="45720" cy="62179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7" name="Text 45"/>
          <p:cNvSpPr/>
          <p:nvPr/>
        </p:nvSpPr>
        <p:spPr>
          <a:xfrm>
            <a:off x="4873752" y="32552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873752" y="347472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 of all AI decisions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SOX / DORA alignment · Right to explain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3877056"/>
            <a:ext cx="4069080" cy="6217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3877056"/>
            <a:ext cx="45720" cy="6217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1" name="Text 49"/>
          <p:cNvSpPr/>
          <p:nvPr/>
        </p:nvSpPr>
        <p:spPr>
          <a:xfrm>
            <a:off x="4873752" y="39319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Tracking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73752" y="415137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hallucination rate dashboard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check vs knowledge base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6020E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4946904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question checklist:  Who approved this model?  What version is live?  How many hallucinations last 7 days?  Is this decision auditable?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 ×  ENTERPRISE AI MATURITY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Framework + AI Maturity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50392"/>
            <a:ext cx="420624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96112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206240" cy="256032"/>
          </a:xfrm>
          <a:prstGeom prst="rect">
            <a:avLst/>
          </a:prstGeom>
          <a:solidFill>
            <a:srgbClr val="0D1F3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070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0" y="120700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Tool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426464"/>
            <a:ext cx="4206240" cy="3108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426464"/>
            <a:ext cx="36576" cy="3108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14904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RAG / Q&amp;A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04288" y="1490472"/>
            <a:ext cx="2103120" cy="182880"/>
          </a:xfrm>
          <a:prstGeom prst="rect">
            <a:avLst/>
          </a:prstGeom>
          <a:solidFill>
            <a:srgbClr val="0A1626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1490472"/>
            <a:ext cx="2075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1755648"/>
            <a:ext cx="4206240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1755648"/>
            <a:ext cx="36576" cy="31089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18196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orchestration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04288" y="1819656"/>
            <a:ext cx="2103120" cy="182880"/>
          </a:xfrm>
          <a:prstGeom prst="rect">
            <a:avLst/>
          </a:prstGeom>
          <a:solidFill>
            <a:srgbClr val="0A1626"/>
          </a:solidFill>
          <a:ln/>
        </p:spPr>
      </p:sp>
      <p:sp>
        <p:nvSpPr>
          <p:cNvPr id="19" name="Text 17"/>
          <p:cNvSpPr/>
          <p:nvPr/>
        </p:nvSpPr>
        <p:spPr>
          <a:xfrm>
            <a:off x="2331720" y="1819656"/>
            <a:ext cx="2075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CrewAI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084832"/>
            <a:ext cx="4206240" cy="3108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084832"/>
            <a:ext cx="36576" cy="3108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148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managed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304288" y="2148840"/>
            <a:ext cx="2103120" cy="182880"/>
          </a:xfrm>
          <a:prstGeom prst="rect">
            <a:avLst/>
          </a:prstGeom>
          <a:solidFill>
            <a:srgbClr val="0A1626"/>
          </a:solidFill>
          <a:ln/>
        </p:spPr>
      </p:sp>
      <p:sp>
        <p:nvSpPr>
          <p:cNvPr id="24" name="Text 22"/>
          <p:cNvSpPr/>
          <p:nvPr/>
        </p:nvSpPr>
        <p:spPr>
          <a:xfrm>
            <a:off x="2331720" y="2148840"/>
            <a:ext cx="2075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/ Azure AI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2414016"/>
            <a:ext cx="4206240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2414016"/>
            <a:ext cx="36576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247802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private models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304288" y="2478024"/>
            <a:ext cx="2103120" cy="182880"/>
          </a:xfrm>
          <a:prstGeom prst="rect">
            <a:avLst/>
          </a:prstGeom>
          <a:solidFill>
            <a:srgbClr val="0A1626"/>
          </a:solidFill>
          <a:ln/>
        </p:spPr>
      </p:sp>
      <p:sp>
        <p:nvSpPr>
          <p:cNvPr id="29" name="Text 27"/>
          <p:cNvSpPr/>
          <p:nvPr/>
        </p:nvSpPr>
        <p:spPr>
          <a:xfrm>
            <a:off x="2331720" y="2478024"/>
            <a:ext cx="2075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LlamaIndex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2743200"/>
            <a:ext cx="4206240" cy="3108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2743200"/>
            <a:ext cx="36576" cy="31089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" y="28072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crews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304288" y="2807208"/>
            <a:ext cx="2103120" cy="182880"/>
          </a:xfrm>
          <a:prstGeom prst="rect">
            <a:avLst/>
          </a:prstGeom>
          <a:solidFill>
            <a:srgbClr val="0A1626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2807208"/>
            <a:ext cx="2075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/ AutoGen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3072384"/>
            <a:ext cx="4206240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6" name="Shape 34"/>
          <p:cNvSpPr/>
          <p:nvPr/>
        </p:nvSpPr>
        <p:spPr>
          <a:xfrm>
            <a:off x="320040" y="3072384"/>
            <a:ext cx="36576" cy="3108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" y="31363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retrieval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304288" y="3136392"/>
            <a:ext cx="2103120" cy="182880"/>
          </a:xfrm>
          <a:prstGeom prst="rect">
            <a:avLst/>
          </a:prstGeom>
          <a:solidFill>
            <a:srgbClr val="0A1626"/>
          </a:solidFill>
          <a:ln/>
        </p:spPr>
      </p:sp>
      <p:sp>
        <p:nvSpPr>
          <p:cNvPr id="39" name="Text 37"/>
          <p:cNvSpPr/>
          <p:nvPr/>
        </p:nvSpPr>
        <p:spPr>
          <a:xfrm>
            <a:off x="2331720" y="3136392"/>
            <a:ext cx="2075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 / DIN-SQL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3401568"/>
            <a:ext cx="4206240" cy="3108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9"/>
          <p:cNvSpPr/>
          <p:nvPr/>
        </p:nvSpPr>
        <p:spPr>
          <a:xfrm>
            <a:off x="320040" y="3401568"/>
            <a:ext cx="36576" cy="3108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" y="34655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agent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304288" y="3465576"/>
            <a:ext cx="2103120" cy="182880"/>
          </a:xfrm>
          <a:prstGeom prst="rect">
            <a:avLst/>
          </a:prstGeom>
          <a:solidFill>
            <a:srgbClr val="0A1626"/>
          </a:solidFill>
          <a:ln/>
        </p:spPr>
      </p:sp>
      <p:sp>
        <p:nvSpPr>
          <p:cNvPr id="44" name="Text 42"/>
          <p:cNvSpPr/>
          <p:nvPr/>
        </p:nvSpPr>
        <p:spPr>
          <a:xfrm>
            <a:off x="2331720" y="3465576"/>
            <a:ext cx="2075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/ Copilot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" y="3730752"/>
            <a:ext cx="4206240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" y="3730752"/>
            <a:ext cx="36576" cy="3108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438912" y="37947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real-time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304288" y="3794760"/>
            <a:ext cx="2103120" cy="182880"/>
          </a:xfrm>
          <a:prstGeom prst="rect">
            <a:avLst/>
          </a:prstGeom>
          <a:solidFill>
            <a:srgbClr val="0A1626"/>
          </a:solidFill>
          <a:ln/>
        </p:spPr>
      </p:sp>
      <p:sp>
        <p:nvSpPr>
          <p:cNvPr id="49" name="Text 47"/>
          <p:cNvSpPr/>
          <p:nvPr/>
        </p:nvSpPr>
        <p:spPr>
          <a:xfrm>
            <a:off x="2331720" y="3794760"/>
            <a:ext cx="2075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Realtime API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4059936"/>
            <a:ext cx="4206240" cy="3108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1" name="Shape 49"/>
          <p:cNvSpPr/>
          <p:nvPr/>
        </p:nvSpPr>
        <p:spPr>
          <a:xfrm>
            <a:off x="320040" y="4059936"/>
            <a:ext cx="36576" cy="31089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2" name="Text 50"/>
          <p:cNvSpPr/>
          <p:nvPr/>
        </p:nvSpPr>
        <p:spPr>
          <a:xfrm>
            <a:off x="438912" y="41239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prod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304288" y="4123944"/>
            <a:ext cx="2103120" cy="182880"/>
          </a:xfrm>
          <a:prstGeom prst="rect">
            <a:avLst/>
          </a:prstGeom>
          <a:solidFill>
            <a:srgbClr val="0A1626"/>
          </a:solidFill>
          <a:ln/>
        </p:spPr>
      </p:sp>
      <p:sp>
        <p:nvSpPr>
          <p:cNvPr id="54" name="Text 52"/>
          <p:cNvSpPr/>
          <p:nvPr/>
        </p:nvSpPr>
        <p:spPr>
          <a:xfrm>
            <a:off x="2331720" y="4123944"/>
            <a:ext cx="2075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+ caching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54880" y="850392"/>
            <a:ext cx="406908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6" name="Text 54"/>
          <p:cNvSpPr/>
          <p:nvPr/>
        </p:nvSpPr>
        <p:spPr>
          <a:xfrm>
            <a:off x="4892040" y="89611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MATURITY MODEL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54880" y="1170432"/>
            <a:ext cx="406908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754880" y="1170432"/>
            <a:ext cx="347472" cy="658368"/>
          </a:xfrm>
          <a:prstGeom prst="rect">
            <a:avLst/>
          </a:prstGeom>
          <a:solidFill>
            <a:srgbClr val="94A3B8">
              <a:alpha val="3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754880" y="1170432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175504" y="122529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75504" y="1472184"/>
            <a:ext cx="3520440" cy="914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62" name="Shape 60"/>
          <p:cNvSpPr/>
          <p:nvPr/>
        </p:nvSpPr>
        <p:spPr>
          <a:xfrm>
            <a:off x="5175504" y="1472184"/>
            <a:ext cx="731520" cy="91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3" name="Text 61"/>
          <p:cNvSpPr/>
          <p:nvPr/>
        </p:nvSpPr>
        <p:spPr>
          <a:xfrm>
            <a:off x="5175504" y="1600200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ChatGPT usage · No integration · Individual productivity gains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754880" y="1883664"/>
            <a:ext cx="406908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754880" y="1883664"/>
            <a:ext cx="347472" cy="658368"/>
          </a:xfrm>
          <a:prstGeom prst="rect">
            <a:avLst/>
          </a:prstGeom>
          <a:solidFill>
            <a:srgbClr val="34D399">
              <a:alpha val="3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4754880" y="1883664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175504" y="193852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75504" y="2185416"/>
            <a:ext cx="3520440" cy="914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69" name="Shape 67"/>
          <p:cNvSpPr/>
          <p:nvPr/>
        </p:nvSpPr>
        <p:spPr>
          <a:xfrm>
            <a:off x="5175504" y="2185416"/>
            <a:ext cx="1463040" cy="914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0" name="Text 68"/>
          <p:cNvSpPr/>
          <p:nvPr/>
        </p:nvSpPr>
        <p:spPr>
          <a:xfrm>
            <a:off x="5175504" y="2313432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answers · Connected to internal knowledge bases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754880" y="2596896"/>
            <a:ext cx="406908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754880" y="2596896"/>
            <a:ext cx="347472" cy="658368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4754880" y="2596896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175504" y="265176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Tool-augmented LLM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175504" y="2898648"/>
            <a:ext cx="3520440" cy="914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76" name="Shape 74"/>
          <p:cNvSpPr/>
          <p:nvPr/>
        </p:nvSpPr>
        <p:spPr>
          <a:xfrm>
            <a:off x="5175504" y="2898648"/>
            <a:ext cx="219456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7" name="Text 75"/>
          <p:cNvSpPr/>
          <p:nvPr/>
        </p:nvSpPr>
        <p:spPr>
          <a:xfrm>
            <a:off x="5175504" y="3026664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can call APIs, query DBs, execute functions · Prompt engineering mature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754880" y="3310128"/>
            <a:ext cx="406908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754880" y="3310128"/>
            <a:ext cx="347472" cy="658368"/>
          </a:xfrm>
          <a:prstGeom prst="rect">
            <a:avLst/>
          </a:prstGeom>
          <a:solidFill>
            <a:srgbClr val="818CF8">
              <a:alpha val="30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4754880" y="3310128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175504" y="336499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175504" y="3611880"/>
            <a:ext cx="3520440" cy="914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83" name="Shape 81"/>
          <p:cNvSpPr/>
          <p:nvPr/>
        </p:nvSpPr>
        <p:spPr>
          <a:xfrm>
            <a:off x="5175504" y="3611880"/>
            <a:ext cx="2926080" cy="914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4" name="Text 82"/>
          <p:cNvSpPr/>
          <p:nvPr/>
        </p:nvSpPr>
        <p:spPr>
          <a:xfrm>
            <a:off x="5175504" y="373989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multi-step task completion · Planner + memory + tools deployed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754880" y="4023360"/>
            <a:ext cx="4069080" cy="6583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4754880" y="4023360"/>
            <a:ext cx="347472" cy="658368"/>
          </a:xfrm>
          <a:prstGeom prst="rect">
            <a:avLst/>
          </a:prstGeom>
          <a:solidFill>
            <a:srgbClr val="F472B6">
              <a:alpha val="30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4754880" y="4023360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175504" y="407822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Systems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175504" y="4325112"/>
            <a:ext cx="3520440" cy="914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90" name="Shape 88"/>
          <p:cNvSpPr/>
          <p:nvPr/>
        </p:nvSpPr>
        <p:spPr>
          <a:xfrm>
            <a:off x="5175504" y="4325112"/>
            <a:ext cx="3657600" cy="9144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91" name="Text 89"/>
          <p:cNvSpPr/>
          <p:nvPr/>
        </p:nvSpPr>
        <p:spPr>
          <a:xfrm>
            <a:off x="5175504" y="445312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loops · Agent fleets · Minimal human oversight needed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20810"/>
          </a:solidFill>
          <a:ln/>
        </p:spPr>
      </p:sp>
      <p:sp>
        <p:nvSpPr>
          <p:cNvPr id="93" name="Text 91"/>
          <p:cNvSpPr/>
          <p:nvPr/>
        </p:nvSpPr>
        <p:spPr>
          <a:xfrm>
            <a:off x="365760" y="4946904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your organisation sit today?  Most enterprises are between L2 and L3.  L4–L5 requires governance, observability, and production-hardened infrastructure.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STANDARD  ×  ANTHROPIC OPEN PROTOCOL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Context Protocol (MCP)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503920" cy="56692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45720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8961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59152" y="896112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 is an open standard by Anthropic that defines how AI models connect to external tools, data sources, and services — the same way HTTP standardised web communication. Instead of every team building custom integrations, MCP provides a universal plug-and-play interface: one protocol, any tool, any model.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737360" cy="9875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508760"/>
            <a:ext cx="173736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600200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HOST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85623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LLM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218541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connection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context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7712" y="2002536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2267712" y="2112264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arrow"/>
          </a:ln>
        </p:spPr>
      </p:sp>
      <p:sp>
        <p:nvSpPr>
          <p:cNvPr id="16" name="Shape 14"/>
          <p:cNvSpPr/>
          <p:nvPr/>
        </p:nvSpPr>
        <p:spPr>
          <a:xfrm>
            <a:off x="2478024" y="1508760"/>
            <a:ext cx="1737360" cy="9875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78024" y="1508760"/>
            <a:ext cx="173736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Text 16"/>
          <p:cNvSpPr/>
          <p:nvPr/>
        </p:nvSpPr>
        <p:spPr>
          <a:xfrm>
            <a:off x="2569464" y="1600200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9464" y="185623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handler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mgr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69464" y="218541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with each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42816" y="2002536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242816" y="2112264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arrow"/>
          </a:ln>
        </p:spPr>
      </p:sp>
      <p:sp>
        <p:nvSpPr>
          <p:cNvPr id="23" name="Shape 21"/>
          <p:cNvSpPr/>
          <p:nvPr/>
        </p:nvSpPr>
        <p:spPr>
          <a:xfrm>
            <a:off x="4453128" y="1508760"/>
            <a:ext cx="1737360" cy="9875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53128" y="1508760"/>
            <a:ext cx="173736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1600200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44568" y="185623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process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44568" y="218541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tools,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resources, prompts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217920" y="2002536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6217920" y="2112264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arrow"/>
          </a:ln>
        </p:spPr>
      </p:sp>
      <p:sp>
        <p:nvSpPr>
          <p:cNvPr id="30" name="Shape 28"/>
          <p:cNvSpPr/>
          <p:nvPr/>
        </p:nvSpPr>
        <p:spPr>
          <a:xfrm>
            <a:off x="6428232" y="1508760"/>
            <a:ext cx="1737360" cy="9875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28232" y="1508760"/>
            <a:ext cx="1737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519672" y="1600200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19672" y="185623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DBs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· Services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519672" y="218541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capabilities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0040" y="2532888"/>
            <a:ext cx="8503920" cy="237744"/>
          </a:xfrm>
          <a:prstGeom prst="rect">
            <a:avLst/>
          </a:prstGeom>
          <a:solidFill>
            <a:srgbClr val="0A1626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56946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EXPOSES THREE PRIMITIVES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2788920"/>
            <a:ext cx="269748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2788920"/>
            <a:ext cx="26974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288036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29768" y="3136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the LLM can call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(search, write file, query DB, send email)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9768" y="3538728"/>
            <a:ext cx="2441448" cy="0"/>
          </a:xfrm>
          <a:prstGeom prst="line">
            <a:avLst/>
          </a:prstGeom>
          <a:noFill/>
          <a:ln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9768" y="3611880"/>
            <a:ext cx="2496312" cy="25603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" y="3639312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read_file(), write_code()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29768" y="3922776"/>
            <a:ext cx="2496312" cy="25603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" y="3950208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search_web(), run_sql()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29768" y="4233672"/>
            <a:ext cx="2496312" cy="25603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" y="4261104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send_slack(), create_ticket()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18688" y="2788920"/>
            <a:ext cx="269748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18688" y="278892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3328416" y="288036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328416" y="3136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 LLM can read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(files, DB rows, live API responses)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328416" y="3538728"/>
            <a:ext cx="2441448" cy="0"/>
          </a:xfrm>
          <a:prstGeom prst="line">
            <a:avLst/>
          </a:prstGeom>
          <a:noFill/>
          <a:ln w="9525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28416" y="3611880"/>
            <a:ext cx="2496312" cy="25603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54" name="Text 52"/>
          <p:cNvSpPr/>
          <p:nvPr/>
        </p:nvSpPr>
        <p:spPr>
          <a:xfrm>
            <a:off x="3383280" y="3639312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project_files://src/**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328416" y="3922776"/>
            <a:ext cx="2496312" cy="25603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56" name="Text 54"/>
          <p:cNvSpPr/>
          <p:nvPr/>
        </p:nvSpPr>
        <p:spPr>
          <a:xfrm>
            <a:off x="3383280" y="3950208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database://customers/schema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328416" y="4233672"/>
            <a:ext cx="2496312" cy="25603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58" name="Text 56"/>
          <p:cNvSpPr/>
          <p:nvPr/>
        </p:nvSpPr>
        <p:spPr>
          <a:xfrm>
            <a:off x="3383280" y="4261104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api://weather/current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17336" y="2788920"/>
            <a:ext cx="269748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117336" y="2788920"/>
            <a:ext cx="269748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1" name="Text 59"/>
          <p:cNvSpPr/>
          <p:nvPr/>
        </p:nvSpPr>
        <p:spPr>
          <a:xfrm>
            <a:off x="6227064" y="288036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227064" y="3136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prompt templates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specific workflows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227064" y="3538728"/>
            <a:ext cx="2441448" cy="0"/>
          </a:xfrm>
          <a:prstGeom prst="line">
            <a:avLst/>
          </a:prstGeom>
          <a:noFill/>
          <a:ln w="9525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27064" y="3611880"/>
            <a:ext cx="2496312" cy="25603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65" name="Text 63"/>
          <p:cNvSpPr/>
          <p:nvPr/>
        </p:nvSpPr>
        <p:spPr>
          <a:xfrm>
            <a:off x="6281928" y="3639312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code_review_template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227064" y="3922776"/>
            <a:ext cx="2496312" cy="25603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67" name="Text 65"/>
          <p:cNvSpPr/>
          <p:nvPr/>
        </p:nvSpPr>
        <p:spPr>
          <a:xfrm>
            <a:off x="6281928" y="3950208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meeting_summary_prompt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227064" y="4233672"/>
            <a:ext cx="2496312" cy="25603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69" name="Text 67"/>
          <p:cNvSpPr/>
          <p:nvPr/>
        </p:nvSpPr>
        <p:spPr>
          <a:xfrm>
            <a:off x="6281928" y="4261104"/>
            <a:ext cx="2404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bug_triage_workflow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40E04"/>
          </a:solidFill>
          <a:ln/>
        </p:spPr>
      </p:sp>
      <p:sp>
        <p:nvSpPr>
          <p:cNvPr id="71" name="Shape 69"/>
          <p:cNvSpPr/>
          <p:nvPr/>
        </p:nvSpPr>
        <p:spPr>
          <a:xfrm>
            <a:off x="0" y="4828032"/>
            <a:ext cx="914400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2" name="Text 70"/>
          <p:cNvSpPr/>
          <p:nvPr/>
        </p:nvSpPr>
        <p:spPr>
          <a:xfrm>
            <a:off x="36576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MCP Servers today: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2240280" y="4910328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Slack · Google Drive · Postgres · Jira · Notion · Puppeteer · Filesystem · Brave Search · AWS · Figma · Linear · Sentry · and 1000+ community servers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Imperatives for Technology Leaders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0624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20624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887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vs Buy vs Borrow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55448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open models for IP control; use APIs for speed; build bespoke for competitive differentiation. Most enterprises need all three.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097280"/>
            <a:ext cx="420624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097280"/>
            <a:ext cx="420624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5001768" y="11887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188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Architecture Shift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01768" y="155448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systems with AI as a first-class citizen. LLM APIs replace rule engines. Agents replace workflows. Vector DBs augment relational DBs.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59152"/>
            <a:ext cx="420624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59152"/>
            <a:ext cx="420624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45059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24505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 &amp; RAG Strategy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281635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data is your competitive moat. Invest in data pipelines for RAG. Structured + unstructured retrieval at scale is the differentiator.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359152"/>
            <a:ext cx="420624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359152"/>
            <a:ext cx="420624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2" name="Text 20"/>
          <p:cNvSpPr/>
          <p:nvPr/>
        </p:nvSpPr>
        <p:spPr>
          <a:xfrm>
            <a:off x="5001768" y="245059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24505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LLMOps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01768" y="281635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manage what you cannot measure. Instrument every LLM call: latency, cost, accuracy, hallucination rate, and user satisfaction.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21024"/>
            <a:ext cx="420624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621024"/>
            <a:ext cx="420624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371246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4400" y="37124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AI Risk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" y="4078224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management, bias audits, explainability, and incident response plans. AI needs the same rigor as financial systems.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621024"/>
            <a:ext cx="420624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621024"/>
            <a:ext cx="420624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5001768" y="371246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40680" y="37124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&amp; Culture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01768" y="4078224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across engineering. Dedicated ML/AI platform team. Upskill existing engineers on prompt engineering, agents, and LLMOps.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ARCHITECTS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 Patterns &amp; Design Decisions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3703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84048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704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Patterns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3566160" cy="5669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627632"/>
            <a:ext cx="45720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6642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19019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augments existing app without replacing it. Reads context, provides suggestions. Low-risk entry point.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267712"/>
            <a:ext cx="3566160" cy="5669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267712"/>
            <a:ext cx="45720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30428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Pattern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5420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LLM proxy with rate limiting, caching, routing, auth, and observability. Single control plane.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907792"/>
            <a:ext cx="3566160" cy="5669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907792"/>
            <a:ext cx="45720" cy="56692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9443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RAG-First Architecture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1821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knowledge queries route through retrieval pipeline before LLM. Grounded, auditable, updatable.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547872"/>
            <a:ext cx="3566160" cy="5669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547872"/>
            <a:ext cx="45720" cy="566928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5844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Agents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8221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triggered by events (Kafka, SQS). Async, scalable, decoupled from sync request-response.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187952"/>
            <a:ext cx="3566160" cy="5669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187952"/>
            <a:ext cx="45720" cy="56692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422452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44622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escalate to humans on low-confidence decisions. Configurable confidence thresholds.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0" y="1097280"/>
            <a:ext cx="4389120" cy="3703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89120" y="1097280"/>
            <a:ext cx="438912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0" name="Text 28"/>
          <p:cNvSpPr/>
          <p:nvPr/>
        </p:nvSpPr>
        <p:spPr>
          <a:xfrm>
            <a:off x="452628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26280" y="1627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Model Hosting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26280" y="1901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Cloud API (OpenAI, Anthropic)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26280" y="208483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Managed (AWS Bedrock, Azure AI)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26280" y="22677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Self-hosted (Llama, Mistral)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26280" y="24323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Vector Database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26280" y="270662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Pinecone (managed, production)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26280" y="288950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Weaviate / Qdrant (self-hosted)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26280" y="30723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pgvector (already have Postgres)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26280" y="32369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 Orchestration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26280" y="351129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LangGraph (complex stateful flows)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26280" y="369417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CrewAI (role-based collaboration)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26280" y="387705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Bedrock Agents (AWS-native)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26280" y="40416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Context Strategy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26280" y="431596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Full RAG (freshness + accuracy)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26280" y="449884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Fine-tuning (domain knowledge)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26280" y="468172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Hybrid: RAG + domain fine-tuned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AI-Native Development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8412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097280" cy="8412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0200" y="1261872"/>
            <a:ext cx="804672" cy="502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00200" y="1261872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1261872"/>
            <a:ext cx="804672" cy="502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261872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Node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29000" y="1261872"/>
            <a:ext cx="804672" cy="502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1261872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UI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3840480" cy="8412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57400"/>
            <a:ext cx="1097280" cy="84124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057400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00200" y="2221992"/>
            <a:ext cx="804672" cy="502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600200" y="2221992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LlamaIndex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14600" y="2221992"/>
            <a:ext cx="804672" cy="502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2221992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AI SDK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29000" y="2221992"/>
            <a:ext cx="804672" cy="502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29000" y="2221992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 Loop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3840480" cy="8412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17520"/>
            <a:ext cx="1097280" cy="8412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017520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00200" y="3182112"/>
            <a:ext cx="804672" cy="502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600200" y="3182112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Anthropic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14600" y="3182112"/>
            <a:ext cx="804672" cy="502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3182112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/ Azure AI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29000" y="3182112"/>
            <a:ext cx="804672" cy="502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29000" y="3182112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977640"/>
            <a:ext cx="3840480" cy="8412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977640"/>
            <a:ext cx="1097280" cy="841248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977640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600200" y="4142232"/>
            <a:ext cx="804672" cy="502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600200" y="4142232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/ pgvector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14600" y="4142232"/>
            <a:ext cx="804672" cy="502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14600" y="4142232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(cache)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429000" y="4142232"/>
            <a:ext cx="804672" cy="5029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29000" y="4142232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(doc store)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89120" y="1097280"/>
            <a:ext cx="4389120" cy="1874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389120" y="1097280"/>
            <a:ext cx="43891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3" name="Text 41"/>
          <p:cNvSpPr/>
          <p:nvPr/>
        </p:nvSpPr>
        <p:spPr>
          <a:xfrm>
            <a:off x="452628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Developer Skills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26280" y="1572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583680" y="1609344"/>
            <a:ext cx="2011680" cy="1371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6" name="Shape 44"/>
          <p:cNvSpPr/>
          <p:nvPr/>
        </p:nvSpPr>
        <p:spPr>
          <a:xfrm>
            <a:off x="6583680" y="1609344"/>
            <a:ext cx="1810512" cy="137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7" name="Text 45"/>
          <p:cNvSpPr/>
          <p:nvPr/>
        </p:nvSpPr>
        <p:spPr>
          <a:xfrm>
            <a:off x="8613648" y="157276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26280" y="18470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Implementation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83680" y="1883664"/>
            <a:ext cx="2011680" cy="1371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0" name="Shape 48"/>
          <p:cNvSpPr/>
          <p:nvPr/>
        </p:nvSpPr>
        <p:spPr>
          <a:xfrm>
            <a:off x="6583680" y="1883664"/>
            <a:ext cx="1649578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1" name="Text 49"/>
          <p:cNvSpPr/>
          <p:nvPr/>
        </p:nvSpPr>
        <p:spPr>
          <a:xfrm>
            <a:off x="8613648" y="184708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26280" y="21214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Design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583680" y="2157984"/>
            <a:ext cx="2011680" cy="1371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4" name="Shape 52"/>
          <p:cNvSpPr/>
          <p:nvPr/>
        </p:nvSpPr>
        <p:spPr>
          <a:xfrm>
            <a:off x="6583680" y="2157984"/>
            <a:ext cx="1508760" cy="1371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5" name="Text 53"/>
          <p:cNvSpPr/>
          <p:nvPr/>
        </p:nvSpPr>
        <p:spPr>
          <a:xfrm>
            <a:off x="8613648" y="212140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26280" y="23957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&amp; Evals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583680" y="2432304"/>
            <a:ext cx="2011680" cy="1371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8" name="Shape 56"/>
          <p:cNvSpPr/>
          <p:nvPr/>
        </p:nvSpPr>
        <p:spPr>
          <a:xfrm>
            <a:off x="6583680" y="2432304"/>
            <a:ext cx="1408176" cy="1371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9" name="Text 57"/>
          <p:cNvSpPr/>
          <p:nvPr/>
        </p:nvSpPr>
        <p:spPr>
          <a:xfrm>
            <a:off x="8613648" y="239572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26280" y="26700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&amp; PEFT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583680" y="2706624"/>
            <a:ext cx="2011680" cy="1371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2" name="Shape 60"/>
          <p:cNvSpPr/>
          <p:nvPr/>
        </p:nvSpPr>
        <p:spPr>
          <a:xfrm>
            <a:off x="6583680" y="2706624"/>
            <a:ext cx="1106424" cy="13716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63" name="Text 61"/>
          <p:cNvSpPr/>
          <p:nvPr/>
        </p:nvSpPr>
        <p:spPr>
          <a:xfrm>
            <a:off x="8613648" y="267004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389120" y="3090672"/>
            <a:ext cx="4389120" cy="170992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389120" y="3090672"/>
            <a:ext cx="438912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66" name="Text 64"/>
          <p:cNvSpPr/>
          <p:nvPr/>
        </p:nvSpPr>
        <p:spPr>
          <a:xfrm>
            <a:off x="4526280" y="31638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Essentials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4526280" y="354787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 system prompts to define role, constraints, and output format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526280" y="378561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Chain-of-thought: "Think step by step" dramatically improves reasoning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526280" y="402336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Few-shot examples outperform zero-shot in structured output tasks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526280" y="426110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Structured output (JSON mode) for reliable parsing in production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526280" y="449884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Temperature = 0 for deterministic; 0.7-1.0 for creative generation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Responsible AI in the Enterprise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06240" cy="17556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20624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Security Risks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injection attacks — malicious inputs hijack agent behavior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928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exfiltration via LLM outputs — PII leakage in generated text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Supply chain risk — model backdoors in open weights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53288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privilege escalation — agents acting beyond authorization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4206240" cy="17556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97280"/>
            <a:ext cx="420624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Governance Framework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57276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Acceptable Use Policy — what employees can &amp; cannot do with AI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18928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cards &amp; datasheets for every deployed model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22128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Human-in-the-loop requirements for high-stakes decisions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253288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incident response plan with escalation procedures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4206240" cy="17556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17520"/>
            <a:ext cx="420624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08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Compliance &amp; Regulation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4930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AI Act: risk-tiered regulation; high-risk systems need conformity assessment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8130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GDPR: right to explanation for AI decisions; data minimization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13308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 2 / ISO 27001 controls for AI systems in scope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453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NIST AI Risk Management Framework (AI RMF)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3017520"/>
            <a:ext cx="4206240" cy="17556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017520"/>
            <a:ext cx="420624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108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Ethical Principles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4930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Fairness: audit for bias across protected attributes before deployment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37760" y="38130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Transparency: explainability for consequential AI decisions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413308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Accountability: clear ownership for AI system outcomes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4453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Privacy: minimize data, anonymize training data, data retention policies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Coming: 2025–2030 Horizon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2743200" cy="3749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27432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188720"/>
            <a:ext cx="2560320" cy="3200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Mainstream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" y="2084832"/>
            <a:ext cx="256032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" y="2084832"/>
            <a:ext cx="45720" cy="594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" y="21579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frameworks reach production maturity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" y="2743200"/>
            <a:ext cx="256032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" y="2743200"/>
            <a:ext cx="45720" cy="594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" y="2816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assistants write 50%+ of enterprise code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" y="3401568"/>
            <a:ext cx="256032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3401568"/>
            <a:ext cx="45720" cy="594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agents become standard web architecture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" y="4059936"/>
            <a:ext cx="256032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" y="4059936"/>
            <a:ext cx="45720" cy="594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" y="4133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AI agents dominate niche workflows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73552" y="1097280"/>
            <a:ext cx="2743200" cy="3749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73552" y="1097280"/>
            <a:ext cx="27432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Shape 22"/>
          <p:cNvSpPr/>
          <p:nvPr/>
        </p:nvSpPr>
        <p:spPr>
          <a:xfrm>
            <a:off x="3364992" y="1188720"/>
            <a:ext cx="2560320" cy="320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3364992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64992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&amp; Embodied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364992" y="2084832"/>
            <a:ext cx="256032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64992" y="2084832"/>
            <a:ext cx="45720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3483864" y="21579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multimodal agents (voice + vision + action)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64992" y="2743200"/>
            <a:ext cx="256032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64992" y="2743200"/>
            <a:ext cx="45720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3483864" y="2816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enterprise apps replace legacy SaaS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64992" y="3401568"/>
            <a:ext cx="256032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64992" y="3401568"/>
            <a:ext cx="45720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5" name="Text 33"/>
          <p:cNvSpPr/>
          <p:nvPr/>
        </p:nvSpPr>
        <p:spPr>
          <a:xfrm>
            <a:off x="3483864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AI (embodied agents) in warehouses/factories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64992" y="4059936"/>
            <a:ext cx="256032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64992" y="4059936"/>
            <a:ext cx="45720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Text 36"/>
          <p:cNvSpPr/>
          <p:nvPr/>
        </p:nvSpPr>
        <p:spPr>
          <a:xfrm>
            <a:off x="3483864" y="4133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 operating systems emerge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99632" y="1097280"/>
            <a:ext cx="2743200" cy="3749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99632" y="1097280"/>
            <a:ext cx="274320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1" name="Shape 39"/>
          <p:cNvSpPr/>
          <p:nvPr/>
        </p:nvSpPr>
        <p:spPr>
          <a:xfrm>
            <a:off x="6291072" y="1188720"/>
            <a:ext cx="2560320" cy="3200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2" name="Text 40"/>
          <p:cNvSpPr/>
          <p:nvPr/>
        </p:nvSpPr>
        <p:spPr>
          <a:xfrm>
            <a:off x="6291072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– 2030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91072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AGI-adjacent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91072" y="2084832"/>
            <a:ext cx="256032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91072" y="2084832"/>
            <a:ext cx="45720" cy="5943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6" name="Text 44"/>
          <p:cNvSpPr/>
          <p:nvPr/>
        </p:nvSpPr>
        <p:spPr>
          <a:xfrm>
            <a:off x="6409944" y="21579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 planning: agents running 30-day projects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91072" y="2743200"/>
            <a:ext cx="256032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91072" y="2743200"/>
            <a:ext cx="45720" cy="5943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9" name="Text 47"/>
          <p:cNvSpPr/>
          <p:nvPr/>
        </p:nvSpPr>
        <p:spPr>
          <a:xfrm>
            <a:off x="6409944" y="2816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discovery AI: autonomous researchers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3401568"/>
            <a:ext cx="256032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91072" y="3401568"/>
            <a:ext cx="45720" cy="5943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2" name="Text 50"/>
          <p:cNvSpPr/>
          <p:nvPr/>
        </p:nvSpPr>
        <p:spPr>
          <a:xfrm>
            <a:off x="6409944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AI-to-AI economies: agents transacting with agents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91072" y="4059936"/>
            <a:ext cx="256032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291072" y="4059936"/>
            <a:ext cx="45720" cy="5943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5" name="Text 53"/>
          <p:cNvSpPr/>
          <p:nvPr/>
        </p:nvSpPr>
        <p:spPr>
          <a:xfrm>
            <a:off x="6409944" y="4133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Human-AI teaming redefined at organizational scale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80C14"/>
          </a:solidFill>
          <a:ln/>
        </p:spPr>
      </p:sp>
      <p:sp>
        <p:nvSpPr>
          <p:cNvPr id="3" name="Shape 1"/>
          <p:cNvSpPr/>
          <p:nvPr/>
        </p:nvSpPr>
        <p:spPr>
          <a:xfrm>
            <a:off x="3822192" y="0"/>
            <a:ext cx="4572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22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2377440"/>
            <a:ext cx="2286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514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revolution is not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of us — it is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right now.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657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with urgency.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with rigor.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ethics.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23360" y="320040"/>
            <a:ext cx="47548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23360" y="320040"/>
            <a:ext cx="45720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0" y="502920"/>
            <a:ext cx="411480" cy="4114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502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3840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→ DL → GPT → Agents is a continuum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17720" y="68580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era builds on the last. Agents are the synthesis of everything before them.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0" y="1252728"/>
            <a:ext cx="47548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23360" y="1252728"/>
            <a:ext cx="45720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0" y="1435608"/>
            <a:ext cx="411480" cy="4114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1435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1316736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infrastructure, not magic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17720" y="161848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them like databases: understand their internals, their failure modes, their costs.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23360" y="2185416"/>
            <a:ext cx="47548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23360" y="2185416"/>
            <a:ext cx="45720" cy="8229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0" y="2368296"/>
            <a:ext cx="411480" cy="41148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0" y="2368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17720" y="224942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the new application layer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17720" y="2551176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app is a prompt + tools + memory + agents, not a static UI with hardcoded logic.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23360" y="3118104"/>
            <a:ext cx="47548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023360" y="3118104"/>
            <a:ext cx="45720" cy="8229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0" y="3300984"/>
            <a:ext cx="411480" cy="41148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0" y="33009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17720" y="318211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 is your AI strategy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17720" y="3483864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proprietary, clean, accessible data you cannot differentiate. RAG is the bridge.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23360" y="4050792"/>
            <a:ext cx="47548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023360" y="4050792"/>
            <a:ext cx="45720" cy="82296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4" name="Shape 32"/>
          <p:cNvSpPr/>
          <p:nvPr/>
        </p:nvSpPr>
        <p:spPr>
          <a:xfrm>
            <a:off x="4114800" y="4233672"/>
            <a:ext cx="411480" cy="4114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0" y="4233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C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17720" y="411480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not optional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617720" y="441655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compliance, and ethics must be designed in — not bolted on after deployment.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Revolution: From ML to Agentic AI</dc:title>
  <dc:subject>PptxGenJS Presentation</dc:subject>
  <dc:creator>Enterprise AI Strategy</dc:creator>
  <cp:lastModifiedBy>Enterprise AI Strategy</cp:lastModifiedBy>
  <cp:revision>1</cp:revision>
  <dcterms:created xsi:type="dcterms:W3CDTF">2026-04-21T11:28:08Z</dcterms:created>
  <dcterms:modified xsi:type="dcterms:W3CDTF">2026-04-21T11:28:08Z</dcterms:modified>
</cp:coreProperties>
</file>