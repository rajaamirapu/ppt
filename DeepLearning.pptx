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82880" y="731520"/>
            <a:ext cx="164592" cy="164592"/>
          </a:xfrm>
          <a:prstGeom prst="ellipse">
            <a:avLst/>
          </a:prstGeom>
          <a:solidFill>
            <a:srgbClr val="1E88E5">
              <a:alpha val="40000"/>
            </a:srgbClr>
          </a:solidFill>
          <a:ln w="12700">
            <a:solidFill>
              <a:srgbClr val="1E88E5"/>
            </a:solidFill>
            <a:prstDash val="solid"/>
          </a:ln>
        </p:spPr>
      </p:sp>
      <p:sp>
        <p:nvSpPr>
          <p:cNvPr id="3" name="Shape 1"/>
          <p:cNvSpPr/>
          <p:nvPr/>
        </p:nvSpPr>
        <p:spPr>
          <a:xfrm>
            <a:off x="182880" y="1828800"/>
            <a:ext cx="164592" cy="164592"/>
          </a:xfrm>
          <a:prstGeom prst="ellipse">
            <a:avLst/>
          </a:prstGeom>
          <a:solidFill>
            <a:srgbClr val="1E88E5">
              <a:alpha val="40000"/>
            </a:srgbClr>
          </a:solidFill>
          <a:ln w="12700">
            <a:solidFill>
              <a:srgbClr val="1E88E5"/>
            </a:solidFill>
            <a:prstDash val="solid"/>
          </a:ln>
        </p:spPr>
      </p:sp>
      <p:sp>
        <p:nvSpPr>
          <p:cNvPr id="4" name="Shape 2"/>
          <p:cNvSpPr/>
          <p:nvPr/>
        </p:nvSpPr>
        <p:spPr>
          <a:xfrm>
            <a:off x="182880" y="2926080"/>
            <a:ext cx="164592" cy="164592"/>
          </a:xfrm>
          <a:prstGeom prst="ellipse">
            <a:avLst/>
          </a:prstGeom>
          <a:solidFill>
            <a:srgbClr val="1E88E5">
              <a:alpha val="40000"/>
            </a:srgbClr>
          </a:solidFill>
          <a:ln w="12700">
            <a:solidFill>
              <a:srgbClr val="1E88E5"/>
            </a:solidFill>
            <a:prstDash val="solid"/>
          </a:ln>
        </p:spPr>
      </p:sp>
      <p:sp>
        <p:nvSpPr>
          <p:cNvPr id="5" name="Shape 3"/>
          <p:cNvSpPr/>
          <p:nvPr/>
        </p:nvSpPr>
        <p:spPr>
          <a:xfrm>
            <a:off x="182880" y="4023360"/>
            <a:ext cx="164592" cy="164592"/>
          </a:xfrm>
          <a:prstGeom prst="ellipse">
            <a:avLst/>
          </a:prstGeom>
          <a:solidFill>
            <a:srgbClr val="1E88E5">
              <a:alpha val="40000"/>
            </a:srgbClr>
          </a:solidFill>
          <a:ln w="12700">
            <a:solidFill>
              <a:srgbClr val="1E88E5"/>
            </a:solidFill>
            <a:prstDash val="solid"/>
          </a:ln>
        </p:spPr>
      </p:sp>
      <p:sp>
        <p:nvSpPr>
          <p:cNvPr id="6" name="Shape 4"/>
          <p:cNvSpPr/>
          <p:nvPr/>
        </p:nvSpPr>
        <p:spPr>
          <a:xfrm>
            <a:off x="1097280" y="1005840"/>
            <a:ext cx="164592" cy="164592"/>
          </a:xfrm>
          <a:prstGeom prst="ellipse">
            <a:avLst/>
          </a:prstGeom>
          <a:solidFill>
            <a:srgbClr val="1E88E5">
              <a:alpha val="40000"/>
            </a:srgbClr>
          </a:solidFill>
          <a:ln w="12700">
            <a:solidFill>
              <a:srgbClr val="1E88E5"/>
            </a:solidFill>
            <a:prstDash val="solid"/>
          </a:ln>
        </p:spPr>
      </p:sp>
      <p:sp>
        <p:nvSpPr>
          <p:cNvPr id="7" name="Shape 5"/>
          <p:cNvSpPr/>
          <p:nvPr/>
        </p:nvSpPr>
        <p:spPr>
          <a:xfrm>
            <a:off x="1097280" y="2103120"/>
            <a:ext cx="164592" cy="164592"/>
          </a:xfrm>
          <a:prstGeom prst="ellipse">
            <a:avLst/>
          </a:prstGeom>
          <a:solidFill>
            <a:srgbClr val="1E88E5">
              <a:alpha val="40000"/>
            </a:srgbClr>
          </a:solidFill>
          <a:ln w="12700">
            <a:solidFill>
              <a:srgbClr val="1E88E5"/>
            </a:solidFill>
            <a:prstDash val="solid"/>
          </a:ln>
        </p:spPr>
      </p:sp>
      <p:sp>
        <p:nvSpPr>
          <p:cNvPr id="8" name="Shape 6"/>
          <p:cNvSpPr/>
          <p:nvPr/>
        </p:nvSpPr>
        <p:spPr>
          <a:xfrm>
            <a:off x="1097280" y="3200400"/>
            <a:ext cx="164592" cy="164592"/>
          </a:xfrm>
          <a:prstGeom prst="ellipse">
            <a:avLst/>
          </a:prstGeom>
          <a:solidFill>
            <a:srgbClr val="1E88E5">
              <a:alpha val="40000"/>
            </a:srgbClr>
          </a:solidFill>
          <a:ln w="12700">
            <a:solidFill>
              <a:srgbClr val="1E88E5"/>
            </a:solidFill>
            <a:prstDash val="solid"/>
          </a:ln>
        </p:spPr>
      </p:sp>
      <p:sp>
        <p:nvSpPr>
          <p:cNvPr id="9" name="Shape 7"/>
          <p:cNvSpPr/>
          <p:nvPr/>
        </p:nvSpPr>
        <p:spPr>
          <a:xfrm>
            <a:off x="1920240" y="548640"/>
            <a:ext cx="164592" cy="164592"/>
          </a:xfrm>
          <a:prstGeom prst="ellipse">
            <a:avLst/>
          </a:prstGeom>
          <a:solidFill>
            <a:srgbClr val="1E88E5">
              <a:alpha val="40000"/>
            </a:srgbClr>
          </a:solidFill>
          <a:ln w="12700">
            <a:solidFill>
              <a:srgbClr val="1E88E5"/>
            </a:solidFill>
            <a:prstDash val="solid"/>
          </a:ln>
        </p:spPr>
      </p:sp>
      <p:sp>
        <p:nvSpPr>
          <p:cNvPr id="10" name="Shape 8"/>
          <p:cNvSpPr/>
          <p:nvPr/>
        </p:nvSpPr>
        <p:spPr>
          <a:xfrm>
            <a:off x="1920240" y="1645920"/>
            <a:ext cx="164592" cy="164592"/>
          </a:xfrm>
          <a:prstGeom prst="ellipse">
            <a:avLst/>
          </a:prstGeom>
          <a:solidFill>
            <a:srgbClr val="1E88E5">
              <a:alpha val="40000"/>
            </a:srgbClr>
          </a:solidFill>
          <a:ln w="12700">
            <a:solidFill>
              <a:srgbClr val="1E88E5"/>
            </a:solidFill>
            <a:prstDash val="solid"/>
          </a:ln>
        </p:spPr>
      </p:sp>
      <p:sp>
        <p:nvSpPr>
          <p:cNvPr id="11" name="Shape 9"/>
          <p:cNvSpPr/>
          <p:nvPr/>
        </p:nvSpPr>
        <p:spPr>
          <a:xfrm>
            <a:off x="1920240" y="2743200"/>
            <a:ext cx="164592" cy="164592"/>
          </a:xfrm>
          <a:prstGeom prst="ellipse">
            <a:avLst/>
          </a:prstGeom>
          <a:solidFill>
            <a:srgbClr val="1E88E5">
              <a:alpha val="40000"/>
            </a:srgbClr>
          </a:solidFill>
          <a:ln w="12700">
            <a:solidFill>
              <a:srgbClr val="1E88E5"/>
            </a:solidFill>
            <a:prstDash val="solid"/>
          </a:ln>
        </p:spPr>
      </p:sp>
      <p:sp>
        <p:nvSpPr>
          <p:cNvPr id="12" name="Shape 10"/>
          <p:cNvSpPr/>
          <p:nvPr/>
        </p:nvSpPr>
        <p:spPr>
          <a:xfrm>
            <a:off x="1920240" y="3840480"/>
            <a:ext cx="164592" cy="164592"/>
          </a:xfrm>
          <a:prstGeom prst="ellipse">
            <a:avLst/>
          </a:prstGeom>
          <a:solidFill>
            <a:srgbClr val="1E88E5">
              <a:alpha val="40000"/>
            </a:srgbClr>
          </a:solidFill>
          <a:ln w="12700">
            <a:solidFill>
              <a:srgbClr val="1E88E5"/>
            </a:solidFill>
            <a:prstDash val="solid"/>
          </a:ln>
        </p:spPr>
      </p:sp>
      <p:sp>
        <p:nvSpPr>
          <p:cNvPr id="13" name="Shape 11"/>
          <p:cNvSpPr/>
          <p:nvPr/>
        </p:nvSpPr>
        <p:spPr>
          <a:xfrm>
            <a:off x="2926080" y="1463040"/>
            <a:ext cx="54864" cy="2286000"/>
          </a:xfrm>
          <a:prstGeom prst="rect">
            <a:avLst/>
          </a:prstGeom>
          <a:solidFill>
            <a:srgbClr val="00BCD4"/>
          </a:solidFill>
          <a:ln w="12700">
            <a:solidFill>
              <a:srgbClr val="00BCD4"/>
            </a:solidFill>
            <a:prstDash val="solid"/>
          </a:ln>
        </p:spPr>
      </p:sp>
      <p:sp>
        <p:nvSpPr>
          <p:cNvPr id="14" name="Text 12"/>
          <p:cNvSpPr/>
          <p:nvPr/>
        </p:nvSpPr>
        <p:spPr>
          <a:xfrm>
            <a:off x="3108960" y="1280160"/>
            <a:ext cx="5669280" cy="109728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Deep Learning</a:t>
            </a:r>
            <a:endParaRPr lang="en-US" sz="5400" dirty="0"/>
          </a:p>
        </p:txBody>
      </p:sp>
      <p:sp>
        <p:nvSpPr>
          <p:cNvPr id="15" name="Text 13"/>
          <p:cNvSpPr/>
          <p:nvPr/>
        </p:nvSpPr>
        <p:spPr>
          <a:xfrm>
            <a:off x="3108960" y="2423160"/>
            <a:ext cx="5669280" cy="548640"/>
          </a:xfrm>
          <a:prstGeom prst="rect">
            <a:avLst/>
          </a:prstGeom>
          <a:noFill/>
          <a:ln/>
        </p:spPr>
        <p:txBody>
          <a:bodyPr wrap="square" lIns="0" tIns="0" rIns="0" bIns="0" rtlCol="0" anchor="ctr"/>
          <a:lstStyle/>
          <a:p>
            <a:pPr algn="l" indent="0" marL="0">
              <a:buNone/>
            </a:pPr>
            <a:r>
              <a:rPr lang="en-US" sz="2000" dirty="0">
                <a:solidFill>
                  <a:srgbClr val="90CAF9"/>
                </a:solidFill>
                <a:latin typeface="Calibri" pitchFamily="34" charset="0"/>
                <a:ea typeface="Calibri" pitchFamily="34" charset="-122"/>
                <a:cs typeface="Calibri" pitchFamily="34" charset="-120"/>
              </a:rPr>
              <a:t>Theory, Architecture &amp; Applications</a:t>
            </a:r>
            <a:endParaRPr lang="en-US" sz="2000" dirty="0"/>
          </a:p>
        </p:txBody>
      </p:sp>
      <p:sp>
        <p:nvSpPr>
          <p:cNvPr id="16" name="Shape 14"/>
          <p:cNvSpPr/>
          <p:nvPr/>
        </p:nvSpPr>
        <p:spPr>
          <a:xfrm>
            <a:off x="3108960" y="3200400"/>
            <a:ext cx="5669280" cy="45720"/>
          </a:xfrm>
          <a:prstGeom prst="rect">
            <a:avLst/>
          </a:prstGeom>
          <a:solidFill>
            <a:srgbClr val="1E3A5F"/>
          </a:solidFill>
          <a:ln w="12700">
            <a:solidFill>
              <a:srgbClr val="1E3A5F"/>
            </a:solidFill>
            <a:prstDash val="solid"/>
          </a:ln>
        </p:spPr>
      </p:sp>
      <p:sp>
        <p:nvSpPr>
          <p:cNvPr id="17" name="Text 15"/>
          <p:cNvSpPr/>
          <p:nvPr/>
        </p:nvSpPr>
        <p:spPr>
          <a:xfrm>
            <a:off x="3108960" y="3337560"/>
            <a:ext cx="5669280" cy="365760"/>
          </a:xfrm>
          <a:prstGeom prst="rect">
            <a:avLst/>
          </a:prstGeom>
          <a:noFill/>
          <a:ln/>
        </p:spPr>
        <p:txBody>
          <a:bodyPr wrap="square" lIns="0" tIns="0" rIns="0" bIns="0" rtlCol="0" anchor="ctr"/>
          <a:lstStyle/>
          <a:p>
            <a:pPr algn="l" indent="0" marL="0">
              <a:buNone/>
            </a:pPr>
            <a:r>
              <a:rPr lang="en-US" sz="1300" i="1" dirty="0">
                <a:solidFill>
                  <a:srgbClr val="00BCD4"/>
                </a:solidFill>
                <a:latin typeface="Calibri" pitchFamily="34" charset="0"/>
                <a:ea typeface="Calibri" pitchFamily="34" charset="-122"/>
                <a:cs typeface="Calibri" pitchFamily="34" charset="-120"/>
              </a:rPr>
              <a:t>From Perceptrons to Transformers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is Deep Learning?</a:t>
            </a:r>
            <a:endParaRPr lang="en-US" sz="3200" dirty="0"/>
          </a:p>
        </p:txBody>
      </p:sp>
      <p:sp>
        <p:nvSpPr>
          <p:cNvPr id="3" name="Shape 1"/>
          <p:cNvSpPr/>
          <p:nvPr/>
        </p:nvSpPr>
        <p:spPr>
          <a:xfrm>
            <a:off x="457200" y="868680"/>
            <a:ext cx="8229600" cy="36576"/>
          </a:xfrm>
          <a:prstGeom prst="rect">
            <a:avLst/>
          </a:prstGeom>
          <a:solidFill>
            <a:srgbClr val="1E88E5"/>
          </a:solidFill>
          <a:ln w="12700">
            <a:solidFill>
              <a:srgbClr val="1E88E5"/>
            </a:solidFill>
            <a:prstDash val="solid"/>
          </a:ln>
        </p:spPr>
      </p:sp>
      <p:sp>
        <p:nvSpPr>
          <p:cNvPr id="4" name="Shape 2"/>
          <p:cNvSpPr/>
          <p:nvPr/>
        </p:nvSpPr>
        <p:spPr>
          <a:xfrm>
            <a:off x="365760" y="1005840"/>
            <a:ext cx="2560320" cy="1463040"/>
          </a:xfrm>
          <a:prstGeom prst="rect">
            <a:avLst/>
          </a:prstGeom>
          <a:solidFill>
            <a:srgbClr val="1E3A5F"/>
          </a:solidFill>
          <a:ln w="19050">
            <a:solidFill>
              <a:srgbClr val="90CAF9"/>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502920" y="1097280"/>
            <a:ext cx="2286000" cy="411480"/>
          </a:xfrm>
          <a:prstGeom prst="rect">
            <a:avLst/>
          </a:prstGeom>
          <a:noFill/>
          <a:ln/>
        </p:spPr>
        <p:txBody>
          <a:bodyPr wrap="square" lIns="0" tIns="0" rIns="0" bIns="0" rtlCol="0" anchor="ctr"/>
          <a:lstStyle/>
          <a:p>
            <a:pPr indent="0" marL="0">
              <a:buNone/>
            </a:pPr>
            <a:r>
              <a:rPr lang="en-US" sz="1500" b="1" dirty="0">
                <a:solidFill>
                  <a:srgbClr val="90CAF9"/>
                </a:solidFill>
                <a:latin typeface="Calibri" pitchFamily="34" charset="0"/>
                <a:ea typeface="Calibri" pitchFamily="34" charset="-122"/>
                <a:cs typeface="Calibri" pitchFamily="34" charset="-120"/>
              </a:rPr>
              <a:t>Machine Learning</a:t>
            </a:r>
            <a:endParaRPr lang="en-US" sz="1500" dirty="0"/>
          </a:p>
        </p:txBody>
      </p:sp>
      <p:sp>
        <p:nvSpPr>
          <p:cNvPr id="6" name="Text 4"/>
          <p:cNvSpPr/>
          <p:nvPr/>
        </p:nvSpPr>
        <p:spPr>
          <a:xfrm>
            <a:off x="502920" y="1508760"/>
            <a:ext cx="2286000" cy="8229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Algorithms that learn from data automatically</a:t>
            </a:r>
            <a:endParaRPr lang="en-US" sz="1200" dirty="0"/>
          </a:p>
        </p:txBody>
      </p:sp>
      <p:sp>
        <p:nvSpPr>
          <p:cNvPr id="7" name="Shape 5"/>
          <p:cNvSpPr/>
          <p:nvPr/>
        </p:nvSpPr>
        <p:spPr>
          <a:xfrm>
            <a:off x="3200400" y="1005840"/>
            <a:ext cx="2560320" cy="1463040"/>
          </a:xfrm>
          <a:prstGeom prst="rect">
            <a:avLst/>
          </a:prstGeom>
          <a:solidFill>
            <a:srgbClr val="1A2F50"/>
          </a:solidFill>
          <a:ln w="19050">
            <a:solidFill>
              <a:srgbClr val="1E88E5"/>
            </a:solidFill>
            <a:prstDash val="solid"/>
          </a:ln>
          <a:effectLst>
            <a:outerShdw sx="100000" sy="100000" kx="0" ky="0" algn="bl" rotWithShape="0" blurRad="101600" dist="38100" dir="8100000">
              <a:srgbClr val="000000">
                <a:alpha val="30000"/>
              </a:srgbClr>
            </a:outerShdw>
          </a:effectLst>
        </p:spPr>
      </p:sp>
      <p:sp>
        <p:nvSpPr>
          <p:cNvPr id="8" name="Text 6"/>
          <p:cNvSpPr/>
          <p:nvPr/>
        </p:nvSpPr>
        <p:spPr>
          <a:xfrm>
            <a:off x="3337560" y="1097280"/>
            <a:ext cx="2286000" cy="411480"/>
          </a:xfrm>
          <a:prstGeom prst="rect">
            <a:avLst/>
          </a:prstGeom>
          <a:noFill/>
          <a:ln/>
        </p:spPr>
        <p:txBody>
          <a:bodyPr wrap="square" lIns="0" tIns="0" rIns="0" bIns="0" rtlCol="0" anchor="ctr"/>
          <a:lstStyle/>
          <a:p>
            <a:pPr indent="0" marL="0">
              <a:buNone/>
            </a:pPr>
            <a:r>
              <a:rPr lang="en-US" sz="1500" b="1" dirty="0">
                <a:solidFill>
                  <a:srgbClr val="1E88E5"/>
                </a:solidFill>
                <a:latin typeface="Calibri" pitchFamily="34" charset="0"/>
                <a:ea typeface="Calibri" pitchFamily="34" charset="-122"/>
                <a:cs typeface="Calibri" pitchFamily="34" charset="-120"/>
              </a:rPr>
              <a:t>Neural Networks</a:t>
            </a:r>
            <a:endParaRPr lang="en-US" sz="1500" dirty="0"/>
          </a:p>
        </p:txBody>
      </p:sp>
      <p:sp>
        <p:nvSpPr>
          <p:cNvPr id="9" name="Text 7"/>
          <p:cNvSpPr/>
          <p:nvPr/>
        </p:nvSpPr>
        <p:spPr>
          <a:xfrm>
            <a:off x="3337560" y="1508760"/>
            <a:ext cx="2286000" cy="8229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Inspired by biological neurons in the brain</a:t>
            </a:r>
            <a:endParaRPr lang="en-US" sz="1200" dirty="0"/>
          </a:p>
        </p:txBody>
      </p:sp>
      <p:sp>
        <p:nvSpPr>
          <p:cNvPr id="10" name="Shape 8"/>
          <p:cNvSpPr/>
          <p:nvPr/>
        </p:nvSpPr>
        <p:spPr>
          <a:xfrm>
            <a:off x="6035040" y="1005840"/>
            <a:ext cx="2560320" cy="1463040"/>
          </a:xfrm>
          <a:prstGeom prst="rect">
            <a:avLst/>
          </a:prstGeom>
          <a:solidFill>
            <a:srgbClr val="0D2E3F"/>
          </a:solidFill>
          <a:ln w="19050">
            <a:solidFill>
              <a:srgbClr val="00BCD4"/>
            </a:solidFill>
            <a:prstDash val="solid"/>
          </a:ln>
          <a:effectLst>
            <a:outerShdw sx="100000" sy="100000" kx="0" ky="0" algn="bl" rotWithShape="0" blurRad="101600" dist="38100" dir="8100000">
              <a:srgbClr val="000000">
                <a:alpha val="30000"/>
              </a:srgbClr>
            </a:outerShdw>
          </a:effectLst>
        </p:spPr>
      </p:sp>
      <p:sp>
        <p:nvSpPr>
          <p:cNvPr id="11" name="Text 9"/>
          <p:cNvSpPr/>
          <p:nvPr/>
        </p:nvSpPr>
        <p:spPr>
          <a:xfrm>
            <a:off x="6172200" y="1097280"/>
            <a:ext cx="2286000" cy="411480"/>
          </a:xfrm>
          <a:prstGeom prst="rect">
            <a:avLst/>
          </a:prstGeom>
          <a:noFill/>
          <a:ln/>
        </p:spPr>
        <p:txBody>
          <a:bodyPr wrap="square" lIns="0" tIns="0" rIns="0" bIns="0" rtlCol="0" anchor="ctr"/>
          <a:lstStyle/>
          <a:p>
            <a:pPr indent="0" marL="0">
              <a:buNone/>
            </a:pPr>
            <a:r>
              <a:rPr lang="en-US" sz="1500" b="1" dirty="0">
                <a:solidFill>
                  <a:srgbClr val="00BCD4"/>
                </a:solidFill>
                <a:latin typeface="Calibri" pitchFamily="34" charset="0"/>
                <a:ea typeface="Calibri" pitchFamily="34" charset="-122"/>
                <a:cs typeface="Calibri" pitchFamily="34" charset="-120"/>
              </a:rPr>
              <a:t>Deep Learning</a:t>
            </a:r>
            <a:endParaRPr lang="en-US" sz="1500" dirty="0"/>
          </a:p>
        </p:txBody>
      </p:sp>
      <p:sp>
        <p:nvSpPr>
          <p:cNvPr id="12" name="Text 10"/>
          <p:cNvSpPr/>
          <p:nvPr/>
        </p:nvSpPr>
        <p:spPr>
          <a:xfrm>
            <a:off x="6172200" y="1508760"/>
            <a:ext cx="2286000" cy="8229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Many-layered neural networks solving complex problems</a:t>
            </a:r>
            <a:endParaRPr lang="en-US" sz="1200" dirty="0"/>
          </a:p>
        </p:txBody>
      </p:sp>
      <p:sp>
        <p:nvSpPr>
          <p:cNvPr id="13" name="Shape 11"/>
          <p:cNvSpPr/>
          <p:nvPr/>
        </p:nvSpPr>
        <p:spPr>
          <a:xfrm>
            <a:off x="2971800" y="1737360"/>
            <a:ext cx="274320" cy="0"/>
          </a:xfrm>
          <a:prstGeom prst="line">
            <a:avLst/>
          </a:prstGeom>
          <a:noFill/>
          <a:ln w="25400">
            <a:solidFill>
              <a:srgbClr val="FFC107"/>
            </a:solidFill>
            <a:prstDash val="solid"/>
          </a:ln>
        </p:spPr>
      </p:sp>
      <p:sp>
        <p:nvSpPr>
          <p:cNvPr id="14" name="Shape 12"/>
          <p:cNvSpPr/>
          <p:nvPr/>
        </p:nvSpPr>
        <p:spPr>
          <a:xfrm>
            <a:off x="5806440" y="1737360"/>
            <a:ext cx="274320" cy="0"/>
          </a:xfrm>
          <a:prstGeom prst="line">
            <a:avLst/>
          </a:prstGeom>
          <a:noFill/>
          <a:ln w="25400">
            <a:solidFill>
              <a:srgbClr val="FFC107"/>
            </a:solidFill>
            <a:prstDash val="solid"/>
          </a:ln>
        </p:spPr>
      </p:sp>
      <p:sp>
        <p:nvSpPr>
          <p:cNvPr id="15" name="Shape 13"/>
          <p:cNvSpPr/>
          <p:nvPr/>
        </p:nvSpPr>
        <p:spPr>
          <a:xfrm>
            <a:off x="365760" y="2651760"/>
            <a:ext cx="8412480" cy="1691640"/>
          </a:xfrm>
          <a:prstGeom prst="rect">
            <a:avLst/>
          </a:prstGeom>
          <a:solidFill>
            <a:srgbClr val="132238"/>
          </a:solidFill>
          <a:ln w="12700">
            <a:solidFill>
              <a:srgbClr val="009688"/>
            </a:solidFill>
            <a:prstDash val="solid"/>
          </a:ln>
          <a:effectLst>
            <a:outerShdw sx="100000" sy="100000" kx="0" ky="0" algn="bl" rotWithShape="0" blurRad="101600" dist="38100" dir="8100000">
              <a:srgbClr val="000000">
                <a:alpha val="30000"/>
              </a:srgbClr>
            </a:outerShdw>
          </a:effectLst>
        </p:spPr>
      </p:sp>
      <p:sp>
        <p:nvSpPr>
          <p:cNvPr id="16" name="Text 14"/>
          <p:cNvSpPr/>
          <p:nvPr/>
        </p:nvSpPr>
        <p:spPr>
          <a:xfrm>
            <a:off x="594360" y="2743200"/>
            <a:ext cx="7955280" cy="365760"/>
          </a:xfrm>
          <a:prstGeom prst="rect">
            <a:avLst/>
          </a:prstGeom>
          <a:noFill/>
          <a:ln/>
        </p:spPr>
        <p:txBody>
          <a:bodyPr wrap="square" lIns="0" tIns="0" rIns="0" bIns="0" rtlCol="0" anchor="ctr"/>
          <a:lstStyle/>
          <a:p>
            <a:pPr indent="0" marL="0">
              <a:buNone/>
            </a:pPr>
            <a:r>
              <a:rPr lang="en-US" sz="1400" b="1" dirty="0">
                <a:solidFill>
                  <a:srgbClr val="009688"/>
                </a:solidFill>
                <a:latin typeface="Calibri" pitchFamily="34" charset="0"/>
                <a:ea typeface="Calibri" pitchFamily="34" charset="-122"/>
                <a:cs typeface="Calibri" pitchFamily="34" charset="-120"/>
              </a:rPr>
              <a:t>Core Definition</a:t>
            </a:r>
            <a:endParaRPr lang="en-US" sz="1400" dirty="0"/>
          </a:p>
        </p:txBody>
      </p:sp>
      <p:sp>
        <p:nvSpPr>
          <p:cNvPr id="17" name="Text 15"/>
          <p:cNvSpPr/>
          <p:nvPr/>
        </p:nvSpPr>
        <p:spPr>
          <a:xfrm>
            <a:off x="594360" y="3127248"/>
            <a:ext cx="7955280" cy="10972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Deep Learning is a subset of machine learning using artificial neural networks with multiple layers ("deep" architectures) to learn representations of data with multiple levels of abstraction. It excels at tasks like image recognition, natural language processing, and speech synthesis.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Artificial Neuron</a:t>
            </a:r>
            <a:endParaRPr lang="en-US" sz="3200" dirty="0"/>
          </a:p>
        </p:txBody>
      </p:sp>
      <p:sp>
        <p:nvSpPr>
          <p:cNvPr id="3" name="Shape 1"/>
          <p:cNvSpPr/>
          <p:nvPr/>
        </p:nvSpPr>
        <p:spPr>
          <a:xfrm>
            <a:off x="457200" y="868680"/>
            <a:ext cx="8229600" cy="36576"/>
          </a:xfrm>
          <a:prstGeom prst="rect">
            <a:avLst/>
          </a:prstGeom>
          <a:solidFill>
            <a:srgbClr val="00BCD4"/>
          </a:solidFill>
          <a:ln w="12700">
            <a:solidFill>
              <a:srgbClr val="00BCD4"/>
            </a:solidFill>
            <a:prstDash val="solid"/>
          </a:ln>
        </p:spPr>
      </p:sp>
      <p:sp>
        <p:nvSpPr>
          <p:cNvPr id="4" name="Shape 2"/>
          <p:cNvSpPr/>
          <p:nvPr/>
        </p:nvSpPr>
        <p:spPr>
          <a:xfrm>
            <a:off x="457200" y="1097280"/>
            <a:ext cx="502920" cy="502920"/>
          </a:xfrm>
          <a:prstGeom prst="ellipse">
            <a:avLst/>
          </a:prstGeom>
          <a:solidFill>
            <a:srgbClr val="1E88E5"/>
          </a:solidFill>
          <a:ln w="12700">
            <a:solidFill>
              <a:srgbClr val="1E88E5"/>
            </a:solidFill>
            <a:prstDash val="solid"/>
          </a:ln>
        </p:spPr>
      </p:sp>
      <p:sp>
        <p:nvSpPr>
          <p:cNvPr id="5" name="Text 3"/>
          <p:cNvSpPr/>
          <p:nvPr/>
        </p:nvSpPr>
        <p:spPr>
          <a:xfrm>
            <a:off x="457200" y="1170432"/>
            <a:ext cx="50292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x₁</a:t>
            </a:r>
            <a:endParaRPr lang="en-US" sz="1100" dirty="0"/>
          </a:p>
        </p:txBody>
      </p:sp>
      <p:sp>
        <p:nvSpPr>
          <p:cNvPr id="6" name="Shape 4"/>
          <p:cNvSpPr/>
          <p:nvPr/>
        </p:nvSpPr>
        <p:spPr>
          <a:xfrm>
            <a:off x="978408" y="1344168"/>
            <a:ext cx="1371600" cy="0"/>
          </a:xfrm>
          <a:prstGeom prst="line">
            <a:avLst/>
          </a:prstGeom>
          <a:noFill/>
          <a:ln w="19050">
            <a:solidFill>
              <a:srgbClr val="90CAF9"/>
            </a:solidFill>
            <a:prstDash val="solid"/>
          </a:ln>
        </p:spPr>
      </p:sp>
      <p:sp>
        <p:nvSpPr>
          <p:cNvPr id="7" name="Shape 5"/>
          <p:cNvSpPr/>
          <p:nvPr/>
        </p:nvSpPr>
        <p:spPr>
          <a:xfrm>
            <a:off x="457200" y="1755648"/>
            <a:ext cx="502920" cy="502920"/>
          </a:xfrm>
          <a:prstGeom prst="ellipse">
            <a:avLst/>
          </a:prstGeom>
          <a:solidFill>
            <a:srgbClr val="1E88E5"/>
          </a:solidFill>
          <a:ln w="12700">
            <a:solidFill>
              <a:srgbClr val="1E88E5"/>
            </a:solidFill>
            <a:prstDash val="solid"/>
          </a:ln>
        </p:spPr>
      </p:sp>
      <p:sp>
        <p:nvSpPr>
          <p:cNvPr id="8" name="Text 6"/>
          <p:cNvSpPr/>
          <p:nvPr/>
        </p:nvSpPr>
        <p:spPr>
          <a:xfrm>
            <a:off x="457200" y="1828800"/>
            <a:ext cx="50292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x₂</a:t>
            </a:r>
            <a:endParaRPr lang="en-US" sz="1100" dirty="0"/>
          </a:p>
        </p:txBody>
      </p:sp>
      <p:sp>
        <p:nvSpPr>
          <p:cNvPr id="9" name="Shape 7"/>
          <p:cNvSpPr/>
          <p:nvPr/>
        </p:nvSpPr>
        <p:spPr>
          <a:xfrm>
            <a:off x="978408" y="2002536"/>
            <a:ext cx="1371600" cy="0"/>
          </a:xfrm>
          <a:prstGeom prst="line">
            <a:avLst/>
          </a:prstGeom>
          <a:noFill/>
          <a:ln w="19050">
            <a:solidFill>
              <a:srgbClr val="90CAF9"/>
            </a:solidFill>
            <a:prstDash val="solid"/>
          </a:ln>
        </p:spPr>
      </p:sp>
      <p:sp>
        <p:nvSpPr>
          <p:cNvPr id="10" name="Shape 8"/>
          <p:cNvSpPr/>
          <p:nvPr/>
        </p:nvSpPr>
        <p:spPr>
          <a:xfrm>
            <a:off x="457200" y="2414016"/>
            <a:ext cx="502920" cy="502920"/>
          </a:xfrm>
          <a:prstGeom prst="ellipse">
            <a:avLst/>
          </a:prstGeom>
          <a:solidFill>
            <a:srgbClr val="1E88E5"/>
          </a:solidFill>
          <a:ln w="12700">
            <a:solidFill>
              <a:srgbClr val="1E88E5"/>
            </a:solidFill>
            <a:prstDash val="solid"/>
          </a:ln>
        </p:spPr>
      </p:sp>
      <p:sp>
        <p:nvSpPr>
          <p:cNvPr id="11" name="Text 9"/>
          <p:cNvSpPr/>
          <p:nvPr/>
        </p:nvSpPr>
        <p:spPr>
          <a:xfrm>
            <a:off x="457200" y="2487168"/>
            <a:ext cx="50292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x₃</a:t>
            </a:r>
            <a:endParaRPr lang="en-US" sz="1100" dirty="0"/>
          </a:p>
        </p:txBody>
      </p:sp>
      <p:sp>
        <p:nvSpPr>
          <p:cNvPr id="12" name="Shape 10"/>
          <p:cNvSpPr/>
          <p:nvPr/>
        </p:nvSpPr>
        <p:spPr>
          <a:xfrm>
            <a:off x="978408" y="2660904"/>
            <a:ext cx="1371600" cy="0"/>
          </a:xfrm>
          <a:prstGeom prst="line">
            <a:avLst/>
          </a:prstGeom>
          <a:noFill/>
          <a:ln w="19050">
            <a:solidFill>
              <a:srgbClr val="90CAF9"/>
            </a:solidFill>
            <a:prstDash val="solid"/>
          </a:ln>
        </p:spPr>
      </p:sp>
      <p:sp>
        <p:nvSpPr>
          <p:cNvPr id="13" name="Shape 11"/>
          <p:cNvSpPr/>
          <p:nvPr/>
        </p:nvSpPr>
        <p:spPr>
          <a:xfrm>
            <a:off x="457200" y="3072384"/>
            <a:ext cx="502920" cy="502920"/>
          </a:xfrm>
          <a:prstGeom prst="ellipse">
            <a:avLst/>
          </a:prstGeom>
          <a:solidFill>
            <a:srgbClr val="1E88E5"/>
          </a:solidFill>
          <a:ln w="12700">
            <a:solidFill>
              <a:srgbClr val="1E88E5"/>
            </a:solidFill>
            <a:prstDash val="solid"/>
          </a:ln>
        </p:spPr>
      </p:sp>
      <p:sp>
        <p:nvSpPr>
          <p:cNvPr id="14" name="Text 12"/>
          <p:cNvSpPr/>
          <p:nvPr/>
        </p:nvSpPr>
        <p:spPr>
          <a:xfrm>
            <a:off x="457200" y="3145536"/>
            <a:ext cx="50292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x₄</a:t>
            </a:r>
            <a:endParaRPr lang="en-US" sz="1100" dirty="0"/>
          </a:p>
        </p:txBody>
      </p:sp>
      <p:sp>
        <p:nvSpPr>
          <p:cNvPr id="15" name="Shape 13"/>
          <p:cNvSpPr/>
          <p:nvPr/>
        </p:nvSpPr>
        <p:spPr>
          <a:xfrm>
            <a:off x="978408" y="3319272"/>
            <a:ext cx="1371600" cy="0"/>
          </a:xfrm>
          <a:prstGeom prst="line">
            <a:avLst/>
          </a:prstGeom>
          <a:noFill/>
          <a:ln w="19050">
            <a:solidFill>
              <a:srgbClr val="90CAF9"/>
            </a:solidFill>
            <a:prstDash val="solid"/>
          </a:ln>
        </p:spPr>
      </p:sp>
      <p:sp>
        <p:nvSpPr>
          <p:cNvPr id="16" name="Text 14"/>
          <p:cNvSpPr/>
          <p:nvPr/>
        </p:nvSpPr>
        <p:spPr>
          <a:xfrm>
            <a:off x="1188720" y="1024128"/>
            <a:ext cx="548640" cy="274320"/>
          </a:xfrm>
          <a:prstGeom prst="rect">
            <a:avLst/>
          </a:prstGeom>
          <a:noFill/>
          <a:ln/>
        </p:spPr>
        <p:txBody>
          <a:bodyPr wrap="square" lIns="0" tIns="0" rIns="0" bIns="0" rtlCol="0" anchor="ctr"/>
          <a:lstStyle/>
          <a:p>
            <a:pPr indent="0" marL="0">
              <a:buNone/>
            </a:pPr>
            <a:r>
              <a:rPr lang="en-US" sz="1000" dirty="0">
                <a:solidFill>
                  <a:srgbClr val="FFC107"/>
                </a:solidFill>
                <a:latin typeface="Calibri" pitchFamily="34" charset="0"/>
                <a:ea typeface="Calibri" pitchFamily="34" charset="-122"/>
                <a:cs typeface="Calibri" pitchFamily="34" charset="-120"/>
              </a:rPr>
              <a:t>w₁</a:t>
            </a:r>
            <a:endParaRPr lang="en-US" sz="1000" dirty="0"/>
          </a:p>
        </p:txBody>
      </p:sp>
      <p:sp>
        <p:nvSpPr>
          <p:cNvPr id="17" name="Text 15"/>
          <p:cNvSpPr/>
          <p:nvPr/>
        </p:nvSpPr>
        <p:spPr>
          <a:xfrm>
            <a:off x="1188720" y="1682496"/>
            <a:ext cx="548640" cy="274320"/>
          </a:xfrm>
          <a:prstGeom prst="rect">
            <a:avLst/>
          </a:prstGeom>
          <a:noFill/>
          <a:ln/>
        </p:spPr>
        <p:txBody>
          <a:bodyPr wrap="square" lIns="0" tIns="0" rIns="0" bIns="0" rtlCol="0" anchor="ctr"/>
          <a:lstStyle/>
          <a:p>
            <a:pPr indent="0" marL="0">
              <a:buNone/>
            </a:pPr>
            <a:r>
              <a:rPr lang="en-US" sz="1000" dirty="0">
                <a:solidFill>
                  <a:srgbClr val="FFC107"/>
                </a:solidFill>
                <a:latin typeface="Calibri" pitchFamily="34" charset="0"/>
                <a:ea typeface="Calibri" pitchFamily="34" charset="-122"/>
                <a:cs typeface="Calibri" pitchFamily="34" charset="-120"/>
              </a:rPr>
              <a:t>w₂</a:t>
            </a:r>
            <a:endParaRPr lang="en-US" sz="1000" dirty="0"/>
          </a:p>
        </p:txBody>
      </p:sp>
      <p:sp>
        <p:nvSpPr>
          <p:cNvPr id="18" name="Text 16"/>
          <p:cNvSpPr/>
          <p:nvPr/>
        </p:nvSpPr>
        <p:spPr>
          <a:xfrm>
            <a:off x="1188720" y="2340864"/>
            <a:ext cx="548640" cy="274320"/>
          </a:xfrm>
          <a:prstGeom prst="rect">
            <a:avLst/>
          </a:prstGeom>
          <a:noFill/>
          <a:ln/>
        </p:spPr>
        <p:txBody>
          <a:bodyPr wrap="square" lIns="0" tIns="0" rIns="0" bIns="0" rtlCol="0" anchor="ctr"/>
          <a:lstStyle/>
          <a:p>
            <a:pPr indent="0" marL="0">
              <a:buNone/>
            </a:pPr>
            <a:r>
              <a:rPr lang="en-US" sz="1000" dirty="0">
                <a:solidFill>
                  <a:srgbClr val="FFC107"/>
                </a:solidFill>
                <a:latin typeface="Calibri" pitchFamily="34" charset="0"/>
                <a:ea typeface="Calibri" pitchFamily="34" charset="-122"/>
                <a:cs typeface="Calibri" pitchFamily="34" charset="-120"/>
              </a:rPr>
              <a:t>w₃</a:t>
            </a:r>
            <a:endParaRPr lang="en-US" sz="1000" dirty="0"/>
          </a:p>
        </p:txBody>
      </p:sp>
      <p:sp>
        <p:nvSpPr>
          <p:cNvPr id="19" name="Text 17"/>
          <p:cNvSpPr/>
          <p:nvPr/>
        </p:nvSpPr>
        <p:spPr>
          <a:xfrm>
            <a:off x="1188720" y="2999232"/>
            <a:ext cx="548640" cy="274320"/>
          </a:xfrm>
          <a:prstGeom prst="rect">
            <a:avLst/>
          </a:prstGeom>
          <a:noFill/>
          <a:ln/>
        </p:spPr>
        <p:txBody>
          <a:bodyPr wrap="square" lIns="0" tIns="0" rIns="0" bIns="0" rtlCol="0" anchor="ctr"/>
          <a:lstStyle/>
          <a:p>
            <a:pPr indent="0" marL="0">
              <a:buNone/>
            </a:pPr>
            <a:r>
              <a:rPr lang="en-US" sz="1000" dirty="0">
                <a:solidFill>
                  <a:srgbClr val="FFC107"/>
                </a:solidFill>
                <a:latin typeface="Calibri" pitchFamily="34" charset="0"/>
                <a:ea typeface="Calibri" pitchFamily="34" charset="-122"/>
                <a:cs typeface="Calibri" pitchFamily="34" charset="-120"/>
              </a:rPr>
              <a:t>w₄</a:t>
            </a:r>
            <a:endParaRPr lang="en-US" sz="1000" dirty="0"/>
          </a:p>
        </p:txBody>
      </p:sp>
      <p:sp>
        <p:nvSpPr>
          <p:cNvPr id="20" name="Shape 18"/>
          <p:cNvSpPr/>
          <p:nvPr/>
        </p:nvSpPr>
        <p:spPr>
          <a:xfrm>
            <a:off x="2377440" y="1828800"/>
            <a:ext cx="868680" cy="868680"/>
          </a:xfrm>
          <a:prstGeom prst="ellipse">
            <a:avLst/>
          </a:prstGeom>
          <a:solidFill>
            <a:srgbClr val="0D2137"/>
          </a:solidFill>
          <a:ln w="25400">
            <a:solidFill>
              <a:srgbClr val="00BCD4"/>
            </a:solidFill>
            <a:prstDash val="solid"/>
          </a:ln>
        </p:spPr>
      </p:sp>
      <p:sp>
        <p:nvSpPr>
          <p:cNvPr id="21" name="Text 19"/>
          <p:cNvSpPr/>
          <p:nvPr/>
        </p:nvSpPr>
        <p:spPr>
          <a:xfrm>
            <a:off x="2377440" y="1901952"/>
            <a:ext cx="868680" cy="548640"/>
          </a:xfrm>
          <a:prstGeom prst="rect">
            <a:avLst/>
          </a:prstGeom>
          <a:noFill/>
          <a:ln/>
        </p:spPr>
        <p:txBody>
          <a:bodyPr wrap="square" lIns="0" tIns="0" rIns="0" bIns="0" rtlCol="0" anchor="ctr"/>
          <a:lstStyle/>
          <a:p>
            <a:pPr algn="ctr" indent="0" marL="0">
              <a:buNone/>
            </a:pPr>
            <a:r>
              <a:rPr lang="en-US" sz="2200" dirty="0">
                <a:solidFill>
                  <a:srgbClr val="00BCD4"/>
                </a:solidFill>
                <a:latin typeface="Calibri" pitchFamily="34" charset="0"/>
                <a:ea typeface="Calibri" pitchFamily="34" charset="-122"/>
                <a:cs typeface="Calibri" pitchFamily="34" charset="-120"/>
              </a:rPr>
              <a:t>Σ</a:t>
            </a:r>
            <a:endParaRPr lang="en-US" sz="2200" dirty="0"/>
          </a:p>
        </p:txBody>
      </p:sp>
      <p:sp>
        <p:nvSpPr>
          <p:cNvPr id="22" name="Text 20"/>
          <p:cNvSpPr/>
          <p:nvPr/>
        </p:nvSpPr>
        <p:spPr>
          <a:xfrm>
            <a:off x="2331720" y="1444752"/>
            <a:ext cx="1005840" cy="274320"/>
          </a:xfrm>
          <a:prstGeom prst="rect">
            <a:avLst/>
          </a:prstGeom>
          <a:noFill/>
          <a:ln/>
        </p:spPr>
        <p:txBody>
          <a:bodyPr wrap="square" lIns="0" tIns="0" rIns="0" bIns="0" rtlCol="0" anchor="ctr"/>
          <a:lstStyle/>
          <a:p>
            <a:pPr algn="ctr" indent="0" marL="0">
              <a:buNone/>
            </a:pPr>
            <a:r>
              <a:rPr lang="en-US" sz="1000" dirty="0">
                <a:solidFill>
                  <a:srgbClr val="90CAF9"/>
                </a:solidFill>
                <a:latin typeface="Calibri" pitchFamily="34" charset="0"/>
                <a:ea typeface="Calibri" pitchFamily="34" charset="-122"/>
                <a:cs typeface="Calibri" pitchFamily="34" charset="-120"/>
              </a:rPr>
              <a:t>+ b (bias)</a:t>
            </a:r>
            <a:endParaRPr lang="en-US" sz="1000" dirty="0"/>
          </a:p>
        </p:txBody>
      </p:sp>
      <p:sp>
        <p:nvSpPr>
          <p:cNvPr id="23" name="Shape 21"/>
          <p:cNvSpPr/>
          <p:nvPr/>
        </p:nvSpPr>
        <p:spPr>
          <a:xfrm>
            <a:off x="3264408" y="2258568"/>
            <a:ext cx="685800" cy="0"/>
          </a:xfrm>
          <a:prstGeom prst="line">
            <a:avLst/>
          </a:prstGeom>
          <a:noFill/>
          <a:ln w="25400">
            <a:solidFill>
              <a:srgbClr val="00BCD4"/>
            </a:solidFill>
            <a:prstDash val="solid"/>
          </a:ln>
        </p:spPr>
      </p:sp>
      <p:sp>
        <p:nvSpPr>
          <p:cNvPr id="24" name="Shape 22"/>
          <p:cNvSpPr/>
          <p:nvPr/>
        </p:nvSpPr>
        <p:spPr>
          <a:xfrm>
            <a:off x="3959352" y="1920240"/>
            <a:ext cx="1371600" cy="685800"/>
          </a:xfrm>
          <a:prstGeom prst="rect">
            <a:avLst/>
          </a:prstGeom>
          <a:solidFill>
            <a:srgbClr val="0D2E3F"/>
          </a:solidFill>
          <a:ln w="25400">
            <a:solidFill>
              <a:srgbClr val="4CAF50"/>
            </a:solidFill>
            <a:prstDash val="solid"/>
          </a:ln>
        </p:spPr>
      </p:sp>
      <p:sp>
        <p:nvSpPr>
          <p:cNvPr id="25" name="Text 23"/>
          <p:cNvSpPr/>
          <p:nvPr/>
        </p:nvSpPr>
        <p:spPr>
          <a:xfrm>
            <a:off x="3959352" y="1938528"/>
            <a:ext cx="1371600" cy="640080"/>
          </a:xfrm>
          <a:prstGeom prst="rect">
            <a:avLst/>
          </a:prstGeom>
          <a:noFill/>
          <a:ln/>
        </p:spPr>
        <p:txBody>
          <a:bodyPr wrap="square" lIns="0" tIns="0" rIns="0" bIns="0" rtlCol="0" anchor="ctr"/>
          <a:lstStyle/>
          <a:p>
            <a:pPr algn="ctr" indent="0" marL="0">
              <a:buNone/>
            </a:pPr>
            <a:r>
              <a:rPr lang="en-US" sz="1100" dirty="0">
                <a:solidFill>
                  <a:srgbClr val="4CAF50"/>
                </a:solidFill>
                <a:latin typeface="Calibri" pitchFamily="34" charset="0"/>
                <a:ea typeface="Calibri" pitchFamily="34" charset="-122"/>
                <a:cs typeface="Calibri" pitchFamily="34" charset="-120"/>
              </a:rPr>
              <a:t>f(x)</a:t>
            </a:r>
            <a:endParaRPr lang="en-US" sz="1100" dirty="0"/>
          </a:p>
          <a:p>
            <a:pPr algn="ctr" indent="0" marL="0">
              <a:buNone/>
            </a:pPr>
            <a:r>
              <a:rPr lang="en-US" sz="1100" dirty="0">
                <a:solidFill>
                  <a:srgbClr val="4CAF50"/>
                </a:solidFill>
                <a:latin typeface="Calibri" pitchFamily="34" charset="0"/>
                <a:ea typeface="Calibri" pitchFamily="34" charset="-122"/>
                <a:cs typeface="Calibri" pitchFamily="34" charset="-120"/>
              </a:rPr>
              <a:t>Activation</a:t>
            </a:r>
            <a:endParaRPr lang="en-US" sz="1100" dirty="0"/>
          </a:p>
        </p:txBody>
      </p:sp>
      <p:sp>
        <p:nvSpPr>
          <p:cNvPr id="26" name="Shape 24"/>
          <p:cNvSpPr/>
          <p:nvPr/>
        </p:nvSpPr>
        <p:spPr>
          <a:xfrm>
            <a:off x="5349240" y="2258568"/>
            <a:ext cx="685800" cy="0"/>
          </a:xfrm>
          <a:prstGeom prst="line">
            <a:avLst/>
          </a:prstGeom>
          <a:noFill/>
          <a:ln w="25400">
            <a:solidFill>
              <a:srgbClr val="4CAF50"/>
            </a:solidFill>
            <a:prstDash val="solid"/>
          </a:ln>
        </p:spPr>
      </p:sp>
      <p:sp>
        <p:nvSpPr>
          <p:cNvPr id="27" name="Shape 25"/>
          <p:cNvSpPr/>
          <p:nvPr/>
        </p:nvSpPr>
        <p:spPr>
          <a:xfrm>
            <a:off x="6053328" y="1901952"/>
            <a:ext cx="685800" cy="685800"/>
          </a:xfrm>
          <a:prstGeom prst="ellipse">
            <a:avLst/>
          </a:prstGeom>
          <a:solidFill>
            <a:srgbClr val="4CAF50"/>
          </a:solidFill>
          <a:ln w="12700">
            <a:solidFill>
              <a:srgbClr val="4CAF50"/>
            </a:solidFill>
            <a:prstDash val="solid"/>
          </a:ln>
        </p:spPr>
      </p:sp>
      <p:sp>
        <p:nvSpPr>
          <p:cNvPr id="28" name="Text 26"/>
          <p:cNvSpPr/>
          <p:nvPr/>
        </p:nvSpPr>
        <p:spPr>
          <a:xfrm>
            <a:off x="6053328" y="1993392"/>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p>
        </p:txBody>
      </p:sp>
      <p:sp>
        <p:nvSpPr>
          <p:cNvPr id="29" name="Shape 27"/>
          <p:cNvSpPr/>
          <p:nvPr/>
        </p:nvSpPr>
        <p:spPr>
          <a:xfrm>
            <a:off x="365760" y="2971800"/>
            <a:ext cx="8412480" cy="1645920"/>
          </a:xfrm>
          <a:prstGeom prst="rect">
            <a:avLst/>
          </a:prstGeom>
          <a:solidFill>
            <a:srgbClr val="132238"/>
          </a:solidFill>
          <a:ln w="12700">
            <a:solidFill>
              <a:srgbClr val="7C4DFF"/>
            </a:solidFill>
            <a:prstDash val="solid"/>
          </a:ln>
        </p:spPr>
      </p:sp>
      <p:sp>
        <p:nvSpPr>
          <p:cNvPr id="30" name="Text 28"/>
          <p:cNvSpPr/>
          <p:nvPr/>
        </p:nvSpPr>
        <p:spPr>
          <a:xfrm>
            <a:off x="594360" y="3063240"/>
            <a:ext cx="3657600" cy="365760"/>
          </a:xfrm>
          <a:prstGeom prst="rect">
            <a:avLst/>
          </a:prstGeom>
          <a:noFill/>
          <a:ln/>
        </p:spPr>
        <p:txBody>
          <a:bodyPr wrap="square" lIns="0" tIns="0" rIns="0" bIns="0" rtlCol="0" anchor="ctr"/>
          <a:lstStyle/>
          <a:p>
            <a:pPr indent="0" marL="0">
              <a:buNone/>
            </a:pPr>
            <a:r>
              <a:rPr lang="en-US" sz="1300" b="1" dirty="0">
                <a:solidFill>
                  <a:srgbClr val="7C4DFF"/>
                </a:solidFill>
                <a:latin typeface="Calibri" pitchFamily="34" charset="0"/>
                <a:ea typeface="Calibri" pitchFamily="34" charset="-122"/>
                <a:cs typeface="Calibri" pitchFamily="34" charset="-120"/>
              </a:rPr>
              <a:t>Mathematical Model</a:t>
            </a:r>
            <a:endParaRPr lang="en-US" sz="1300" dirty="0"/>
          </a:p>
        </p:txBody>
      </p:sp>
      <p:sp>
        <p:nvSpPr>
          <p:cNvPr id="31" name="Text 29"/>
          <p:cNvSpPr/>
          <p:nvPr/>
        </p:nvSpPr>
        <p:spPr>
          <a:xfrm>
            <a:off x="594360" y="3456432"/>
            <a:ext cx="3657600" cy="457200"/>
          </a:xfrm>
          <a:prstGeom prst="rect">
            <a:avLst/>
          </a:prstGeom>
          <a:noFill/>
          <a:ln/>
        </p:spPr>
        <p:txBody>
          <a:bodyPr wrap="square" lIns="0" tIns="0" rIns="0" bIns="0" rtlCol="0" anchor="ctr"/>
          <a:lstStyle/>
          <a:p>
            <a:pPr indent="0" marL="0">
              <a:buNone/>
            </a:pPr>
            <a:r>
              <a:rPr lang="en-US" sz="1600" dirty="0">
                <a:solidFill>
                  <a:srgbClr val="00BCD4"/>
                </a:solidFill>
                <a:latin typeface="Consolas" pitchFamily="34" charset="0"/>
                <a:ea typeface="Consolas" pitchFamily="34" charset="-122"/>
                <a:cs typeface="Consolas" pitchFamily="34" charset="-120"/>
              </a:rPr>
              <a:t>y = f( Σᵢ wᵢxᵢ + b )</a:t>
            </a:r>
            <a:endParaRPr lang="en-US" sz="1600" dirty="0"/>
          </a:p>
        </p:txBody>
      </p:sp>
      <p:sp>
        <p:nvSpPr>
          <p:cNvPr id="32" name="Text 30"/>
          <p:cNvSpPr/>
          <p:nvPr/>
        </p:nvSpPr>
        <p:spPr>
          <a:xfrm>
            <a:off x="594360" y="4005072"/>
            <a:ext cx="7955280" cy="411480"/>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xᵢ</a:t>
            </a:r>
            <a:pPr indent="0" marL="0">
              <a:buNone/>
            </a:pPr>
            <a:r>
              <a:rPr lang="en-US" sz="1200" dirty="0">
                <a:solidFill>
                  <a:srgbClr val="FFFFFF"/>
                </a:solidFill>
                <a:latin typeface="Calibri" pitchFamily="34" charset="0"/>
                <a:ea typeface="Calibri" pitchFamily="34" charset="-122"/>
                <a:cs typeface="Calibri" pitchFamily="34" charset="-120"/>
              </a:rPr>
              <a:t> = inputs   </a:t>
            </a:r>
            <a:pPr indent="0" marL="0">
              <a:buNone/>
            </a:pPr>
            <a:r>
              <a:rPr lang="en-US" sz="1200" b="1" dirty="0">
                <a:solidFill>
                  <a:srgbClr val="FFC107"/>
                </a:solidFill>
                <a:latin typeface="Calibri" pitchFamily="34" charset="0"/>
                <a:ea typeface="Calibri" pitchFamily="34" charset="-122"/>
                <a:cs typeface="Calibri" pitchFamily="34" charset="-120"/>
              </a:rPr>
              <a:t>wᵢ</a:t>
            </a:r>
            <a:pPr indent="0" marL="0">
              <a:buNone/>
            </a:pPr>
            <a:r>
              <a:rPr lang="en-US" sz="1200" dirty="0">
                <a:solidFill>
                  <a:srgbClr val="FFFFFF"/>
                </a:solidFill>
                <a:latin typeface="Calibri" pitchFamily="34" charset="0"/>
                <a:ea typeface="Calibri" pitchFamily="34" charset="-122"/>
                <a:cs typeface="Calibri" pitchFamily="34" charset="-120"/>
              </a:rPr>
              <a:t> = weights   </a:t>
            </a:r>
            <a:pPr indent="0" marL="0">
              <a:buNone/>
            </a:pPr>
            <a:r>
              <a:rPr lang="en-US" sz="1200" b="1" dirty="0">
                <a:solidFill>
                  <a:srgbClr val="90CAF9"/>
                </a:solidFill>
                <a:latin typeface="Calibri" pitchFamily="34" charset="0"/>
                <a:ea typeface="Calibri" pitchFamily="34" charset="-122"/>
                <a:cs typeface="Calibri" pitchFamily="34" charset="-120"/>
              </a:rPr>
              <a:t>b</a:t>
            </a:r>
            <a:pPr indent="0" marL="0">
              <a:buNone/>
            </a:pPr>
            <a:r>
              <a:rPr lang="en-US" sz="1200" dirty="0">
                <a:solidFill>
                  <a:srgbClr val="FFFFFF"/>
                </a:solidFill>
                <a:latin typeface="Calibri" pitchFamily="34" charset="0"/>
                <a:ea typeface="Calibri" pitchFamily="34" charset="-122"/>
                <a:cs typeface="Calibri" pitchFamily="34" charset="-120"/>
              </a:rPr>
              <a:t> = bias   </a:t>
            </a:r>
            <a:pPr indent="0" marL="0">
              <a:buNone/>
            </a:pPr>
            <a:r>
              <a:rPr lang="en-US" sz="1200" b="1" dirty="0">
                <a:solidFill>
                  <a:srgbClr val="4CAF50"/>
                </a:solidFill>
                <a:latin typeface="Calibri" pitchFamily="34" charset="0"/>
                <a:ea typeface="Calibri" pitchFamily="34" charset="-122"/>
                <a:cs typeface="Calibri" pitchFamily="34" charset="-120"/>
              </a:rPr>
              <a:t>f()</a:t>
            </a:r>
            <a:pPr indent="0" marL="0">
              <a:buNone/>
            </a:pPr>
            <a:r>
              <a:rPr lang="en-US" sz="1200" dirty="0">
                <a:solidFill>
                  <a:srgbClr val="FFFFFF"/>
                </a:solidFill>
                <a:latin typeface="Calibri" pitchFamily="34" charset="0"/>
                <a:ea typeface="Calibri" pitchFamily="34" charset="-122"/>
                <a:cs typeface="Calibri" pitchFamily="34" charset="-120"/>
              </a:rPr>
              <a:t> = activation function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Activation Functions</a:t>
            </a:r>
            <a:endParaRPr lang="en-US" sz="3200" dirty="0"/>
          </a:p>
        </p:txBody>
      </p:sp>
      <p:sp>
        <p:nvSpPr>
          <p:cNvPr id="3" name="Shape 1"/>
          <p:cNvSpPr/>
          <p:nvPr/>
        </p:nvSpPr>
        <p:spPr>
          <a:xfrm>
            <a:off x="457200" y="868680"/>
            <a:ext cx="8229600" cy="36576"/>
          </a:xfrm>
          <a:prstGeom prst="rect">
            <a:avLst/>
          </a:prstGeom>
          <a:solidFill>
            <a:srgbClr val="FFC107"/>
          </a:solidFill>
          <a:ln w="12700">
            <a:solidFill>
              <a:srgbClr val="FFC107"/>
            </a:solidFill>
            <a:prstDash val="solid"/>
          </a:ln>
        </p:spPr>
      </p:sp>
      <p:sp>
        <p:nvSpPr>
          <p:cNvPr id="4" name="Text 2"/>
          <p:cNvSpPr/>
          <p:nvPr/>
        </p:nvSpPr>
        <p:spPr>
          <a:xfrm>
            <a:off x="457200" y="960120"/>
            <a:ext cx="8229600" cy="411480"/>
          </a:xfrm>
          <a:prstGeom prst="rect">
            <a:avLst/>
          </a:prstGeom>
          <a:noFill/>
          <a:ln/>
        </p:spPr>
        <p:txBody>
          <a:bodyPr wrap="square" lIns="0" tIns="0" rIns="0" bIns="0" rtlCol="0" anchor="ctr"/>
          <a:lstStyle/>
          <a:p>
            <a:pPr algn="l" indent="0" marL="0">
              <a:buNone/>
            </a:pPr>
            <a:r>
              <a:rPr lang="en-US" sz="1300" i="1" dirty="0">
                <a:solidFill>
                  <a:srgbClr val="90CAF9"/>
                </a:solidFill>
                <a:latin typeface="Calibri" pitchFamily="34" charset="0"/>
                <a:ea typeface="Calibri" pitchFamily="34" charset="-122"/>
                <a:cs typeface="Calibri" pitchFamily="34" charset="-120"/>
              </a:rPr>
              <a:t>Introduce non-linearity — the key ingredient that gives neural networks their expressive power</a:t>
            </a:r>
            <a:endParaRPr lang="en-US" sz="1300" dirty="0"/>
          </a:p>
        </p:txBody>
      </p:sp>
      <p:sp>
        <p:nvSpPr>
          <p:cNvPr id="5" name="Shape 3"/>
          <p:cNvSpPr/>
          <p:nvPr/>
        </p:nvSpPr>
        <p:spPr>
          <a:xfrm>
            <a:off x="365760" y="1463040"/>
            <a:ext cx="4069080" cy="1508760"/>
          </a:xfrm>
          <a:prstGeom prst="rect">
            <a:avLst/>
          </a:prstGeom>
          <a:solidFill>
            <a:srgbClr val="132238"/>
          </a:solidFill>
          <a:ln w="19050">
            <a:solidFill>
              <a:srgbClr val="1E88E5"/>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463040"/>
            <a:ext cx="64008" cy="1508760"/>
          </a:xfrm>
          <a:prstGeom prst="rect">
            <a:avLst/>
          </a:prstGeom>
          <a:solidFill>
            <a:srgbClr val="1E88E5"/>
          </a:solidFill>
          <a:ln w="12700">
            <a:solidFill>
              <a:srgbClr val="1E88E5"/>
            </a:solidFill>
            <a:prstDash val="solid"/>
          </a:ln>
        </p:spPr>
      </p:sp>
      <p:sp>
        <p:nvSpPr>
          <p:cNvPr id="7" name="Text 5"/>
          <p:cNvSpPr/>
          <p:nvPr/>
        </p:nvSpPr>
        <p:spPr>
          <a:xfrm>
            <a:off x="548640" y="1554480"/>
            <a:ext cx="3749040" cy="365760"/>
          </a:xfrm>
          <a:prstGeom prst="rect">
            <a:avLst/>
          </a:prstGeom>
          <a:noFill/>
          <a:ln/>
        </p:spPr>
        <p:txBody>
          <a:bodyPr wrap="square" lIns="0" tIns="0" rIns="0" bIns="0" rtlCol="0" anchor="ctr"/>
          <a:lstStyle/>
          <a:p>
            <a:pPr indent="0" marL="0">
              <a:buNone/>
            </a:pPr>
            <a:r>
              <a:rPr lang="en-US" sz="1600" b="1" dirty="0">
                <a:solidFill>
                  <a:srgbClr val="1E88E5"/>
                </a:solidFill>
                <a:latin typeface="Calibri" pitchFamily="34" charset="0"/>
                <a:ea typeface="Calibri" pitchFamily="34" charset="-122"/>
                <a:cs typeface="Calibri" pitchFamily="34" charset="-120"/>
              </a:rPr>
              <a:t>Sigmoid</a:t>
            </a:r>
            <a:endParaRPr lang="en-US" sz="1600" dirty="0"/>
          </a:p>
        </p:txBody>
      </p:sp>
      <p:sp>
        <p:nvSpPr>
          <p:cNvPr id="8" name="Text 6"/>
          <p:cNvSpPr/>
          <p:nvPr/>
        </p:nvSpPr>
        <p:spPr>
          <a:xfrm>
            <a:off x="548640" y="1920240"/>
            <a:ext cx="3749040" cy="3200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σ(x) = 1/(1+e⁻ˣ)</a:t>
            </a:r>
            <a:endParaRPr lang="en-US" sz="1300" dirty="0"/>
          </a:p>
        </p:txBody>
      </p:sp>
      <p:sp>
        <p:nvSpPr>
          <p:cNvPr id="9" name="Text 7"/>
          <p:cNvSpPr/>
          <p:nvPr/>
        </p:nvSpPr>
        <p:spPr>
          <a:xfrm>
            <a:off x="548640" y="2267712"/>
            <a:ext cx="3749040" cy="548640"/>
          </a:xfrm>
          <a:prstGeom prst="rect">
            <a:avLst/>
          </a:prstGeom>
          <a:noFill/>
          <a:ln/>
        </p:spPr>
        <p:txBody>
          <a:bodyPr wrap="square" lIns="0" tIns="0" rIns="0" bIns="0" rtlCol="0" anchor="ctr"/>
          <a:lstStyle/>
          <a:p>
            <a:pPr indent="0" marL="0">
              <a:buNone/>
            </a:pPr>
            <a:r>
              <a:rPr lang="en-US" sz="1100" dirty="0">
                <a:solidFill>
                  <a:srgbClr val="90CAF9"/>
                </a:solidFill>
                <a:latin typeface="Calibri" pitchFamily="34" charset="0"/>
                <a:ea typeface="Calibri" pitchFamily="34" charset="-122"/>
                <a:cs typeface="Calibri" pitchFamily="34" charset="-120"/>
              </a:rPr>
              <a:t>Output: (0, 1)  |  Binary classification output layers</a:t>
            </a:r>
            <a:endParaRPr lang="en-US" sz="1100" dirty="0"/>
          </a:p>
        </p:txBody>
      </p:sp>
      <p:sp>
        <p:nvSpPr>
          <p:cNvPr id="10" name="Shape 8"/>
          <p:cNvSpPr/>
          <p:nvPr/>
        </p:nvSpPr>
        <p:spPr>
          <a:xfrm>
            <a:off x="4754880" y="1463040"/>
            <a:ext cx="4069080" cy="1508760"/>
          </a:xfrm>
          <a:prstGeom prst="rect">
            <a:avLst/>
          </a:prstGeom>
          <a:solidFill>
            <a:srgbClr val="132238"/>
          </a:solidFill>
          <a:ln w="19050">
            <a:solidFill>
              <a:srgbClr val="7C4DFF"/>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4754880" y="1463040"/>
            <a:ext cx="64008" cy="1508760"/>
          </a:xfrm>
          <a:prstGeom prst="rect">
            <a:avLst/>
          </a:prstGeom>
          <a:solidFill>
            <a:srgbClr val="7C4DFF"/>
          </a:solidFill>
          <a:ln w="12700">
            <a:solidFill>
              <a:srgbClr val="7C4DFF"/>
            </a:solidFill>
            <a:prstDash val="solid"/>
          </a:ln>
        </p:spPr>
      </p:sp>
      <p:sp>
        <p:nvSpPr>
          <p:cNvPr id="12" name="Text 10"/>
          <p:cNvSpPr/>
          <p:nvPr/>
        </p:nvSpPr>
        <p:spPr>
          <a:xfrm>
            <a:off x="4937760" y="1554480"/>
            <a:ext cx="3749040" cy="365760"/>
          </a:xfrm>
          <a:prstGeom prst="rect">
            <a:avLst/>
          </a:prstGeom>
          <a:noFill/>
          <a:ln/>
        </p:spPr>
        <p:txBody>
          <a:bodyPr wrap="square" lIns="0" tIns="0" rIns="0" bIns="0" rtlCol="0" anchor="ctr"/>
          <a:lstStyle/>
          <a:p>
            <a:pPr indent="0" marL="0">
              <a:buNone/>
            </a:pPr>
            <a:r>
              <a:rPr lang="en-US" sz="1600" b="1" dirty="0">
                <a:solidFill>
                  <a:srgbClr val="7C4DFF"/>
                </a:solidFill>
                <a:latin typeface="Calibri" pitchFamily="34" charset="0"/>
                <a:ea typeface="Calibri" pitchFamily="34" charset="-122"/>
                <a:cs typeface="Calibri" pitchFamily="34" charset="-120"/>
              </a:rPr>
              <a:t>Tanh</a:t>
            </a:r>
            <a:endParaRPr lang="en-US" sz="1600" dirty="0"/>
          </a:p>
        </p:txBody>
      </p:sp>
      <p:sp>
        <p:nvSpPr>
          <p:cNvPr id="13" name="Text 11"/>
          <p:cNvSpPr/>
          <p:nvPr/>
        </p:nvSpPr>
        <p:spPr>
          <a:xfrm>
            <a:off x="4937760" y="1920240"/>
            <a:ext cx="3749040" cy="3200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tanh(x) = (eˣ-e⁻ˣ)/(eˣ+e⁻ˣ)</a:t>
            </a:r>
            <a:endParaRPr lang="en-US" sz="1300" dirty="0"/>
          </a:p>
        </p:txBody>
      </p:sp>
      <p:sp>
        <p:nvSpPr>
          <p:cNvPr id="14" name="Text 12"/>
          <p:cNvSpPr/>
          <p:nvPr/>
        </p:nvSpPr>
        <p:spPr>
          <a:xfrm>
            <a:off x="4937760" y="2267712"/>
            <a:ext cx="3749040" cy="548640"/>
          </a:xfrm>
          <a:prstGeom prst="rect">
            <a:avLst/>
          </a:prstGeom>
          <a:noFill/>
          <a:ln/>
        </p:spPr>
        <p:txBody>
          <a:bodyPr wrap="square" lIns="0" tIns="0" rIns="0" bIns="0" rtlCol="0" anchor="ctr"/>
          <a:lstStyle/>
          <a:p>
            <a:pPr indent="0" marL="0">
              <a:buNone/>
            </a:pPr>
            <a:r>
              <a:rPr lang="en-US" sz="1100" dirty="0">
                <a:solidFill>
                  <a:srgbClr val="90CAF9"/>
                </a:solidFill>
                <a:latin typeface="Calibri" pitchFamily="34" charset="0"/>
                <a:ea typeface="Calibri" pitchFamily="34" charset="-122"/>
                <a:cs typeface="Calibri" pitchFamily="34" charset="-120"/>
              </a:rPr>
              <a:t>Output: (-1, 1)  |  Hidden layers, RNNs</a:t>
            </a:r>
            <a:endParaRPr lang="en-US" sz="1100" dirty="0"/>
          </a:p>
        </p:txBody>
      </p:sp>
      <p:sp>
        <p:nvSpPr>
          <p:cNvPr id="15" name="Shape 13"/>
          <p:cNvSpPr/>
          <p:nvPr/>
        </p:nvSpPr>
        <p:spPr>
          <a:xfrm>
            <a:off x="365760" y="3154680"/>
            <a:ext cx="4069080" cy="1508760"/>
          </a:xfrm>
          <a:prstGeom prst="rect">
            <a:avLst/>
          </a:prstGeom>
          <a:solidFill>
            <a:srgbClr val="132238"/>
          </a:solidFill>
          <a:ln w="19050">
            <a:solidFill>
              <a:srgbClr val="4CAF50"/>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365760" y="3154680"/>
            <a:ext cx="64008" cy="1508760"/>
          </a:xfrm>
          <a:prstGeom prst="rect">
            <a:avLst/>
          </a:prstGeom>
          <a:solidFill>
            <a:srgbClr val="4CAF50"/>
          </a:solidFill>
          <a:ln w="12700">
            <a:solidFill>
              <a:srgbClr val="4CAF50"/>
            </a:solidFill>
            <a:prstDash val="solid"/>
          </a:ln>
        </p:spPr>
      </p:sp>
      <p:sp>
        <p:nvSpPr>
          <p:cNvPr id="17" name="Text 15"/>
          <p:cNvSpPr/>
          <p:nvPr/>
        </p:nvSpPr>
        <p:spPr>
          <a:xfrm>
            <a:off x="548640" y="3246120"/>
            <a:ext cx="3749040" cy="365760"/>
          </a:xfrm>
          <a:prstGeom prst="rect">
            <a:avLst/>
          </a:prstGeom>
          <a:noFill/>
          <a:ln/>
        </p:spPr>
        <p:txBody>
          <a:bodyPr wrap="square" lIns="0" tIns="0" rIns="0" bIns="0" rtlCol="0" anchor="ctr"/>
          <a:lstStyle/>
          <a:p>
            <a:pPr indent="0" marL="0">
              <a:buNone/>
            </a:pPr>
            <a:r>
              <a:rPr lang="en-US" sz="1600" b="1" dirty="0">
                <a:solidFill>
                  <a:srgbClr val="4CAF50"/>
                </a:solidFill>
                <a:latin typeface="Calibri" pitchFamily="34" charset="0"/>
                <a:ea typeface="Calibri" pitchFamily="34" charset="-122"/>
                <a:cs typeface="Calibri" pitchFamily="34" charset="-120"/>
              </a:rPr>
              <a:t>ReLU</a:t>
            </a:r>
            <a:endParaRPr lang="en-US" sz="1600" dirty="0"/>
          </a:p>
        </p:txBody>
      </p:sp>
      <p:sp>
        <p:nvSpPr>
          <p:cNvPr id="18" name="Text 16"/>
          <p:cNvSpPr/>
          <p:nvPr/>
        </p:nvSpPr>
        <p:spPr>
          <a:xfrm>
            <a:off x="548640" y="3611880"/>
            <a:ext cx="3749040" cy="3200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f(x) = max(0, x)</a:t>
            </a:r>
            <a:endParaRPr lang="en-US" sz="1300" dirty="0"/>
          </a:p>
        </p:txBody>
      </p:sp>
      <p:sp>
        <p:nvSpPr>
          <p:cNvPr id="19" name="Text 17"/>
          <p:cNvSpPr/>
          <p:nvPr/>
        </p:nvSpPr>
        <p:spPr>
          <a:xfrm>
            <a:off x="548640" y="3959352"/>
            <a:ext cx="3749040" cy="548640"/>
          </a:xfrm>
          <a:prstGeom prst="rect">
            <a:avLst/>
          </a:prstGeom>
          <a:noFill/>
          <a:ln/>
        </p:spPr>
        <p:txBody>
          <a:bodyPr wrap="square" lIns="0" tIns="0" rIns="0" bIns="0" rtlCol="0" anchor="ctr"/>
          <a:lstStyle/>
          <a:p>
            <a:pPr indent="0" marL="0">
              <a:buNone/>
            </a:pPr>
            <a:r>
              <a:rPr lang="en-US" sz="1100" dirty="0">
                <a:solidFill>
                  <a:srgbClr val="90CAF9"/>
                </a:solidFill>
                <a:latin typeface="Calibri" pitchFamily="34" charset="0"/>
                <a:ea typeface="Calibri" pitchFamily="34" charset="-122"/>
                <a:cs typeface="Calibri" pitchFamily="34" charset="-120"/>
              </a:rPr>
              <a:t>Output: [0, ∞)  |  Most popular for hidden layers</a:t>
            </a:r>
            <a:endParaRPr lang="en-US" sz="1100" dirty="0"/>
          </a:p>
        </p:txBody>
      </p:sp>
      <p:sp>
        <p:nvSpPr>
          <p:cNvPr id="20" name="Shape 18"/>
          <p:cNvSpPr/>
          <p:nvPr/>
        </p:nvSpPr>
        <p:spPr>
          <a:xfrm>
            <a:off x="4754880" y="3154680"/>
            <a:ext cx="4069080" cy="1508760"/>
          </a:xfrm>
          <a:prstGeom prst="rect">
            <a:avLst/>
          </a:prstGeom>
          <a:solidFill>
            <a:srgbClr val="132238"/>
          </a:solidFill>
          <a:ln w="19050">
            <a:solidFill>
              <a:srgbClr val="00BCD4"/>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4754880" y="3154680"/>
            <a:ext cx="64008" cy="1508760"/>
          </a:xfrm>
          <a:prstGeom prst="rect">
            <a:avLst/>
          </a:prstGeom>
          <a:solidFill>
            <a:srgbClr val="00BCD4"/>
          </a:solidFill>
          <a:ln w="12700">
            <a:solidFill>
              <a:srgbClr val="00BCD4"/>
            </a:solidFill>
            <a:prstDash val="solid"/>
          </a:ln>
        </p:spPr>
      </p:sp>
      <p:sp>
        <p:nvSpPr>
          <p:cNvPr id="22" name="Text 20"/>
          <p:cNvSpPr/>
          <p:nvPr/>
        </p:nvSpPr>
        <p:spPr>
          <a:xfrm>
            <a:off x="4937760" y="3246120"/>
            <a:ext cx="3749040" cy="365760"/>
          </a:xfrm>
          <a:prstGeom prst="rect">
            <a:avLst/>
          </a:prstGeom>
          <a:noFill/>
          <a:ln/>
        </p:spPr>
        <p:txBody>
          <a:bodyPr wrap="square" lIns="0" tIns="0" rIns="0" bIns="0" rtlCol="0" anchor="ctr"/>
          <a:lstStyle/>
          <a:p>
            <a:pPr indent="0" marL="0">
              <a:buNone/>
            </a:pPr>
            <a:r>
              <a:rPr lang="en-US" sz="1600" b="1" dirty="0">
                <a:solidFill>
                  <a:srgbClr val="00BCD4"/>
                </a:solidFill>
                <a:latin typeface="Calibri" pitchFamily="34" charset="0"/>
                <a:ea typeface="Calibri" pitchFamily="34" charset="-122"/>
                <a:cs typeface="Calibri" pitchFamily="34" charset="-120"/>
              </a:rPr>
              <a:t>Softmax</a:t>
            </a:r>
            <a:endParaRPr lang="en-US" sz="1600" dirty="0"/>
          </a:p>
        </p:txBody>
      </p:sp>
      <p:sp>
        <p:nvSpPr>
          <p:cNvPr id="23" name="Text 21"/>
          <p:cNvSpPr/>
          <p:nvPr/>
        </p:nvSpPr>
        <p:spPr>
          <a:xfrm>
            <a:off x="4937760" y="3611880"/>
            <a:ext cx="3749040" cy="32004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σ(z)ᵢ = eᶻⁱ / Σⱼ eᶻʲ</a:t>
            </a:r>
            <a:endParaRPr lang="en-US" sz="1300" dirty="0"/>
          </a:p>
        </p:txBody>
      </p:sp>
      <p:sp>
        <p:nvSpPr>
          <p:cNvPr id="24" name="Text 22"/>
          <p:cNvSpPr/>
          <p:nvPr/>
        </p:nvSpPr>
        <p:spPr>
          <a:xfrm>
            <a:off x="4937760" y="3959352"/>
            <a:ext cx="3749040" cy="548640"/>
          </a:xfrm>
          <a:prstGeom prst="rect">
            <a:avLst/>
          </a:prstGeom>
          <a:noFill/>
          <a:ln/>
        </p:spPr>
        <p:txBody>
          <a:bodyPr wrap="square" lIns="0" tIns="0" rIns="0" bIns="0" rtlCol="0" anchor="ctr"/>
          <a:lstStyle/>
          <a:p>
            <a:pPr indent="0" marL="0">
              <a:buNone/>
            </a:pPr>
            <a:r>
              <a:rPr lang="en-US" sz="1100" dirty="0">
                <a:solidFill>
                  <a:srgbClr val="90CAF9"/>
                </a:solidFill>
                <a:latin typeface="Calibri" pitchFamily="34" charset="0"/>
                <a:ea typeface="Calibri" pitchFamily="34" charset="-122"/>
                <a:cs typeface="Calibri" pitchFamily="34" charset="-120"/>
              </a:rPr>
              <a:t>Output: (0,1), sums to 1  |  Multi-class output layers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Neural Network Architecture</a:t>
            </a:r>
            <a:endParaRPr lang="en-US" sz="3200" dirty="0"/>
          </a:p>
        </p:txBody>
      </p:sp>
      <p:sp>
        <p:nvSpPr>
          <p:cNvPr id="3" name="Shape 1"/>
          <p:cNvSpPr/>
          <p:nvPr/>
        </p:nvSpPr>
        <p:spPr>
          <a:xfrm>
            <a:off x="457200" y="868680"/>
            <a:ext cx="8229600" cy="36576"/>
          </a:xfrm>
          <a:prstGeom prst="rect">
            <a:avLst/>
          </a:prstGeom>
          <a:solidFill>
            <a:srgbClr val="1E88E5"/>
          </a:solidFill>
          <a:ln w="12700">
            <a:solidFill>
              <a:srgbClr val="1E88E5"/>
            </a:solidFill>
            <a:prstDash val="solid"/>
          </a:ln>
        </p:spPr>
      </p:sp>
      <p:sp>
        <p:nvSpPr>
          <p:cNvPr id="4" name="Shape 2"/>
          <p:cNvSpPr/>
          <p:nvPr/>
        </p:nvSpPr>
        <p:spPr>
          <a:xfrm>
            <a:off x="365760" y="960120"/>
            <a:ext cx="1920240" cy="384048"/>
          </a:xfrm>
          <a:prstGeom prst="rect">
            <a:avLst/>
          </a:prstGeom>
          <a:solidFill>
            <a:srgbClr val="1E88E5"/>
          </a:solidFill>
          <a:ln w="12700">
            <a:solidFill>
              <a:srgbClr val="1E88E5"/>
            </a:solidFill>
            <a:prstDash val="solid"/>
          </a:ln>
        </p:spPr>
      </p:sp>
      <p:sp>
        <p:nvSpPr>
          <p:cNvPr id="5" name="Text 3"/>
          <p:cNvSpPr/>
          <p:nvPr/>
        </p:nvSpPr>
        <p:spPr>
          <a:xfrm>
            <a:off x="365760" y="996696"/>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 Layer</a:t>
            </a:r>
            <a:endParaRPr lang="en-US" sz="1200" dirty="0"/>
          </a:p>
        </p:txBody>
      </p:sp>
      <p:sp>
        <p:nvSpPr>
          <p:cNvPr id="6" name="Shape 4"/>
          <p:cNvSpPr/>
          <p:nvPr/>
        </p:nvSpPr>
        <p:spPr>
          <a:xfrm>
            <a:off x="1060704" y="1728216"/>
            <a:ext cx="530352" cy="475488"/>
          </a:xfrm>
          <a:prstGeom prst="ellipse">
            <a:avLst/>
          </a:prstGeom>
          <a:solidFill>
            <a:srgbClr val="0D2137"/>
          </a:solidFill>
          <a:ln w="25400">
            <a:solidFill>
              <a:srgbClr val="1E88E5"/>
            </a:solidFill>
            <a:prstDash val="solid"/>
          </a:ln>
        </p:spPr>
      </p:sp>
      <p:sp>
        <p:nvSpPr>
          <p:cNvPr id="7" name="Shape 5"/>
          <p:cNvSpPr/>
          <p:nvPr/>
        </p:nvSpPr>
        <p:spPr>
          <a:xfrm>
            <a:off x="1060704" y="2167128"/>
            <a:ext cx="530352" cy="475488"/>
          </a:xfrm>
          <a:prstGeom prst="ellipse">
            <a:avLst/>
          </a:prstGeom>
          <a:solidFill>
            <a:srgbClr val="0D2137"/>
          </a:solidFill>
          <a:ln w="25400">
            <a:solidFill>
              <a:srgbClr val="1E88E5"/>
            </a:solidFill>
            <a:prstDash val="solid"/>
          </a:ln>
        </p:spPr>
      </p:sp>
      <p:sp>
        <p:nvSpPr>
          <p:cNvPr id="8" name="Shape 6"/>
          <p:cNvSpPr/>
          <p:nvPr/>
        </p:nvSpPr>
        <p:spPr>
          <a:xfrm>
            <a:off x="1060704" y="2606040"/>
            <a:ext cx="530352" cy="475488"/>
          </a:xfrm>
          <a:prstGeom prst="ellipse">
            <a:avLst/>
          </a:prstGeom>
          <a:solidFill>
            <a:srgbClr val="0D2137"/>
          </a:solidFill>
          <a:ln w="25400">
            <a:solidFill>
              <a:srgbClr val="1E88E5"/>
            </a:solidFill>
            <a:prstDash val="solid"/>
          </a:ln>
        </p:spPr>
      </p:sp>
      <p:sp>
        <p:nvSpPr>
          <p:cNvPr id="9" name="Shape 7"/>
          <p:cNvSpPr/>
          <p:nvPr/>
        </p:nvSpPr>
        <p:spPr>
          <a:xfrm>
            <a:off x="1060704" y="3044952"/>
            <a:ext cx="530352" cy="475488"/>
          </a:xfrm>
          <a:prstGeom prst="ellipse">
            <a:avLst/>
          </a:prstGeom>
          <a:solidFill>
            <a:srgbClr val="0D2137"/>
          </a:solidFill>
          <a:ln w="25400">
            <a:solidFill>
              <a:srgbClr val="1E88E5"/>
            </a:solidFill>
            <a:prstDash val="solid"/>
          </a:ln>
        </p:spPr>
      </p:sp>
      <p:sp>
        <p:nvSpPr>
          <p:cNvPr id="10" name="Shape 8"/>
          <p:cNvSpPr/>
          <p:nvPr/>
        </p:nvSpPr>
        <p:spPr>
          <a:xfrm>
            <a:off x="2514600" y="960120"/>
            <a:ext cx="1920240" cy="384048"/>
          </a:xfrm>
          <a:prstGeom prst="rect">
            <a:avLst/>
          </a:prstGeom>
          <a:solidFill>
            <a:srgbClr val="7C4DFF"/>
          </a:solidFill>
          <a:ln w="12700">
            <a:solidFill>
              <a:srgbClr val="7C4DFF"/>
            </a:solidFill>
            <a:prstDash val="solid"/>
          </a:ln>
        </p:spPr>
      </p:sp>
      <p:sp>
        <p:nvSpPr>
          <p:cNvPr id="11" name="Text 9"/>
          <p:cNvSpPr/>
          <p:nvPr/>
        </p:nvSpPr>
        <p:spPr>
          <a:xfrm>
            <a:off x="2514600" y="996696"/>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Hidden 1</a:t>
            </a:r>
            <a:endParaRPr lang="en-US" sz="1200" dirty="0"/>
          </a:p>
        </p:txBody>
      </p:sp>
      <p:sp>
        <p:nvSpPr>
          <p:cNvPr id="12" name="Shape 10"/>
          <p:cNvSpPr/>
          <p:nvPr/>
        </p:nvSpPr>
        <p:spPr>
          <a:xfrm>
            <a:off x="3209544" y="1508760"/>
            <a:ext cx="530352" cy="475488"/>
          </a:xfrm>
          <a:prstGeom prst="ellipse">
            <a:avLst/>
          </a:prstGeom>
          <a:solidFill>
            <a:srgbClr val="0D2137"/>
          </a:solidFill>
          <a:ln w="25400">
            <a:solidFill>
              <a:srgbClr val="7C4DFF"/>
            </a:solidFill>
            <a:prstDash val="solid"/>
          </a:ln>
        </p:spPr>
      </p:sp>
      <p:sp>
        <p:nvSpPr>
          <p:cNvPr id="13" name="Shape 11"/>
          <p:cNvSpPr/>
          <p:nvPr/>
        </p:nvSpPr>
        <p:spPr>
          <a:xfrm>
            <a:off x="3209544" y="1947672"/>
            <a:ext cx="530352" cy="475488"/>
          </a:xfrm>
          <a:prstGeom prst="ellipse">
            <a:avLst/>
          </a:prstGeom>
          <a:solidFill>
            <a:srgbClr val="0D2137"/>
          </a:solidFill>
          <a:ln w="25400">
            <a:solidFill>
              <a:srgbClr val="7C4DFF"/>
            </a:solidFill>
            <a:prstDash val="solid"/>
          </a:ln>
        </p:spPr>
      </p:sp>
      <p:sp>
        <p:nvSpPr>
          <p:cNvPr id="14" name="Shape 12"/>
          <p:cNvSpPr/>
          <p:nvPr/>
        </p:nvSpPr>
        <p:spPr>
          <a:xfrm>
            <a:off x="3209544" y="2386584"/>
            <a:ext cx="530352" cy="475488"/>
          </a:xfrm>
          <a:prstGeom prst="ellipse">
            <a:avLst/>
          </a:prstGeom>
          <a:solidFill>
            <a:srgbClr val="0D2137"/>
          </a:solidFill>
          <a:ln w="25400">
            <a:solidFill>
              <a:srgbClr val="7C4DFF"/>
            </a:solidFill>
            <a:prstDash val="solid"/>
          </a:ln>
        </p:spPr>
      </p:sp>
      <p:sp>
        <p:nvSpPr>
          <p:cNvPr id="15" name="Shape 13"/>
          <p:cNvSpPr/>
          <p:nvPr/>
        </p:nvSpPr>
        <p:spPr>
          <a:xfrm>
            <a:off x="3209544" y="2825496"/>
            <a:ext cx="530352" cy="475488"/>
          </a:xfrm>
          <a:prstGeom prst="ellipse">
            <a:avLst/>
          </a:prstGeom>
          <a:solidFill>
            <a:srgbClr val="0D2137"/>
          </a:solidFill>
          <a:ln w="25400">
            <a:solidFill>
              <a:srgbClr val="7C4DFF"/>
            </a:solidFill>
            <a:prstDash val="solid"/>
          </a:ln>
        </p:spPr>
      </p:sp>
      <p:sp>
        <p:nvSpPr>
          <p:cNvPr id="16" name="Shape 14"/>
          <p:cNvSpPr/>
          <p:nvPr/>
        </p:nvSpPr>
        <p:spPr>
          <a:xfrm>
            <a:off x="3209544" y="3264408"/>
            <a:ext cx="530352" cy="475488"/>
          </a:xfrm>
          <a:prstGeom prst="ellipse">
            <a:avLst/>
          </a:prstGeom>
          <a:solidFill>
            <a:srgbClr val="0D2137"/>
          </a:solidFill>
          <a:ln w="25400">
            <a:solidFill>
              <a:srgbClr val="7C4DFF"/>
            </a:solidFill>
            <a:prstDash val="solid"/>
          </a:ln>
        </p:spPr>
      </p:sp>
      <p:sp>
        <p:nvSpPr>
          <p:cNvPr id="17" name="Shape 15"/>
          <p:cNvSpPr/>
          <p:nvPr/>
        </p:nvSpPr>
        <p:spPr>
          <a:xfrm>
            <a:off x="4663440" y="960120"/>
            <a:ext cx="1920240" cy="384048"/>
          </a:xfrm>
          <a:prstGeom prst="rect">
            <a:avLst/>
          </a:prstGeom>
          <a:solidFill>
            <a:srgbClr val="009688"/>
          </a:solidFill>
          <a:ln w="12700">
            <a:solidFill>
              <a:srgbClr val="009688"/>
            </a:solidFill>
            <a:prstDash val="solid"/>
          </a:ln>
        </p:spPr>
      </p:sp>
      <p:sp>
        <p:nvSpPr>
          <p:cNvPr id="18" name="Text 16"/>
          <p:cNvSpPr/>
          <p:nvPr/>
        </p:nvSpPr>
        <p:spPr>
          <a:xfrm>
            <a:off x="4663440" y="996696"/>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Hidden 2</a:t>
            </a:r>
            <a:endParaRPr lang="en-US" sz="1200" dirty="0"/>
          </a:p>
        </p:txBody>
      </p:sp>
      <p:sp>
        <p:nvSpPr>
          <p:cNvPr id="19" name="Shape 17"/>
          <p:cNvSpPr/>
          <p:nvPr/>
        </p:nvSpPr>
        <p:spPr>
          <a:xfrm>
            <a:off x="5358384" y="1508760"/>
            <a:ext cx="530352" cy="475488"/>
          </a:xfrm>
          <a:prstGeom prst="ellipse">
            <a:avLst/>
          </a:prstGeom>
          <a:solidFill>
            <a:srgbClr val="0D2137"/>
          </a:solidFill>
          <a:ln w="25400">
            <a:solidFill>
              <a:srgbClr val="009688"/>
            </a:solidFill>
            <a:prstDash val="solid"/>
          </a:ln>
        </p:spPr>
      </p:sp>
      <p:sp>
        <p:nvSpPr>
          <p:cNvPr id="20" name="Shape 18"/>
          <p:cNvSpPr/>
          <p:nvPr/>
        </p:nvSpPr>
        <p:spPr>
          <a:xfrm>
            <a:off x="5358384" y="1947672"/>
            <a:ext cx="530352" cy="475488"/>
          </a:xfrm>
          <a:prstGeom prst="ellipse">
            <a:avLst/>
          </a:prstGeom>
          <a:solidFill>
            <a:srgbClr val="0D2137"/>
          </a:solidFill>
          <a:ln w="25400">
            <a:solidFill>
              <a:srgbClr val="009688"/>
            </a:solidFill>
            <a:prstDash val="solid"/>
          </a:ln>
        </p:spPr>
      </p:sp>
      <p:sp>
        <p:nvSpPr>
          <p:cNvPr id="21" name="Shape 19"/>
          <p:cNvSpPr/>
          <p:nvPr/>
        </p:nvSpPr>
        <p:spPr>
          <a:xfrm>
            <a:off x="5358384" y="2386584"/>
            <a:ext cx="530352" cy="475488"/>
          </a:xfrm>
          <a:prstGeom prst="ellipse">
            <a:avLst/>
          </a:prstGeom>
          <a:solidFill>
            <a:srgbClr val="0D2137"/>
          </a:solidFill>
          <a:ln w="25400">
            <a:solidFill>
              <a:srgbClr val="009688"/>
            </a:solidFill>
            <a:prstDash val="solid"/>
          </a:ln>
        </p:spPr>
      </p:sp>
      <p:sp>
        <p:nvSpPr>
          <p:cNvPr id="22" name="Shape 20"/>
          <p:cNvSpPr/>
          <p:nvPr/>
        </p:nvSpPr>
        <p:spPr>
          <a:xfrm>
            <a:off x="5358384" y="2825496"/>
            <a:ext cx="530352" cy="475488"/>
          </a:xfrm>
          <a:prstGeom prst="ellipse">
            <a:avLst/>
          </a:prstGeom>
          <a:solidFill>
            <a:srgbClr val="0D2137"/>
          </a:solidFill>
          <a:ln w="25400">
            <a:solidFill>
              <a:srgbClr val="009688"/>
            </a:solidFill>
            <a:prstDash val="solid"/>
          </a:ln>
        </p:spPr>
      </p:sp>
      <p:sp>
        <p:nvSpPr>
          <p:cNvPr id="23" name="Shape 21"/>
          <p:cNvSpPr/>
          <p:nvPr/>
        </p:nvSpPr>
        <p:spPr>
          <a:xfrm>
            <a:off x="5358384" y="3264408"/>
            <a:ext cx="530352" cy="475488"/>
          </a:xfrm>
          <a:prstGeom prst="ellipse">
            <a:avLst/>
          </a:prstGeom>
          <a:solidFill>
            <a:srgbClr val="0D2137"/>
          </a:solidFill>
          <a:ln w="25400">
            <a:solidFill>
              <a:srgbClr val="009688"/>
            </a:solidFill>
            <a:prstDash val="solid"/>
          </a:ln>
        </p:spPr>
      </p:sp>
      <p:sp>
        <p:nvSpPr>
          <p:cNvPr id="24" name="Shape 22"/>
          <p:cNvSpPr/>
          <p:nvPr/>
        </p:nvSpPr>
        <p:spPr>
          <a:xfrm>
            <a:off x="6812280" y="960120"/>
            <a:ext cx="1920240" cy="384048"/>
          </a:xfrm>
          <a:prstGeom prst="rect">
            <a:avLst/>
          </a:prstGeom>
          <a:solidFill>
            <a:srgbClr val="4CAF50"/>
          </a:solidFill>
          <a:ln w="12700">
            <a:solidFill>
              <a:srgbClr val="4CAF50"/>
            </a:solidFill>
            <a:prstDash val="solid"/>
          </a:ln>
        </p:spPr>
      </p:sp>
      <p:sp>
        <p:nvSpPr>
          <p:cNvPr id="25" name="Text 23"/>
          <p:cNvSpPr/>
          <p:nvPr/>
        </p:nvSpPr>
        <p:spPr>
          <a:xfrm>
            <a:off x="6812280" y="996696"/>
            <a:ext cx="1920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26" name="Shape 24"/>
          <p:cNvSpPr/>
          <p:nvPr/>
        </p:nvSpPr>
        <p:spPr>
          <a:xfrm>
            <a:off x="7507224" y="1947672"/>
            <a:ext cx="530352" cy="475488"/>
          </a:xfrm>
          <a:prstGeom prst="ellipse">
            <a:avLst/>
          </a:prstGeom>
          <a:solidFill>
            <a:srgbClr val="0D2137"/>
          </a:solidFill>
          <a:ln w="25400">
            <a:solidFill>
              <a:srgbClr val="4CAF50"/>
            </a:solidFill>
            <a:prstDash val="solid"/>
          </a:ln>
        </p:spPr>
      </p:sp>
      <p:sp>
        <p:nvSpPr>
          <p:cNvPr id="27" name="Shape 25"/>
          <p:cNvSpPr/>
          <p:nvPr/>
        </p:nvSpPr>
        <p:spPr>
          <a:xfrm>
            <a:off x="7507224" y="2386584"/>
            <a:ext cx="530352" cy="475488"/>
          </a:xfrm>
          <a:prstGeom prst="ellipse">
            <a:avLst/>
          </a:prstGeom>
          <a:solidFill>
            <a:srgbClr val="0D2137"/>
          </a:solidFill>
          <a:ln w="25400">
            <a:solidFill>
              <a:srgbClr val="4CAF50"/>
            </a:solidFill>
            <a:prstDash val="solid"/>
          </a:ln>
        </p:spPr>
      </p:sp>
      <p:sp>
        <p:nvSpPr>
          <p:cNvPr id="28" name="Shape 26"/>
          <p:cNvSpPr/>
          <p:nvPr/>
        </p:nvSpPr>
        <p:spPr>
          <a:xfrm>
            <a:off x="7507224" y="2825496"/>
            <a:ext cx="530352" cy="475488"/>
          </a:xfrm>
          <a:prstGeom prst="ellipse">
            <a:avLst/>
          </a:prstGeom>
          <a:solidFill>
            <a:srgbClr val="0D2137"/>
          </a:solidFill>
          <a:ln w="25400">
            <a:solidFill>
              <a:srgbClr val="4CAF50"/>
            </a:solidFill>
            <a:prstDash val="solid"/>
          </a:ln>
        </p:spPr>
      </p:sp>
      <p:sp>
        <p:nvSpPr>
          <p:cNvPr id="29" name="Shape 27"/>
          <p:cNvSpPr/>
          <p:nvPr/>
        </p:nvSpPr>
        <p:spPr>
          <a:xfrm>
            <a:off x="1591056" y="1979676"/>
            <a:ext cx="1618488" cy="-219456"/>
          </a:xfrm>
          <a:prstGeom prst="line">
            <a:avLst/>
          </a:prstGeom>
          <a:noFill/>
          <a:ln w="6350">
            <a:solidFill>
              <a:srgbClr val="1E3A5F"/>
            </a:solidFill>
            <a:prstDash val="solid"/>
          </a:ln>
        </p:spPr>
      </p:sp>
      <p:sp>
        <p:nvSpPr>
          <p:cNvPr id="30" name="Shape 28"/>
          <p:cNvSpPr/>
          <p:nvPr/>
        </p:nvSpPr>
        <p:spPr>
          <a:xfrm>
            <a:off x="1591056" y="1979676"/>
            <a:ext cx="1618488" cy="219456"/>
          </a:xfrm>
          <a:prstGeom prst="line">
            <a:avLst/>
          </a:prstGeom>
          <a:noFill/>
          <a:ln w="6350">
            <a:solidFill>
              <a:srgbClr val="1E3A5F"/>
            </a:solidFill>
            <a:prstDash val="solid"/>
          </a:ln>
        </p:spPr>
      </p:sp>
      <p:sp>
        <p:nvSpPr>
          <p:cNvPr id="31" name="Shape 29"/>
          <p:cNvSpPr/>
          <p:nvPr/>
        </p:nvSpPr>
        <p:spPr>
          <a:xfrm>
            <a:off x="1591056" y="1979676"/>
            <a:ext cx="1618488" cy="658368"/>
          </a:xfrm>
          <a:prstGeom prst="line">
            <a:avLst/>
          </a:prstGeom>
          <a:noFill/>
          <a:ln w="6350">
            <a:solidFill>
              <a:srgbClr val="1E3A5F"/>
            </a:solidFill>
            <a:prstDash val="solid"/>
          </a:ln>
        </p:spPr>
      </p:sp>
      <p:sp>
        <p:nvSpPr>
          <p:cNvPr id="32" name="Shape 30"/>
          <p:cNvSpPr/>
          <p:nvPr/>
        </p:nvSpPr>
        <p:spPr>
          <a:xfrm>
            <a:off x="1591056" y="1979676"/>
            <a:ext cx="1618488" cy="1097280"/>
          </a:xfrm>
          <a:prstGeom prst="line">
            <a:avLst/>
          </a:prstGeom>
          <a:noFill/>
          <a:ln w="6350">
            <a:solidFill>
              <a:srgbClr val="1E3A5F"/>
            </a:solidFill>
            <a:prstDash val="solid"/>
          </a:ln>
        </p:spPr>
      </p:sp>
      <p:sp>
        <p:nvSpPr>
          <p:cNvPr id="33" name="Shape 31"/>
          <p:cNvSpPr/>
          <p:nvPr/>
        </p:nvSpPr>
        <p:spPr>
          <a:xfrm>
            <a:off x="1591056" y="1979676"/>
            <a:ext cx="1618488" cy="1536192"/>
          </a:xfrm>
          <a:prstGeom prst="line">
            <a:avLst/>
          </a:prstGeom>
          <a:noFill/>
          <a:ln w="6350">
            <a:solidFill>
              <a:srgbClr val="1E3A5F"/>
            </a:solidFill>
            <a:prstDash val="solid"/>
          </a:ln>
        </p:spPr>
      </p:sp>
      <p:sp>
        <p:nvSpPr>
          <p:cNvPr id="34" name="Shape 32"/>
          <p:cNvSpPr/>
          <p:nvPr/>
        </p:nvSpPr>
        <p:spPr>
          <a:xfrm>
            <a:off x="1591056" y="2418588"/>
            <a:ext cx="1618488" cy="-658368"/>
          </a:xfrm>
          <a:prstGeom prst="line">
            <a:avLst/>
          </a:prstGeom>
          <a:noFill/>
          <a:ln w="6350">
            <a:solidFill>
              <a:srgbClr val="1E3A5F"/>
            </a:solidFill>
            <a:prstDash val="solid"/>
          </a:ln>
        </p:spPr>
      </p:sp>
      <p:sp>
        <p:nvSpPr>
          <p:cNvPr id="35" name="Shape 33"/>
          <p:cNvSpPr/>
          <p:nvPr/>
        </p:nvSpPr>
        <p:spPr>
          <a:xfrm>
            <a:off x="1591056" y="2418588"/>
            <a:ext cx="1618488" cy="-219456"/>
          </a:xfrm>
          <a:prstGeom prst="line">
            <a:avLst/>
          </a:prstGeom>
          <a:noFill/>
          <a:ln w="6350">
            <a:solidFill>
              <a:srgbClr val="1E3A5F"/>
            </a:solidFill>
            <a:prstDash val="solid"/>
          </a:ln>
        </p:spPr>
      </p:sp>
      <p:sp>
        <p:nvSpPr>
          <p:cNvPr id="36" name="Shape 34"/>
          <p:cNvSpPr/>
          <p:nvPr/>
        </p:nvSpPr>
        <p:spPr>
          <a:xfrm>
            <a:off x="1591056" y="2418588"/>
            <a:ext cx="1618488" cy="219456"/>
          </a:xfrm>
          <a:prstGeom prst="line">
            <a:avLst/>
          </a:prstGeom>
          <a:noFill/>
          <a:ln w="6350">
            <a:solidFill>
              <a:srgbClr val="1E3A5F"/>
            </a:solidFill>
            <a:prstDash val="solid"/>
          </a:ln>
        </p:spPr>
      </p:sp>
      <p:sp>
        <p:nvSpPr>
          <p:cNvPr id="37" name="Shape 35"/>
          <p:cNvSpPr/>
          <p:nvPr/>
        </p:nvSpPr>
        <p:spPr>
          <a:xfrm>
            <a:off x="1591056" y="2418588"/>
            <a:ext cx="1618488" cy="658368"/>
          </a:xfrm>
          <a:prstGeom prst="line">
            <a:avLst/>
          </a:prstGeom>
          <a:noFill/>
          <a:ln w="6350">
            <a:solidFill>
              <a:srgbClr val="1E3A5F"/>
            </a:solidFill>
            <a:prstDash val="solid"/>
          </a:ln>
        </p:spPr>
      </p:sp>
      <p:sp>
        <p:nvSpPr>
          <p:cNvPr id="38" name="Shape 36"/>
          <p:cNvSpPr/>
          <p:nvPr/>
        </p:nvSpPr>
        <p:spPr>
          <a:xfrm>
            <a:off x="1591056" y="2418588"/>
            <a:ext cx="1618488" cy="1097280"/>
          </a:xfrm>
          <a:prstGeom prst="line">
            <a:avLst/>
          </a:prstGeom>
          <a:noFill/>
          <a:ln w="6350">
            <a:solidFill>
              <a:srgbClr val="1E3A5F"/>
            </a:solidFill>
            <a:prstDash val="solid"/>
          </a:ln>
        </p:spPr>
      </p:sp>
      <p:sp>
        <p:nvSpPr>
          <p:cNvPr id="39" name="Shape 37"/>
          <p:cNvSpPr/>
          <p:nvPr/>
        </p:nvSpPr>
        <p:spPr>
          <a:xfrm>
            <a:off x="1591056" y="2857500"/>
            <a:ext cx="1618488" cy="-1097280"/>
          </a:xfrm>
          <a:prstGeom prst="line">
            <a:avLst/>
          </a:prstGeom>
          <a:noFill/>
          <a:ln w="6350">
            <a:solidFill>
              <a:srgbClr val="1E3A5F"/>
            </a:solidFill>
            <a:prstDash val="solid"/>
          </a:ln>
        </p:spPr>
      </p:sp>
      <p:sp>
        <p:nvSpPr>
          <p:cNvPr id="40" name="Shape 38"/>
          <p:cNvSpPr/>
          <p:nvPr/>
        </p:nvSpPr>
        <p:spPr>
          <a:xfrm>
            <a:off x="1591056" y="2857500"/>
            <a:ext cx="1618488" cy="-658368"/>
          </a:xfrm>
          <a:prstGeom prst="line">
            <a:avLst/>
          </a:prstGeom>
          <a:noFill/>
          <a:ln w="6350">
            <a:solidFill>
              <a:srgbClr val="1E3A5F"/>
            </a:solidFill>
            <a:prstDash val="solid"/>
          </a:ln>
        </p:spPr>
      </p:sp>
      <p:sp>
        <p:nvSpPr>
          <p:cNvPr id="41" name="Shape 39"/>
          <p:cNvSpPr/>
          <p:nvPr/>
        </p:nvSpPr>
        <p:spPr>
          <a:xfrm>
            <a:off x="1591056" y="2857500"/>
            <a:ext cx="1618488" cy="-219456"/>
          </a:xfrm>
          <a:prstGeom prst="line">
            <a:avLst/>
          </a:prstGeom>
          <a:noFill/>
          <a:ln w="6350">
            <a:solidFill>
              <a:srgbClr val="1E3A5F"/>
            </a:solidFill>
            <a:prstDash val="solid"/>
          </a:ln>
        </p:spPr>
      </p:sp>
      <p:sp>
        <p:nvSpPr>
          <p:cNvPr id="42" name="Shape 40"/>
          <p:cNvSpPr/>
          <p:nvPr/>
        </p:nvSpPr>
        <p:spPr>
          <a:xfrm>
            <a:off x="1591056" y="2857500"/>
            <a:ext cx="1618488" cy="219456"/>
          </a:xfrm>
          <a:prstGeom prst="line">
            <a:avLst/>
          </a:prstGeom>
          <a:noFill/>
          <a:ln w="6350">
            <a:solidFill>
              <a:srgbClr val="1E3A5F"/>
            </a:solidFill>
            <a:prstDash val="solid"/>
          </a:ln>
        </p:spPr>
      </p:sp>
      <p:sp>
        <p:nvSpPr>
          <p:cNvPr id="43" name="Shape 41"/>
          <p:cNvSpPr/>
          <p:nvPr/>
        </p:nvSpPr>
        <p:spPr>
          <a:xfrm>
            <a:off x="1591056" y="2857500"/>
            <a:ext cx="1618488" cy="658368"/>
          </a:xfrm>
          <a:prstGeom prst="line">
            <a:avLst/>
          </a:prstGeom>
          <a:noFill/>
          <a:ln w="6350">
            <a:solidFill>
              <a:srgbClr val="1E3A5F"/>
            </a:solidFill>
            <a:prstDash val="solid"/>
          </a:ln>
        </p:spPr>
      </p:sp>
      <p:sp>
        <p:nvSpPr>
          <p:cNvPr id="44" name="Shape 42"/>
          <p:cNvSpPr/>
          <p:nvPr/>
        </p:nvSpPr>
        <p:spPr>
          <a:xfrm>
            <a:off x="1591056" y="3296412"/>
            <a:ext cx="1618488" cy="-1536192"/>
          </a:xfrm>
          <a:prstGeom prst="line">
            <a:avLst/>
          </a:prstGeom>
          <a:noFill/>
          <a:ln w="6350">
            <a:solidFill>
              <a:srgbClr val="1E3A5F"/>
            </a:solidFill>
            <a:prstDash val="solid"/>
          </a:ln>
        </p:spPr>
      </p:sp>
      <p:sp>
        <p:nvSpPr>
          <p:cNvPr id="45" name="Shape 43"/>
          <p:cNvSpPr/>
          <p:nvPr/>
        </p:nvSpPr>
        <p:spPr>
          <a:xfrm>
            <a:off x="1591056" y="3296412"/>
            <a:ext cx="1618488" cy="-1097280"/>
          </a:xfrm>
          <a:prstGeom prst="line">
            <a:avLst/>
          </a:prstGeom>
          <a:noFill/>
          <a:ln w="6350">
            <a:solidFill>
              <a:srgbClr val="1E3A5F"/>
            </a:solidFill>
            <a:prstDash val="solid"/>
          </a:ln>
        </p:spPr>
      </p:sp>
      <p:sp>
        <p:nvSpPr>
          <p:cNvPr id="46" name="Shape 44"/>
          <p:cNvSpPr/>
          <p:nvPr/>
        </p:nvSpPr>
        <p:spPr>
          <a:xfrm>
            <a:off x="1591056" y="3296412"/>
            <a:ext cx="1618488" cy="-658368"/>
          </a:xfrm>
          <a:prstGeom prst="line">
            <a:avLst/>
          </a:prstGeom>
          <a:noFill/>
          <a:ln w="6350">
            <a:solidFill>
              <a:srgbClr val="1E3A5F"/>
            </a:solidFill>
            <a:prstDash val="solid"/>
          </a:ln>
        </p:spPr>
      </p:sp>
      <p:sp>
        <p:nvSpPr>
          <p:cNvPr id="47" name="Shape 45"/>
          <p:cNvSpPr/>
          <p:nvPr/>
        </p:nvSpPr>
        <p:spPr>
          <a:xfrm>
            <a:off x="1591056" y="3296412"/>
            <a:ext cx="1618488" cy="-219456"/>
          </a:xfrm>
          <a:prstGeom prst="line">
            <a:avLst/>
          </a:prstGeom>
          <a:noFill/>
          <a:ln w="6350">
            <a:solidFill>
              <a:srgbClr val="1E3A5F"/>
            </a:solidFill>
            <a:prstDash val="solid"/>
          </a:ln>
        </p:spPr>
      </p:sp>
      <p:sp>
        <p:nvSpPr>
          <p:cNvPr id="48" name="Shape 46"/>
          <p:cNvSpPr/>
          <p:nvPr/>
        </p:nvSpPr>
        <p:spPr>
          <a:xfrm>
            <a:off x="1591056" y="3296412"/>
            <a:ext cx="1618488" cy="219456"/>
          </a:xfrm>
          <a:prstGeom prst="line">
            <a:avLst/>
          </a:prstGeom>
          <a:noFill/>
          <a:ln w="6350">
            <a:solidFill>
              <a:srgbClr val="1E3A5F"/>
            </a:solidFill>
            <a:prstDash val="solid"/>
          </a:ln>
        </p:spPr>
      </p:sp>
      <p:sp>
        <p:nvSpPr>
          <p:cNvPr id="49" name="Shape 47"/>
          <p:cNvSpPr/>
          <p:nvPr/>
        </p:nvSpPr>
        <p:spPr>
          <a:xfrm>
            <a:off x="3739896" y="1760220"/>
            <a:ext cx="1618488" cy="0"/>
          </a:xfrm>
          <a:prstGeom prst="line">
            <a:avLst/>
          </a:prstGeom>
          <a:noFill/>
          <a:ln w="6350">
            <a:solidFill>
              <a:srgbClr val="1E3A5F"/>
            </a:solidFill>
            <a:prstDash val="solid"/>
          </a:ln>
        </p:spPr>
      </p:sp>
      <p:sp>
        <p:nvSpPr>
          <p:cNvPr id="50" name="Shape 48"/>
          <p:cNvSpPr/>
          <p:nvPr/>
        </p:nvSpPr>
        <p:spPr>
          <a:xfrm>
            <a:off x="3739896" y="1760220"/>
            <a:ext cx="1618488" cy="438912"/>
          </a:xfrm>
          <a:prstGeom prst="line">
            <a:avLst/>
          </a:prstGeom>
          <a:noFill/>
          <a:ln w="6350">
            <a:solidFill>
              <a:srgbClr val="1E3A5F"/>
            </a:solidFill>
            <a:prstDash val="solid"/>
          </a:ln>
        </p:spPr>
      </p:sp>
      <p:sp>
        <p:nvSpPr>
          <p:cNvPr id="51" name="Shape 49"/>
          <p:cNvSpPr/>
          <p:nvPr/>
        </p:nvSpPr>
        <p:spPr>
          <a:xfrm>
            <a:off x="3739896" y="1760220"/>
            <a:ext cx="1618488" cy="877824"/>
          </a:xfrm>
          <a:prstGeom prst="line">
            <a:avLst/>
          </a:prstGeom>
          <a:noFill/>
          <a:ln w="6350">
            <a:solidFill>
              <a:srgbClr val="1E3A5F"/>
            </a:solidFill>
            <a:prstDash val="solid"/>
          </a:ln>
        </p:spPr>
      </p:sp>
      <p:sp>
        <p:nvSpPr>
          <p:cNvPr id="52" name="Shape 50"/>
          <p:cNvSpPr/>
          <p:nvPr/>
        </p:nvSpPr>
        <p:spPr>
          <a:xfrm>
            <a:off x="3739896" y="1760220"/>
            <a:ext cx="1618488" cy="1316736"/>
          </a:xfrm>
          <a:prstGeom prst="line">
            <a:avLst/>
          </a:prstGeom>
          <a:noFill/>
          <a:ln w="6350">
            <a:solidFill>
              <a:srgbClr val="1E3A5F"/>
            </a:solidFill>
            <a:prstDash val="solid"/>
          </a:ln>
        </p:spPr>
      </p:sp>
      <p:sp>
        <p:nvSpPr>
          <p:cNvPr id="53" name="Shape 51"/>
          <p:cNvSpPr/>
          <p:nvPr/>
        </p:nvSpPr>
        <p:spPr>
          <a:xfrm>
            <a:off x="3739896" y="1760220"/>
            <a:ext cx="1618488" cy="1755648"/>
          </a:xfrm>
          <a:prstGeom prst="line">
            <a:avLst/>
          </a:prstGeom>
          <a:noFill/>
          <a:ln w="6350">
            <a:solidFill>
              <a:srgbClr val="1E3A5F"/>
            </a:solidFill>
            <a:prstDash val="solid"/>
          </a:ln>
        </p:spPr>
      </p:sp>
      <p:sp>
        <p:nvSpPr>
          <p:cNvPr id="54" name="Shape 52"/>
          <p:cNvSpPr/>
          <p:nvPr/>
        </p:nvSpPr>
        <p:spPr>
          <a:xfrm>
            <a:off x="3739896" y="2199132"/>
            <a:ext cx="1618488" cy="-438912"/>
          </a:xfrm>
          <a:prstGeom prst="line">
            <a:avLst/>
          </a:prstGeom>
          <a:noFill/>
          <a:ln w="6350">
            <a:solidFill>
              <a:srgbClr val="1E3A5F"/>
            </a:solidFill>
            <a:prstDash val="solid"/>
          </a:ln>
        </p:spPr>
      </p:sp>
      <p:sp>
        <p:nvSpPr>
          <p:cNvPr id="55" name="Shape 53"/>
          <p:cNvSpPr/>
          <p:nvPr/>
        </p:nvSpPr>
        <p:spPr>
          <a:xfrm>
            <a:off x="3739896" y="2199132"/>
            <a:ext cx="1618488" cy="0"/>
          </a:xfrm>
          <a:prstGeom prst="line">
            <a:avLst/>
          </a:prstGeom>
          <a:noFill/>
          <a:ln w="6350">
            <a:solidFill>
              <a:srgbClr val="1E3A5F"/>
            </a:solidFill>
            <a:prstDash val="solid"/>
          </a:ln>
        </p:spPr>
      </p:sp>
      <p:sp>
        <p:nvSpPr>
          <p:cNvPr id="56" name="Shape 54"/>
          <p:cNvSpPr/>
          <p:nvPr/>
        </p:nvSpPr>
        <p:spPr>
          <a:xfrm>
            <a:off x="3739896" y="2199132"/>
            <a:ext cx="1618488" cy="438912"/>
          </a:xfrm>
          <a:prstGeom prst="line">
            <a:avLst/>
          </a:prstGeom>
          <a:noFill/>
          <a:ln w="6350">
            <a:solidFill>
              <a:srgbClr val="1E3A5F"/>
            </a:solidFill>
            <a:prstDash val="solid"/>
          </a:ln>
        </p:spPr>
      </p:sp>
      <p:sp>
        <p:nvSpPr>
          <p:cNvPr id="57" name="Shape 55"/>
          <p:cNvSpPr/>
          <p:nvPr/>
        </p:nvSpPr>
        <p:spPr>
          <a:xfrm>
            <a:off x="3739896" y="2199132"/>
            <a:ext cx="1618488" cy="877824"/>
          </a:xfrm>
          <a:prstGeom prst="line">
            <a:avLst/>
          </a:prstGeom>
          <a:noFill/>
          <a:ln w="6350">
            <a:solidFill>
              <a:srgbClr val="1E3A5F"/>
            </a:solidFill>
            <a:prstDash val="solid"/>
          </a:ln>
        </p:spPr>
      </p:sp>
      <p:sp>
        <p:nvSpPr>
          <p:cNvPr id="58" name="Shape 56"/>
          <p:cNvSpPr/>
          <p:nvPr/>
        </p:nvSpPr>
        <p:spPr>
          <a:xfrm>
            <a:off x="3739896" y="2199132"/>
            <a:ext cx="1618488" cy="1316736"/>
          </a:xfrm>
          <a:prstGeom prst="line">
            <a:avLst/>
          </a:prstGeom>
          <a:noFill/>
          <a:ln w="6350">
            <a:solidFill>
              <a:srgbClr val="1E3A5F"/>
            </a:solidFill>
            <a:prstDash val="solid"/>
          </a:ln>
        </p:spPr>
      </p:sp>
      <p:sp>
        <p:nvSpPr>
          <p:cNvPr id="59" name="Shape 57"/>
          <p:cNvSpPr/>
          <p:nvPr/>
        </p:nvSpPr>
        <p:spPr>
          <a:xfrm>
            <a:off x="3739896" y="2638044"/>
            <a:ext cx="1618488" cy="-877824"/>
          </a:xfrm>
          <a:prstGeom prst="line">
            <a:avLst/>
          </a:prstGeom>
          <a:noFill/>
          <a:ln w="6350">
            <a:solidFill>
              <a:srgbClr val="1E3A5F"/>
            </a:solidFill>
            <a:prstDash val="solid"/>
          </a:ln>
        </p:spPr>
      </p:sp>
      <p:sp>
        <p:nvSpPr>
          <p:cNvPr id="60" name="Shape 58"/>
          <p:cNvSpPr/>
          <p:nvPr/>
        </p:nvSpPr>
        <p:spPr>
          <a:xfrm>
            <a:off x="3739896" y="2638044"/>
            <a:ext cx="1618488" cy="-438912"/>
          </a:xfrm>
          <a:prstGeom prst="line">
            <a:avLst/>
          </a:prstGeom>
          <a:noFill/>
          <a:ln w="6350">
            <a:solidFill>
              <a:srgbClr val="1E3A5F"/>
            </a:solidFill>
            <a:prstDash val="solid"/>
          </a:ln>
        </p:spPr>
      </p:sp>
      <p:sp>
        <p:nvSpPr>
          <p:cNvPr id="61" name="Shape 59"/>
          <p:cNvSpPr/>
          <p:nvPr/>
        </p:nvSpPr>
        <p:spPr>
          <a:xfrm>
            <a:off x="3739896" y="2638044"/>
            <a:ext cx="1618488" cy="0"/>
          </a:xfrm>
          <a:prstGeom prst="line">
            <a:avLst/>
          </a:prstGeom>
          <a:noFill/>
          <a:ln w="6350">
            <a:solidFill>
              <a:srgbClr val="1E3A5F"/>
            </a:solidFill>
            <a:prstDash val="solid"/>
          </a:ln>
        </p:spPr>
      </p:sp>
      <p:sp>
        <p:nvSpPr>
          <p:cNvPr id="62" name="Shape 60"/>
          <p:cNvSpPr/>
          <p:nvPr/>
        </p:nvSpPr>
        <p:spPr>
          <a:xfrm>
            <a:off x="3739896" y="2638044"/>
            <a:ext cx="1618488" cy="438912"/>
          </a:xfrm>
          <a:prstGeom prst="line">
            <a:avLst/>
          </a:prstGeom>
          <a:noFill/>
          <a:ln w="6350">
            <a:solidFill>
              <a:srgbClr val="1E3A5F"/>
            </a:solidFill>
            <a:prstDash val="solid"/>
          </a:ln>
        </p:spPr>
      </p:sp>
      <p:sp>
        <p:nvSpPr>
          <p:cNvPr id="63" name="Shape 61"/>
          <p:cNvSpPr/>
          <p:nvPr/>
        </p:nvSpPr>
        <p:spPr>
          <a:xfrm>
            <a:off x="3739896" y="2638044"/>
            <a:ext cx="1618488" cy="877824"/>
          </a:xfrm>
          <a:prstGeom prst="line">
            <a:avLst/>
          </a:prstGeom>
          <a:noFill/>
          <a:ln w="6350">
            <a:solidFill>
              <a:srgbClr val="1E3A5F"/>
            </a:solidFill>
            <a:prstDash val="solid"/>
          </a:ln>
        </p:spPr>
      </p:sp>
      <p:sp>
        <p:nvSpPr>
          <p:cNvPr id="64" name="Shape 62"/>
          <p:cNvSpPr/>
          <p:nvPr/>
        </p:nvSpPr>
        <p:spPr>
          <a:xfrm>
            <a:off x="3739896" y="3076956"/>
            <a:ext cx="1618488" cy="-1316736"/>
          </a:xfrm>
          <a:prstGeom prst="line">
            <a:avLst/>
          </a:prstGeom>
          <a:noFill/>
          <a:ln w="6350">
            <a:solidFill>
              <a:srgbClr val="1E3A5F"/>
            </a:solidFill>
            <a:prstDash val="solid"/>
          </a:ln>
        </p:spPr>
      </p:sp>
      <p:sp>
        <p:nvSpPr>
          <p:cNvPr id="65" name="Shape 63"/>
          <p:cNvSpPr/>
          <p:nvPr/>
        </p:nvSpPr>
        <p:spPr>
          <a:xfrm>
            <a:off x="3739896" y="3076956"/>
            <a:ext cx="1618488" cy="-877824"/>
          </a:xfrm>
          <a:prstGeom prst="line">
            <a:avLst/>
          </a:prstGeom>
          <a:noFill/>
          <a:ln w="6350">
            <a:solidFill>
              <a:srgbClr val="1E3A5F"/>
            </a:solidFill>
            <a:prstDash val="solid"/>
          </a:ln>
        </p:spPr>
      </p:sp>
      <p:sp>
        <p:nvSpPr>
          <p:cNvPr id="66" name="Shape 64"/>
          <p:cNvSpPr/>
          <p:nvPr/>
        </p:nvSpPr>
        <p:spPr>
          <a:xfrm>
            <a:off x="3739896" y="3076956"/>
            <a:ext cx="1618488" cy="-438912"/>
          </a:xfrm>
          <a:prstGeom prst="line">
            <a:avLst/>
          </a:prstGeom>
          <a:noFill/>
          <a:ln w="6350">
            <a:solidFill>
              <a:srgbClr val="1E3A5F"/>
            </a:solidFill>
            <a:prstDash val="solid"/>
          </a:ln>
        </p:spPr>
      </p:sp>
      <p:sp>
        <p:nvSpPr>
          <p:cNvPr id="67" name="Shape 65"/>
          <p:cNvSpPr/>
          <p:nvPr/>
        </p:nvSpPr>
        <p:spPr>
          <a:xfrm>
            <a:off x="3739896" y="3076956"/>
            <a:ext cx="1618488" cy="0"/>
          </a:xfrm>
          <a:prstGeom prst="line">
            <a:avLst/>
          </a:prstGeom>
          <a:noFill/>
          <a:ln w="6350">
            <a:solidFill>
              <a:srgbClr val="1E3A5F"/>
            </a:solidFill>
            <a:prstDash val="solid"/>
          </a:ln>
        </p:spPr>
      </p:sp>
      <p:sp>
        <p:nvSpPr>
          <p:cNvPr id="68" name="Shape 66"/>
          <p:cNvSpPr/>
          <p:nvPr/>
        </p:nvSpPr>
        <p:spPr>
          <a:xfrm>
            <a:off x="3739896" y="3076956"/>
            <a:ext cx="1618488" cy="438912"/>
          </a:xfrm>
          <a:prstGeom prst="line">
            <a:avLst/>
          </a:prstGeom>
          <a:noFill/>
          <a:ln w="6350">
            <a:solidFill>
              <a:srgbClr val="1E3A5F"/>
            </a:solidFill>
            <a:prstDash val="solid"/>
          </a:ln>
        </p:spPr>
      </p:sp>
      <p:sp>
        <p:nvSpPr>
          <p:cNvPr id="69" name="Shape 67"/>
          <p:cNvSpPr/>
          <p:nvPr/>
        </p:nvSpPr>
        <p:spPr>
          <a:xfrm>
            <a:off x="3739896" y="3515868"/>
            <a:ext cx="1618488" cy="-1755648"/>
          </a:xfrm>
          <a:prstGeom prst="line">
            <a:avLst/>
          </a:prstGeom>
          <a:noFill/>
          <a:ln w="6350">
            <a:solidFill>
              <a:srgbClr val="1E3A5F"/>
            </a:solidFill>
            <a:prstDash val="solid"/>
          </a:ln>
        </p:spPr>
      </p:sp>
      <p:sp>
        <p:nvSpPr>
          <p:cNvPr id="70" name="Shape 68"/>
          <p:cNvSpPr/>
          <p:nvPr/>
        </p:nvSpPr>
        <p:spPr>
          <a:xfrm>
            <a:off x="3739896" y="3515868"/>
            <a:ext cx="1618488" cy="-1316736"/>
          </a:xfrm>
          <a:prstGeom prst="line">
            <a:avLst/>
          </a:prstGeom>
          <a:noFill/>
          <a:ln w="6350">
            <a:solidFill>
              <a:srgbClr val="1E3A5F"/>
            </a:solidFill>
            <a:prstDash val="solid"/>
          </a:ln>
        </p:spPr>
      </p:sp>
      <p:sp>
        <p:nvSpPr>
          <p:cNvPr id="71" name="Shape 69"/>
          <p:cNvSpPr/>
          <p:nvPr/>
        </p:nvSpPr>
        <p:spPr>
          <a:xfrm>
            <a:off x="3739896" y="3515868"/>
            <a:ext cx="1618488" cy="-877824"/>
          </a:xfrm>
          <a:prstGeom prst="line">
            <a:avLst/>
          </a:prstGeom>
          <a:noFill/>
          <a:ln w="6350">
            <a:solidFill>
              <a:srgbClr val="1E3A5F"/>
            </a:solidFill>
            <a:prstDash val="solid"/>
          </a:ln>
        </p:spPr>
      </p:sp>
      <p:sp>
        <p:nvSpPr>
          <p:cNvPr id="72" name="Shape 70"/>
          <p:cNvSpPr/>
          <p:nvPr/>
        </p:nvSpPr>
        <p:spPr>
          <a:xfrm>
            <a:off x="3739896" y="3515868"/>
            <a:ext cx="1618488" cy="-438912"/>
          </a:xfrm>
          <a:prstGeom prst="line">
            <a:avLst/>
          </a:prstGeom>
          <a:noFill/>
          <a:ln w="6350">
            <a:solidFill>
              <a:srgbClr val="1E3A5F"/>
            </a:solidFill>
            <a:prstDash val="solid"/>
          </a:ln>
        </p:spPr>
      </p:sp>
      <p:sp>
        <p:nvSpPr>
          <p:cNvPr id="73" name="Shape 71"/>
          <p:cNvSpPr/>
          <p:nvPr/>
        </p:nvSpPr>
        <p:spPr>
          <a:xfrm>
            <a:off x="3739896" y="3515868"/>
            <a:ext cx="1618488" cy="0"/>
          </a:xfrm>
          <a:prstGeom prst="line">
            <a:avLst/>
          </a:prstGeom>
          <a:noFill/>
          <a:ln w="6350">
            <a:solidFill>
              <a:srgbClr val="1E3A5F"/>
            </a:solidFill>
            <a:prstDash val="solid"/>
          </a:ln>
        </p:spPr>
      </p:sp>
      <p:sp>
        <p:nvSpPr>
          <p:cNvPr id="74" name="Shape 72"/>
          <p:cNvSpPr/>
          <p:nvPr/>
        </p:nvSpPr>
        <p:spPr>
          <a:xfrm>
            <a:off x="5888736" y="1760220"/>
            <a:ext cx="1618488" cy="438912"/>
          </a:xfrm>
          <a:prstGeom prst="line">
            <a:avLst/>
          </a:prstGeom>
          <a:noFill/>
          <a:ln w="6350">
            <a:solidFill>
              <a:srgbClr val="1E3A5F"/>
            </a:solidFill>
            <a:prstDash val="solid"/>
          </a:ln>
        </p:spPr>
      </p:sp>
      <p:sp>
        <p:nvSpPr>
          <p:cNvPr id="75" name="Shape 73"/>
          <p:cNvSpPr/>
          <p:nvPr/>
        </p:nvSpPr>
        <p:spPr>
          <a:xfrm>
            <a:off x="5888736" y="1760220"/>
            <a:ext cx="1618488" cy="877824"/>
          </a:xfrm>
          <a:prstGeom prst="line">
            <a:avLst/>
          </a:prstGeom>
          <a:noFill/>
          <a:ln w="6350">
            <a:solidFill>
              <a:srgbClr val="1E3A5F"/>
            </a:solidFill>
            <a:prstDash val="solid"/>
          </a:ln>
        </p:spPr>
      </p:sp>
      <p:sp>
        <p:nvSpPr>
          <p:cNvPr id="76" name="Shape 74"/>
          <p:cNvSpPr/>
          <p:nvPr/>
        </p:nvSpPr>
        <p:spPr>
          <a:xfrm>
            <a:off x="5888736" y="1760220"/>
            <a:ext cx="1618488" cy="1316736"/>
          </a:xfrm>
          <a:prstGeom prst="line">
            <a:avLst/>
          </a:prstGeom>
          <a:noFill/>
          <a:ln w="6350">
            <a:solidFill>
              <a:srgbClr val="1E3A5F"/>
            </a:solidFill>
            <a:prstDash val="solid"/>
          </a:ln>
        </p:spPr>
      </p:sp>
      <p:sp>
        <p:nvSpPr>
          <p:cNvPr id="77" name="Shape 75"/>
          <p:cNvSpPr/>
          <p:nvPr/>
        </p:nvSpPr>
        <p:spPr>
          <a:xfrm>
            <a:off x="5888736" y="2199132"/>
            <a:ext cx="1618488" cy="0"/>
          </a:xfrm>
          <a:prstGeom prst="line">
            <a:avLst/>
          </a:prstGeom>
          <a:noFill/>
          <a:ln w="6350">
            <a:solidFill>
              <a:srgbClr val="1E3A5F"/>
            </a:solidFill>
            <a:prstDash val="solid"/>
          </a:ln>
        </p:spPr>
      </p:sp>
      <p:sp>
        <p:nvSpPr>
          <p:cNvPr id="78" name="Shape 76"/>
          <p:cNvSpPr/>
          <p:nvPr/>
        </p:nvSpPr>
        <p:spPr>
          <a:xfrm>
            <a:off x="5888736" y="2199132"/>
            <a:ext cx="1618488" cy="438912"/>
          </a:xfrm>
          <a:prstGeom prst="line">
            <a:avLst/>
          </a:prstGeom>
          <a:noFill/>
          <a:ln w="6350">
            <a:solidFill>
              <a:srgbClr val="1E3A5F"/>
            </a:solidFill>
            <a:prstDash val="solid"/>
          </a:ln>
        </p:spPr>
      </p:sp>
      <p:sp>
        <p:nvSpPr>
          <p:cNvPr id="79" name="Shape 77"/>
          <p:cNvSpPr/>
          <p:nvPr/>
        </p:nvSpPr>
        <p:spPr>
          <a:xfrm>
            <a:off x="5888736" y="2199132"/>
            <a:ext cx="1618488" cy="877824"/>
          </a:xfrm>
          <a:prstGeom prst="line">
            <a:avLst/>
          </a:prstGeom>
          <a:noFill/>
          <a:ln w="6350">
            <a:solidFill>
              <a:srgbClr val="1E3A5F"/>
            </a:solidFill>
            <a:prstDash val="solid"/>
          </a:ln>
        </p:spPr>
      </p:sp>
      <p:sp>
        <p:nvSpPr>
          <p:cNvPr id="80" name="Shape 78"/>
          <p:cNvSpPr/>
          <p:nvPr/>
        </p:nvSpPr>
        <p:spPr>
          <a:xfrm>
            <a:off x="5888736" y="2638044"/>
            <a:ext cx="1618488" cy="-438912"/>
          </a:xfrm>
          <a:prstGeom prst="line">
            <a:avLst/>
          </a:prstGeom>
          <a:noFill/>
          <a:ln w="6350">
            <a:solidFill>
              <a:srgbClr val="1E3A5F"/>
            </a:solidFill>
            <a:prstDash val="solid"/>
          </a:ln>
        </p:spPr>
      </p:sp>
      <p:sp>
        <p:nvSpPr>
          <p:cNvPr id="81" name="Shape 79"/>
          <p:cNvSpPr/>
          <p:nvPr/>
        </p:nvSpPr>
        <p:spPr>
          <a:xfrm>
            <a:off x="5888736" y="2638044"/>
            <a:ext cx="1618488" cy="0"/>
          </a:xfrm>
          <a:prstGeom prst="line">
            <a:avLst/>
          </a:prstGeom>
          <a:noFill/>
          <a:ln w="6350">
            <a:solidFill>
              <a:srgbClr val="1E3A5F"/>
            </a:solidFill>
            <a:prstDash val="solid"/>
          </a:ln>
        </p:spPr>
      </p:sp>
      <p:sp>
        <p:nvSpPr>
          <p:cNvPr id="82" name="Shape 80"/>
          <p:cNvSpPr/>
          <p:nvPr/>
        </p:nvSpPr>
        <p:spPr>
          <a:xfrm>
            <a:off x="5888736" y="2638044"/>
            <a:ext cx="1618488" cy="438912"/>
          </a:xfrm>
          <a:prstGeom prst="line">
            <a:avLst/>
          </a:prstGeom>
          <a:noFill/>
          <a:ln w="6350">
            <a:solidFill>
              <a:srgbClr val="1E3A5F"/>
            </a:solidFill>
            <a:prstDash val="solid"/>
          </a:ln>
        </p:spPr>
      </p:sp>
      <p:sp>
        <p:nvSpPr>
          <p:cNvPr id="83" name="Shape 81"/>
          <p:cNvSpPr/>
          <p:nvPr/>
        </p:nvSpPr>
        <p:spPr>
          <a:xfrm>
            <a:off x="5888736" y="3076956"/>
            <a:ext cx="1618488" cy="-877824"/>
          </a:xfrm>
          <a:prstGeom prst="line">
            <a:avLst/>
          </a:prstGeom>
          <a:noFill/>
          <a:ln w="6350">
            <a:solidFill>
              <a:srgbClr val="1E3A5F"/>
            </a:solidFill>
            <a:prstDash val="solid"/>
          </a:ln>
        </p:spPr>
      </p:sp>
      <p:sp>
        <p:nvSpPr>
          <p:cNvPr id="84" name="Shape 82"/>
          <p:cNvSpPr/>
          <p:nvPr/>
        </p:nvSpPr>
        <p:spPr>
          <a:xfrm>
            <a:off x="5888736" y="3076956"/>
            <a:ext cx="1618488" cy="-438912"/>
          </a:xfrm>
          <a:prstGeom prst="line">
            <a:avLst/>
          </a:prstGeom>
          <a:noFill/>
          <a:ln w="6350">
            <a:solidFill>
              <a:srgbClr val="1E3A5F"/>
            </a:solidFill>
            <a:prstDash val="solid"/>
          </a:ln>
        </p:spPr>
      </p:sp>
      <p:sp>
        <p:nvSpPr>
          <p:cNvPr id="85" name="Shape 83"/>
          <p:cNvSpPr/>
          <p:nvPr/>
        </p:nvSpPr>
        <p:spPr>
          <a:xfrm>
            <a:off x="5888736" y="3076956"/>
            <a:ext cx="1618488" cy="0"/>
          </a:xfrm>
          <a:prstGeom prst="line">
            <a:avLst/>
          </a:prstGeom>
          <a:noFill/>
          <a:ln w="6350">
            <a:solidFill>
              <a:srgbClr val="1E3A5F"/>
            </a:solidFill>
            <a:prstDash val="solid"/>
          </a:ln>
        </p:spPr>
      </p:sp>
      <p:sp>
        <p:nvSpPr>
          <p:cNvPr id="86" name="Shape 84"/>
          <p:cNvSpPr/>
          <p:nvPr/>
        </p:nvSpPr>
        <p:spPr>
          <a:xfrm>
            <a:off x="5888736" y="3515868"/>
            <a:ext cx="1618488" cy="-1316736"/>
          </a:xfrm>
          <a:prstGeom prst="line">
            <a:avLst/>
          </a:prstGeom>
          <a:noFill/>
          <a:ln w="6350">
            <a:solidFill>
              <a:srgbClr val="1E3A5F"/>
            </a:solidFill>
            <a:prstDash val="solid"/>
          </a:ln>
        </p:spPr>
      </p:sp>
      <p:sp>
        <p:nvSpPr>
          <p:cNvPr id="87" name="Shape 85"/>
          <p:cNvSpPr/>
          <p:nvPr/>
        </p:nvSpPr>
        <p:spPr>
          <a:xfrm>
            <a:off x="5888736" y="3515868"/>
            <a:ext cx="1618488" cy="-877824"/>
          </a:xfrm>
          <a:prstGeom prst="line">
            <a:avLst/>
          </a:prstGeom>
          <a:noFill/>
          <a:ln w="6350">
            <a:solidFill>
              <a:srgbClr val="1E3A5F"/>
            </a:solidFill>
            <a:prstDash val="solid"/>
          </a:ln>
        </p:spPr>
      </p:sp>
      <p:sp>
        <p:nvSpPr>
          <p:cNvPr id="88" name="Shape 86"/>
          <p:cNvSpPr/>
          <p:nvPr/>
        </p:nvSpPr>
        <p:spPr>
          <a:xfrm>
            <a:off x="5888736" y="3515868"/>
            <a:ext cx="1618488" cy="-438912"/>
          </a:xfrm>
          <a:prstGeom prst="line">
            <a:avLst/>
          </a:prstGeom>
          <a:noFill/>
          <a:ln w="6350">
            <a:solidFill>
              <a:srgbClr val="1E3A5F"/>
            </a:solidFill>
            <a:prstDash val="solid"/>
          </a:ln>
        </p:spPr>
      </p:sp>
      <p:sp>
        <p:nvSpPr>
          <p:cNvPr id="89" name="Shape 87"/>
          <p:cNvSpPr/>
          <p:nvPr/>
        </p:nvSpPr>
        <p:spPr>
          <a:xfrm>
            <a:off x="320040" y="3657600"/>
            <a:ext cx="8503920" cy="1298448"/>
          </a:xfrm>
          <a:prstGeom prst="rect">
            <a:avLst/>
          </a:prstGeom>
          <a:solidFill>
            <a:srgbClr val="132238"/>
          </a:solidFill>
          <a:ln w="12700">
            <a:solidFill>
              <a:srgbClr val="1E3A5F"/>
            </a:solidFill>
            <a:prstDash val="solid"/>
          </a:ln>
        </p:spPr>
      </p:sp>
      <p:sp>
        <p:nvSpPr>
          <p:cNvPr id="90" name="Text 88"/>
          <p:cNvSpPr/>
          <p:nvPr/>
        </p:nvSpPr>
        <p:spPr>
          <a:xfrm>
            <a:off x="548640" y="3730752"/>
            <a:ext cx="8229600" cy="347472"/>
          </a:xfrm>
          <a:prstGeom prst="rect">
            <a:avLst/>
          </a:prstGeom>
          <a:noFill/>
          <a:ln/>
        </p:spPr>
        <p:txBody>
          <a:bodyPr wrap="square" lIns="0" tIns="0" rIns="0" bIns="0" rtlCol="0" anchor="ctr"/>
          <a:lstStyle/>
          <a:p>
            <a:pPr indent="0" marL="0">
              <a:buNone/>
            </a:pPr>
            <a:r>
              <a:rPr lang="en-US" sz="1100" b="1" dirty="0">
                <a:solidFill>
                  <a:srgbClr val="00BCD4"/>
                </a:solidFill>
                <a:latin typeface="Calibri" pitchFamily="34" charset="0"/>
                <a:ea typeface="Calibri" pitchFamily="34" charset="-122"/>
                <a:cs typeface="Calibri" pitchFamily="34" charset="-120"/>
              </a:rPr>
              <a:t>Depth:  </a:t>
            </a:r>
            <a:pPr indent="0" marL="0">
              <a:buNone/>
            </a:pPr>
            <a:r>
              <a:rPr lang="en-US" sz="1100" dirty="0">
                <a:solidFill>
                  <a:srgbClr val="FFFFFF"/>
                </a:solidFill>
                <a:latin typeface="Calibri" pitchFamily="34" charset="0"/>
                <a:ea typeface="Calibri" pitchFamily="34" charset="-122"/>
                <a:cs typeface="Calibri" pitchFamily="34" charset="-120"/>
              </a:rPr>
              <a:t>Number of hidden layers — more layers = more abstract representations</a:t>
            </a:r>
            <a:endParaRPr lang="en-US" sz="1100" dirty="0"/>
          </a:p>
        </p:txBody>
      </p:sp>
      <p:sp>
        <p:nvSpPr>
          <p:cNvPr id="91" name="Text 89"/>
          <p:cNvSpPr/>
          <p:nvPr/>
        </p:nvSpPr>
        <p:spPr>
          <a:xfrm>
            <a:off x="548640" y="4123944"/>
            <a:ext cx="8229600" cy="347472"/>
          </a:xfrm>
          <a:prstGeom prst="rect">
            <a:avLst/>
          </a:prstGeom>
          <a:noFill/>
          <a:ln/>
        </p:spPr>
        <p:txBody>
          <a:bodyPr wrap="square" lIns="0" tIns="0" rIns="0" bIns="0" rtlCol="0" anchor="ctr"/>
          <a:lstStyle/>
          <a:p>
            <a:pPr indent="0" marL="0">
              <a:buNone/>
            </a:pPr>
            <a:r>
              <a:rPr lang="en-US" sz="1100" b="1" dirty="0">
                <a:solidFill>
                  <a:srgbClr val="00BCD4"/>
                </a:solidFill>
                <a:latin typeface="Calibri" pitchFamily="34" charset="0"/>
                <a:ea typeface="Calibri" pitchFamily="34" charset="-122"/>
                <a:cs typeface="Calibri" pitchFamily="34" charset="-120"/>
              </a:rPr>
              <a:t>Width:  </a:t>
            </a:r>
            <a:pPr indent="0" marL="0">
              <a:buNone/>
            </a:pPr>
            <a:r>
              <a:rPr lang="en-US" sz="1100" dirty="0">
                <a:solidFill>
                  <a:srgbClr val="FFFFFF"/>
                </a:solidFill>
                <a:latin typeface="Calibri" pitchFamily="34" charset="0"/>
                <a:ea typeface="Calibri" pitchFamily="34" charset="-122"/>
                <a:cs typeface="Calibri" pitchFamily="34" charset="-120"/>
              </a:rPr>
              <a:t>Neurons per layer — wider layers capture more features simultaneously</a:t>
            </a:r>
            <a:endParaRPr lang="en-US" sz="1100" dirty="0"/>
          </a:p>
        </p:txBody>
      </p:sp>
      <p:sp>
        <p:nvSpPr>
          <p:cNvPr id="92" name="Text 90"/>
          <p:cNvSpPr/>
          <p:nvPr/>
        </p:nvSpPr>
        <p:spPr>
          <a:xfrm>
            <a:off x="548640" y="4517136"/>
            <a:ext cx="8229600" cy="347472"/>
          </a:xfrm>
          <a:prstGeom prst="rect">
            <a:avLst/>
          </a:prstGeom>
          <a:noFill/>
          <a:ln/>
        </p:spPr>
        <p:txBody>
          <a:bodyPr wrap="square" lIns="0" tIns="0" rIns="0" bIns="0" rtlCol="0" anchor="ctr"/>
          <a:lstStyle/>
          <a:p>
            <a:pPr indent="0" marL="0">
              <a:buNone/>
            </a:pPr>
            <a:r>
              <a:rPr lang="en-US" sz="1100" b="1" dirty="0">
                <a:solidFill>
                  <a:srgbClr val="00BCD4"/>
                </a:solidFill>
                <a:latin typeface="Calibri" pitchFamily="34" charset="0"/>
                <a:ea typeface="Calibri" pitchFamily="34" charset="-122"/>
                <a:cs typeface="Calibri" pitchFamily="34" charset="-120"/>
              </a:rPr>
              <a:t>Connections:  </a:t>
            </a:r>
            <a:pPr indent="0" marL="0">
              <a:buNone/>
            </a:pPr>
            <a:r>
              <a:rPr lang="en-US" sz="1100" dirty="0">
                <a:solidFill>
                  <a:srgbClr val="FFFFFF"/>
                </a:solidFill>
                <a:latin typeface="Calibri" pitchFamily="34" charset="0"/>
                <a:ea typeface="Calibri" pitchFamily="34" charset="-122"/>
                <a:cs typeface="Calibri" pitchFamily="34" charset="-120"/>
              </a:rPr>
              <a:t>Fully connected (dense) vs sparse — trade-off between capacity and efficiency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Training: Backpropagation</a:t>
            </a:r>
            <a:endParaRPr lang="en-US" sz="3200" dirty="0"/>
          </a:p>
        </p:txBody>
      </p:sp>
      <p:sp>
        <p:nvSpPr>
          <p:cNvPr id="3" name="Shape 1"/>
          <p:cNvSpPr/>
          <p:nvPr/>
        </p:nvSpPr>
        <p:spPr>
          <a:xfrm>
            <a:off x="457200" y="868680"/>
            <a:ext cx="8229600" cy="36576"/>
          </a:xfrm>
          <a:prstGeom prst="rect">
            <a:avLst/>
          </a:prstGeom>
          <a:solidFill>
            <a:srgbClr val="4CAF50"/>
          </a:solidFill>
          <a:ln w="12700">
            <a:solidFill>
              <a:srgbClr val="4CAF50"/>
            </a:solidFill>
            <a:prstDash val="solid"/>
          </a:ln>
        </p:spPr>
      </p:sp>
      <p:sp>
        <p:nvSpPr>
          <p:cNvPr id="4" name="Shape 2"/>
          <p:cNvSpPr/>
          <p:nvPr/>
        </p:nvSpPr>
        <p:spPr>
          <a:xfrm>
            <a:off x="365760" y="1005840"/>
            <a:ext cx="4023360" cy="1325880"/>
          </a:xfrm>
          <a:prstGeom prst="rect">
            <a:avLst/>
          </a:prstGeom>
          <a:solidFill>
            <a:srgbClr val="132238"/>
          </a:solidFill>
          <a:ln w="19050">
            <a:solidFill>
              <a:srgbClr val="1E88E5"/>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502920" y="1143000"/>
            <a:ext cx="502920" cy="502920"/>
          </a:xfrm>
          <a:prstGeom prst="ellipse">
            <a:avLst/>
          </a:prstGeom>
          <a:solidFill>
            <a:srgbClr val="1E88E5"/>
          </a:solidFill>
          <a:ln w="12700">
            <a:solidFill>
              <a:srgbClr val="1E88E5"/>
            </a:solidFill>
            <a:prstDash val="solid"/>
          </a:ln>
        </p:spPr>
      </p:sp>
      <p:sp>
        <p:nvSpPr>
          <p:cNvPr id="6" name="Text 4"/>
          <p:cNvSpPr/>
          <p:nvPr/>
        </p:nvSpPr>
        <p:spPr>
          <a:xfrm>
            <a:off x="502920" y="1207008"/>
            <a:ext cx="502920" cy="34747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43000" y="1143000"/>
            <a:ext cx="3108960" cy="411480"/>
          </a:xfrm>
          <a:prstGeom prst="rect">
            <a:avLst/>
          </a:prstGeom>
          <a:noFill/>
          <a:ln/>
        </p:spPr>
        <p:txBody>
          <a:bodyPr wrap="square" lIns="0" tIns="0" rIns="0" bIns="0" rtlCol="0" anchor="ctr"/>
          <a:lstStyle/>
          <a:p>
            <a:pPr indent="0" marL="0">
              <a:buNone/>
            </a:pPr>
            <a:r>
              <a:rPr lang="en-US" sz="1500" b="1" dirty="0">
                <a:solidFill>
                  <a:srgbClr val="1E88E5"/>
                </a:solidFill>
                <a:latin typeface="Calibri" pitchFamily="34" charset="0"/>
                <a:ea typeface="Calibri" pitchFamily="34" charset="-122"/>
                <a:cs typeface="Calibri" pitchFamily="34" charset="-120"/>
              </a:rPr>
              <a:t>Forward Pass</a:t>
            </a:r>
            <a:endParaRPr lang="en-US" sz="1500" dirty="0"/>
          </a:p>
        </p:txBody>
      </p:sp>
      <p:sp>
        <p:nvSpPr>
          <p:cNvPr id="8" name="Text 6"/>
          <p:cNvSpPr/>
          <p:nvPr/>
        </p:nvSpPr>
        <p:spPr>
          <a:xfrm>
            <a:off x="548640" y="1600200"/>
            <a:ext cx="365760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Input flows through network, producing a prediction ŷ</a:t>
            </a:r>
            <a:endParaRPr lang="en-US" sz="1200" dirty="0"/>
          </a:p>
        </p:txBody>
      </p:sp>
      <p:sp>
        <p:nvSpPr>
          <p:cNvPr id="9" name="Shape 7"/>
          <p:cNvSpPr/>
          <p:nvPr/>
        </p:nvSpPr>
        <p:spPr>
          <a:xfrm>
            <a:off x="4754880" y="1005840"/>
            <a:ext cx="4023360" cy="1325880"/>
          </a:xfrm>
          <a:prstGeom prst="rect">
            <a:avLst/>
          </a:prstGeom>
          <a:solidFill>
            <a:srgbClr val="132238"/>
          </a:solidFill>
          <a:ln w="19050">
            <a:solidFill>
              <a:srgbClr val="FFC107"/>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4892040" y="1143000"/>
            <a:ext cx="502920" cy="502920"/>
          </a:xfrm>
          <a:prstGeom prst="ellipse">
            <a:avLst/>
          </a:prstGeom>
          <a:solidFill>
            <a:srgbClr val="FFC107"/>
          </a:solidFill>
          <a:ln w="12700">
            <a:solidFill>
              <a:srgbClr val="FFC107"/>
            </a:solidFill>
            <a:prstDash val="solid"/>
          </a:ln>
        </p:spPr>
      </p:sp>
      <p:sp>
        <p:nvSpPr>
          <p:cNvPr id="11" name="Text 9"/>
          <p:cNvSpPr/>
          <p:nvPr/>
        </p:nvSpPr>
        <p:spPr>
          <a:xfrm>
            <a:off x="4892040" y="1207008"/>
            <a:ext cx="502920" cy="34747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532120" y="1143000"/>
            <a:ext cx="3108960" cy="411480"/>
          </a:xfrm>
          <a:prstGeom prst="rect">
            <a:avLst/>
          </a:prstGeom>
          <a:noFill/>
          <a:ln/>
        </p:spPr>
        <p:txBody>
          <a:bodyPr wrap="square" lIns="0" tIns="0" rIns="0" bIns="0" rtlCol="0" anchor="ctr"/>
          <a:lstStyle/>
          <a:p>
            <a:pPr indent="0" marL="0">
              <a:buNone/>
            </a:pPr>
            <a:r>
              <a:rPr lang="en-US" sz="1500" b="1" dirty="0">
                <a:solidFill>
                  <a:srgbClr val="FFC107"/>
                </a:solidFill>
                <a:latin typeface="Calibri" pitchFamily="34" charset="0"/>
                <a:ea typeface="Calibri" pitchFamily="34" charset="-122"/>
                <a:cs typeface="Calibri" pitchFamily="34" charset="-120"/>
              </a:rPr>
              <a:t>Compute Loss</a:t>
            </a:r>
            <a:endParaRPr lang="en-US" sz="1500" dirty="0"/>
          </a:p>
        </p:txBody>
      </p:sp>
      <p:sp>
        <p:nvSpPr>
          <p:cNvPr id="13" name="Text 11"/>
          <p:cNvSpPr/>
          <p:nvPr/>
        </p:nvSpPr>
        <p:spPr>
          <a:xfrm>
            <a:off x="4937760" y="1600200"/>
            <a:ext cx="365760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Loss = L(y, ŷ): measures error between prediction and truth</a:t>
            </a:r>
            <a:endParaRPr lang="en-US" sz="1200" dirty="0"/>
          </a:p>
        </p:txBody>
      </p:sp>
      <p:sp>
        <p:nvSpPr>
          <p:cNvPr id="14" name="Shape 12"/>
          <p:cNvSpPr/>
          <p:nvPr/>
        </p:nvSpPr>
        <p:spPr>
          <a:xfrm>
            <a:off x="365760" y="2514600"/>
            <a:ext cx="4023360" cy="1325880"/>
          </a:xfrm>
          <a:prstGeom prst="rect">
            <a:avLst/>
          </a:prstGeom>
          <a:solidFill>
            <a:srgbClr val="132238"/>
          </a:solidFill>
          <a:ln w="19050">
            <a:solidFill>
              <a:srgbClr val="00BCD4"/>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502920" y="2651760"/>
            <a:ext cx="502920" cy="502920"/>
          </a:xfrm>
          <a:prstGeom prst="ellipse">
            <a:avLst/>
          </a:prstGeom>
          <a:solidFill>
            <a:srgbClr val="00BCD4"/>
          </a:solidFill>
          <a:ln w="12700">
            <a:solidFill>
              <a:srgbClr val="00BCD4"/>
            </a:solidFill>
            <a:prstDash val="solid"/>
          </a:ln>
        </p:spPr>
      </p:sp>
      <p:sp>
        <p:nvSpPr>
          <p:cNvPr id="16" name="Text 14"/>
          <p:cNvSpPr/>
          <p:nvPr/>
        </p:nvSpPr>
        <p:spPr>
          <a:xfrm>
            <a:off x="502920" y="2715768"/>
            <a:ext cx="502920" cy="34747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143000" y="2651760"/>
            <a:ext cx="3108960" cy="411480"/>
          </a:xfrm>
          <a:prstGeom prst="rect">
            <a:avLst/>
          </a:prstGeom>
          <a:noFill/>
          <a:ln/>
        </p:spPr>
        <p:txBody>
          <a:bodyPr wrap="square" lIns="0" tIns="0" rIns="0" bIns="0" rtlCol="0" anchor="ctr"/>
          <a:lstStyle/>
          <a:p>
            <a:pPr indent="0" marL="0">
              <a:buNone/>
            </a:pPr>
            <a:r>
              <a:rPr lang="en-US" sz="1500" b="1" dirty="0">
                <a:solidFill>
                  <a:srgbClr val="00BCD4"/>
                </a:solidFill>
                <a:latin typeface="Calibri" pitchFamily="34" charset="0"/>
                <a:ea typeface="Calibri" pitchFamily="34" charset="-122"/>
                <a:cs typeface="Calibri" pitchFamily="34" charset="-120"/>
              </a:rPr>
              <a:t>Backward Pass</a:t>
            </a:r>
            <a:endParaRPr lang="en-US" sz="1500" dirty="0"/>
          </a:p>
        </p:txBody>
      </p:sp>
      <p:sp>
        <p:nvSpPr>
          <p:cNvPr id="18" name="Text 16"/>
          <p:cNvSpPr/>
          <p:nvPr/>
        </p:nvSpPr>
        <p:spPr>
          <a:xfrm>
            <a:off x="548640" y="3108960"/>
            <a:ext cx="365760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Compute ∂L/∂w via chain rule, propagating error backwards</a:t>
            </a:r>
            <a:endParaRPr lang="en-US" sz="1200" dirty="0"/>
          </a:p>
        </p:txBody>
      </p:sp>
      <p:sp>
        <p:nvSpPr>
          <p:cNvPr id="19" name="Shape 17"/>
          <p:cNvSpPr/>
          <p:nvPr/>
        </p:nvSpPr>
        <p:spPr>
          <a:xfrm>
            <a:off x="4754880" y="2514600"/>
            <a:ext cx="4023360" cy="1325880"/>
          </a:xfrm>
          <a:prstGeom prst="rect">
            <a:avLst/>
          </a:prstGeom>
          <a:solidFill>
            <a:srgbClr val="132238"/>
          </a:solidFill>
          <a:ln w="19050">
            <a:solidFill>
              <a:srgbClr val="4CAF50"/>
            </a:solidFill>
            <a:prstDash val="solid"/>
          </a:ln>
          <a:effectLst>
            <a:outerShdw sx="100000" sy="100000" kx="0" ky="0" algn="bl" rotWithShape="0" blurRad="101600" dist="38100" dir="8100000">
              <a:srgbClr val="000000">
                <a:alpha val="30000"/>
              </a:srgbClr>
            </a:outerShdw>
          </a:effectLst>
        </p:spPr>
      </p:sp>
      <p:sp>
        <p:nvSpPr>
          <p:cNvPr id="20" name="Shape 18"/>
          <p:cNvSpPr/>
          <p:nvPr/>
        </p:nvSpPr>
        <p:spPr>
          <a:xfrm>
            <a:off x="4892040" y="2651760"/>
            <a:ext cx="502920" cy="502920"/>
          </a:xfrm>
          <a:prstGeom prst="ellipse">
            <a:avLst/>
          </a:prstGeom>
          <a:solidFill>
            <a:srgbClr val="4CAF50"/>
          </a:solidFill>
          <a:ln w="12700">
            <a:solidFill>
              <a:srgbClr val="4CAF50"/>
            </a:solidFill>
            <a:prstDash val="solid"/>
          </a:ln>
        </p:spPr>
      </p:sp>
      <p:sp>
        <p:nvSpPr>
          <p:cNvPr id="21" name="Text 19"/>
          <p:cNvSpPr/>
          <p:nvPr/>
        </p:nvSpPr>
        <p:spPr>
          <a:xfrm>
            <a:off x="4892040" y="2715768"/>
            <a:ext cx="502920" cy="34747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5532120" y="2651760"/>
            <a:ext cx="3108960" cy="411480"/>
          </a:xfrm>
          <a:prstGeom prst="rect">
            <a:avLst/>
          </a:prstGeom>
          <a:noFill/>
          <a:ln/>
        </p:spPr>
        <p:txBody>
          <a:bodyPr wrap="square" lIns="0" tIns="0" rIns="0" bIns="0" rtlCol="0" anchor="ctr"/>
          <a:lstStyle/>
          <a:p>
            <a:pPr indent="0" marL="0">
              <a:buNone/>
            </a:pPr>
            <a:r>
              <a:rPr lang="en-US" sz="1500" b="1" dirty="0">
                <a:solidFill>
                  <a:srgbClr val="4CAF50"/>
                </a:solidFill>
                <a:latin typeface="Calibri" pitchFamily="34" charset="0"/>
                <a:ea typeface="Calibri" pitchFamily="34" charset="-122"/>
                <a:cs typeface="Calibri" pitchFamily="34" charset="-120"/>
              </a:rPr>
              <a:t>Update Weights</a:t>
            </a:r>
            <a:endParaRPr lang="en-US" sz="1500" dirty="0"/>
          </a:p>
        </p:txBody>
      </p:sp>
      <p:sp>
        <p:nvSpPr>
          <p:cNvPr id="23" name="Text 21"/>
          <p:cNvSpPr/>
          <p:nvPr/>
        </p:nvSpPr>
        <p:spPr>
          <a:xfrm>
            <a:off x="4937760" y="3108960"/>
            <a:ext cx="365760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 ← w − η·∂L/∂w (gradient descent with learning rate η)</a:t>
            </a:r>
            <a:endParaRPr lang="en-US" sz="1200" dirty="0"/>
          </a:p>
        </p:txBody>
      </p:sp>
      <p:sp>
        <p:nvSpPr>
          <p:cNvPr id="24" name="Shape 22"/>
          <p:cNvSpPr/>
          <p:nvPr/>
        </p:nvSpPr>
        <p:spPr>
          <a:xfrm>
            <a:off x="365760" y="4069080"/>
            <a:ext cx="8412480" cy="868680"/>
          </a:xfrm>
          <a:prstGeom prst="rect">
            <a:avLst/>
          </a:prstGeom>
          <a:solidFill>
            <a:srgbClr val="0D1F35"/>
          </a:solidFill>
          <a:ln w="12700">
            <a:solidFill>
              <a:srgbClr val="009688"/>
            </a:solidFill>
            <a:prstDash val="solid"/>
          </a:ln>
        </p:spPr>
      </p:sp>
      <p:sp>
        <p:nvSpPr>
          <p:cNvPr id="25" name="Text 23"/>
          <p:cNvSpPr/>
          <p:nvPr/>
        </p:nvSpPr>
        <p:spPr>
          <a:xfrm>
            <a:off x="594360" y="4160520"/>
            <a:ext cx="7955280" cy="365760"/>
          </a:xfrm>
          <a:prstGeom prst="rect">
            <a:avLst/>
          </a:prstGeom>
          <a:noFill/>
          <a:ln/>
        </p:spPr>
        <p:txBody>
          <a:bodyPr wrap="square" lIns="0" tIns="0" rIns="0" bIns="0" rtlCol="0" anchor="ctr"/>
          <a:lstStyle/>
          <a:p>
            <a:pPr indent="0" marL="0">
              <a:buNone/>
            </a:pPr>
            <a:r>
              <a:rPr lang="en-US" sz="1300" dirty="0">
                <a:solidFill>
                  <a:srgbClr val="009688"/>
                </a:solidFill>
                <a:latin typeface="Consolas" pitchFamily="34" charset="0"/>
                <a:ea typeface="Consolas" pitchFamily="34" charset="-122"/>
                <a:cs typeface="Consolas" pitchFamily="34" charset="-120"/>
              </a:rPr>
              <a:t>Chain Rule (Core of Backprop):  ∂L/∂w₁ = (∂L/∂ŷ) × (∂ŷ/∂h) × (∂h/∂w₁)</a:t>
            </a:r>
            <a:endParaRPr lang="en-US" sz="1300" dirty="0"/>
          </a:p>
        </p:txBody>
      </p:sp>
      <p:sp>
        <p:nvSpPr>
          <p:cNvPr id="26" name="Text 24"/>
          <p:cNvSpPr/>
          <p:nvPr/>
        </p:nvSpPr>
        <p:spPr>
          <a:xfrm>
            <a:off x="594360" y="4526280"/>
            <a:ext cx="7955280" cy="320040"/>
          </a:xfrm>
          <a:prstGeom prst="rect">
            <a:avLst/>
          </a:prstGeom>
          <a:noFill/>
          <a:ln/>
        </p:spPr>
        <p:txBody>
          <a:bodyPr wrap="square" lIns="0" tIns="0" rIns="0" bIns="0" rtlCol="0" anchor="ctr"/>
          <a:lstStyle/>
          <a:p>
            <a:pPr indent="0" marL="0">
              <a:buNone/>
            </a:pPr>
            <a:r>
              <a:rPr lang="en-US" sz="1100" dirty="0">
                <a:solidFill>
                  <a:srgbClr val="90CAF9"/>
                </a:solidFill>
                <a:latin typeface="Calibri" pitchFamily="34" charset="0"/>
                <a:ea typeface="Calibri" pitchFamily="34" charset="-122"/>
                <a:cs typeface="Calibri" pitchFamily="34" charset="-120"/>
              </a:rPr>
              <a:t>Gradients flow backwards through each layer using the chain rule of calculus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Types of Neural Networks</a:t>
            </a:r>
            <a:endParaRPr lang="en-US" sz="3200" dirty="0"/>
          </a:p>
        </p:txBody>
      </p:sp>
      <p:sp>
        <p:nvSpPr>
          <p:cNvPr id="3" name="Shape 1"/>
          <p:cNvSpPr/>
          <p:nvPr/>
        </p:nvSpPr>
        <p:spPr>
          <a:xfrm>
            <a:off x="457200" y="868680"/>
            <a:ext cx="8229600" cy="36576"/>
          </a:xfrm>
          <a:prstGeom prst="rect">
            <a:avLst/>
          </a:prstGeom>
          <a:solidFill>
            <a:srgbClr val="7C4DFF"/>
          </a:solidFill>
          <a:ln w="12700">
            <a:solidFill>
              <a:srgbClr val="7C4DFF"/>
            </a:solidFill>
            <a:prstDash val="solid"/>
          </a:ln>
        </p:spPr>
      </p:sp>
      <p:sp>
        <p:nvSpPr>
          <p:cNvPr id="4" name="Shape 2"/>
          <p:cNvSpPr/>
          <p:nvPr/>
        </p:nvSpPr>
        <p:spPr>
          <a:xfrm>
            <a:off x="320040" y="1005840"/>
            <a:ext cx="2697480" cy="1691640"/>
          </a:xfrm>
          <a:prstGeom prst="rect">
            <a:avLst/>
          </a:prstGeom>
          <a:solidFill>
            <a:srgbClr val="132238"/>
          </a:solidFill>
          <a:ln w="12700">
            <a:solidFill>
              <a:srgbClr val="1E88E5"/>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320040" y="1005840"/>
            <a:ext cx="2697480" cy="411480"/>
          </a:xfrm>
          <a:prstGeom prst="rect">
            <a:avLst/>
          </a:prstGeom>
          <a:solidFill>
            <a:srgbClr val="1E88E5">
              <a:alpha val="70000"/>
            </a:srgbClr>
          </a:solidFill>
          <a:ln w="12700">
            <a:solidFill>
              <a:srgbClr val="1E88E5"/>
            </a:solidFill>
            <a:prstDash val="solid"/>
          </a:ln>
        </p:spPr>
      </p:sp>
      <p:sp>
        <p:nvSpPr>
          <p:cNvPr id="6" name="Text 4"/>
          <p:cNvSpPr/>
          <p:nvPr/>
        </p:nvSpPr>
        <p:spPr>
          <a:xfrm>
            <a:off x="429768" y="105156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CNN</a:t>
            </a:r>
            <a:endParaRPr lang="en-US" sz="1400" dirty="0"/>
          </a:p>
        </p:txBody>
      </p:sp>
      <p:sp>
        <p:nvSpPr>
          <p:cNvPr id="7" name="Text 5"/>
          <p:cNvSpPr/>
          <p:nvPr/>
        </p:nvSpPr>
        <p:spPr>
          <a:xfrm>
            <a:off x="411480" y="1463040"/>
            <a:ext cx="2514600" cy="365760"/>
          </a:xfrm>
          <a:prstGeom prst="rect">
            <a:avLst/>
          </a:prstGeom>
          <a:noFill/>
          <a:ln/>
        </p:spPr>
        <p:txBody>
          <a:bodyPr wrap="square" lIns="0" tIns="0" rIns="0" bIns="0" rtlCol="0" anchor="ctr"/>
          <a:lstStyle/>
          <a:p>
            <a:pPr indent="0" marL="0">
              <a:buNone/>
            </a:pPr>
            <a:r>
              <a:rPr lang="en-US" sz="1000" dirty="0">
                <a:solidFill>
                  <a:srgbClr val="1E88E5"/>
                </a:solidFill>
                <a:latin typeface="Calibri" pitchFamily="34" charset="0"/>
                <a:ea typeface="Calibri" pitchFamily="34" charset="-122"/>
                <a:cs typeface="Calibri" pitchFamily="34" charset="-120"/>
              </a:rPr>
              <a:t>Convolutional Neural Network</a:t>
            </a:r>
            <a:endParaRPr lang="en-US" sz="1000" dirty="0"/>
          </a:p>
        </p:txBody>
      </p:sp>
      <p:sp>
        <p:nvSpPr>
          <p:cNvPr id="8" name="Text 6"/>
          <p:cNvSpPr/>
          <p:nvPr/>
        </p:nvSpPr>
        <p:spPr>
          <a:xfrm>
            <a:off x="411480" y="181051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Images, video, spatial data</a:t>
            </a:r>
            <a:endParaRPr lang="en-US" sz="1000" dirty="0"/>
          </a:p>
        </p:txBody>
      </p:sp>
      <p:sp>
        <p:nvSpPr>
          <p:cNvPr id="9" name="Text 7"/>
          <p:cNvSpPr/>
          <p:nvPr/>
        </p:nvSpPr>
        <p:spPr>
          <a:xfrm>
            <a:off x="411480" y="217627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Local receptive fields, weight sharing, pooling</a:t>
            </a:r>
            <a:endParaRPr lang="en-US" sz="1000" dirty="0"/>
          </a:p>
        </p:txBody>
      </p:sp>
      <p:sp>
        <p:nvSpPr>
          <p:cNvPr id="10" name="Shape 8"/>
          <p:cNvSpPr/>
          <p:nvPr/>
        </p:nvSpPr>
        <p:spPr>
          <a:xfrm>
            <a:off x="3200400" y="1005840"/>
            <a:ext cx="2697480" cy="1691640"/>
          </a:xfrm>
          <a:prstGeom prst="rect">
            <a:avLst/>
          </a:prstGeom>
          <a:solidFill>
            <a:srgbClr val="132238"/>
          </a:solidFill>
          <a:ln w="12700">
            <a:solidFill>
              <a:srgbClr val="00BCD4"/>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200400" y="1005840"/>
            <a:ext cx="2697480" cy="411480"/>
          </a:xfrm>
          <a:prstGeom prst="rect">
            <a:avLst/>
          </a:prstGeom>
          <a:solidFill>
            <a:srgbClr val="00BCD4">
              <a:alpha val="70000"/>
            </a:srgbClr>
          </a:solidFill>
          <a:ln w="12700">
            <a:solidFill>
              <a:srgbClr val="00BCD4"/>
            </a:solidFill>
            <a:prstDash val="solid"/>
          </a:ln>
        </p:spPr>
      </p:sp>
      <p:sp>
        <p:nvSpPr>
          <p:cNvPr id="12" name="Text 10"/>
          <p:cNvSpPr/>
          <p:nvPr/>
        </p:nvSpPr>
        <p:spPr>
          <a:xfrm>
            <a:off x="3310128" y="105156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RNN</a:t>
            </a:r>
            <a:endParaRPr lang="en-US" sz="1400" dirty="0"/>
          </a:p>
        </p:txBody>
      </p:sp>
      <p:sp>
        <p:nvSpPr>
          <p:cNvPr id="13" name="Text 11"/>
          <p:cNvSpPr/>
          <p:nvPr/>
        </p:nvSpPr>
        <p:spPr>
          <a:xfrm>
            <a:off x="3291840" y="1463040"/>
            <a:ext cx="2514600" cy="365760"/>
          </a:xfrm>
          <a:prstGeom prst="rect">
            <a:avLst/>
          </a:prstGeom>
          <a:noFill/>
          <a:ln/>
        </p:spPr>
        <p:txBody>
          <a:bodyPr wrap="square" lIns="0" tIns="0" rIns="0" bIns="0" rtlCol="0" anchor="ctr"/>
          <a:lstStyle/>
          <a:p>
            <a:pPr indent="0" marL="0">
              <a:buNone/>
            </a:pPr>
            <a:r>
              <a:rPr lang="en-US" sz="1000" dirty="0">
                <a:solidFill>
                  <a:srgbClr val="00BCD4"/>
                </a:solidFill>
                <a:latin typeface="Calibri" pitchFamily="34" charset="0"/>
                <a:ea typeface="Calibri" pitchFamily="34" charset="-122"/>
                <a:cs typeface="Calibri" pitchFamily="34" charset="-120"/>
              </a:rPr>
              <a:t>Recurrent Neural Network</a:t>
            </a:r>
            <a:endParaRPr lang="en-US" sz="1000" dirty="0"/>
          </a:p>
        </p:txBody>
      </p:sp>
      <p:sp>
        <p:nvSpPr>
          <p:cNvPr id="14" name="Text 12"/>
          <p:cNvSpPr/>
          <p:nvPr/>
        </p:nvSpPr>
        <p:spPr>
          <a:xfrm>
            <a:off x="3291840" y="181051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Sequences, time-series, text</a:t>
            </a:r>
            <a:endParaRPr lang="en-US" sz="1000" dirty="0"/>
          </a:p>
        </p:txBody>
      </p:sp>
      <p:sp>
        <p:nvSpPr>
          <p:cNvPr id="15" name="Text 13"/>
          <p:cNvSpPr/>
          <p:nvPr/>
        </p:nvSpPr>
        <p:spPr>
          <a:xfrm>
            <a:off x="3291840" y="217627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Hidden state, sequential processing, memory</a:t>
            </a:r>
            <a:endParaRPr lang="en-US" sz="1000" dirty="0"/>
          </a:p>
        </p:txBody>
      </p:sp>
      <p:sp>
        <p:nvSpPr>
          <p:cNvPr id="16" name="Shape 14"/>
          <p:cNvSpPr/>
          <p:nvPr/>
        </p:nvSpPr>
        <p:spPr>
          <a:xfrm>
            <a:off x="6080760" y="1005840"/>
            <a:ext cx="2697480" cy="1691640"/>
          </a:xfrm>
          <a:prstGeom prst="rect">
            <a:avLst/>
          </a:prstGeom>
          <a:solidFill>
            <a:srgbClr val="132238"/>
          </a:solidFill>
          <a:ln w="12700">
            <a:solidFill>
              <a:srgbClr val="7C4DFF"/>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6080760" y="1005840"/>
            <a:ext cx="2697480" cy="411480"/>
          </a:xfrm>
          <a:prstGeom prst="rect">
            <a:avLst/>
          </a:prstGeom>
          <a:solidFill>
            <a:srgbClr val="7C4DFF">
              <a:alpha val="70000"/>
            </a:srgbClr>
          </a:solidFill>
          <a:ln w="12700">
            <a:solidFill>
              <a:srgbClr val="7C4DFF"/>
            </a:solidFill>
            <a:prstDash val="solid"/>
          </a:ln>
        </p:spPr>
      </p:sp>
      <p:sp>
        <p:nvSpPr>
          <p:cNvPr id="18" name="Text 16"/>
          <p:cNvSpPr/>
          <p:nvPr/>
        </p:nvSpPr>
        <p:spPr>
          <a:xfrm>
            <a:off x="6190488" y="105156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LSTM</a:t>
            </a:r>
            <a:endParaRPr lang="en-US" sz="1400" dirty="0"/>
          </a:p>
        </p:txBody>
      </p:sp>
      <p:sp>
        <p:nvSpPr>
          <p:cNvPr id="19" name="Text 17"/>
          <p:cNvSpPr/>
          <p:nvPr/>
        </p:nvSpPr>
        <p:spPr>
          <a:xfrm>
            <a:off x="6172200" y="1463040"/>
            <a:ext cx="2514600" cy="365760"/>
          </a:xfrm>
          <a:prstGeom prst="rect">
            <a:avLst/>
          </a:prstGeom>
          <a:noFill/>
          <a:ln/>
        </p:spPr>
        <p:txBody>
          <a:bodyPr wrap="square" lIns="0" tIns="0" rIns="0" bIns="0" rtlCol="0" anchor="ctr"/>
          <a:lstStyle/>
          <a:p>
            <a:pPr indent="0" marL="0">
              <a:buNone/>
            </a:pPr>
            <a:r>
              <a:rPr lang="en-US" sz="1000" dirty="0">
                <a:solidFill>
                  <a:srgbClr val="7C4DFF"/>
                </a:solidFill>
                <a:latin typeface="Calibri" pitchFamily="34" charset="0"/>
                <a:ea typeface="Calibri" pitchFamily="34" charset="-122"/>
                <a:cs typeface="Calibri" pitchFamily="34" charset="-120"/>
              </a:rPr>
              <a:t>Long Short-Term Memory</a:t>
            </a:r>
            <a:endParaRPr lang="en-US" sz="1000" dirty="0"/>
          </a:p>
        </p:txBody>
      </p:sp>
      <p:sp>
        <p:nvSpPr>
          <p:cNvPr id="20" name="Text 18"/>
          <p:cNvSpPr/>
          <p:nvPr/>
        </p:nvSpPr>
        <p:spPr>
          <a:xfrm>
            <a:off x="6172200" y="181051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Long sequences, language modeling</a:t>
            </a:r>
            <a:endParaRPr lang="en-US" sz="1000" dirty="0"/>
          </a:p>
        </p:txBody>
      </p:sp>
      <p:sp>
        <p:nvSpPr>
          <p:cNvPr id="21" name="Text 19"/>
          <p:cNvSpPr/>
          <p:nvPr/>
        </p:nvSpPr>
        <p:spPr>
          <a:xfrm>
            <a:off x="6172200" y="217627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Forget/input/output gates, cell state</a:t>
            </a:r>
            <a:endParaRPr lang="en-US" sz="1000" dirty="0"/>
          </a:p>
        </p:txBody>
      </p:sp>
      <p:sp>
        <p:nvSpPr>
          <p:cNvPr id="22" name="Shape 20"/>
          <p:cNvSpPr/>
          <p:nvPr/>
        </p:nvSpPr>
        <p:spPr>
          <a:xfrm>
            <a:off x="320040" y="2880360"/>
            <a:ext cx="2697480" cy="1691640"/>
          </a:xfrm>
          <a:prstGeom prst="rect">
            <a:avLst/>
          </a:prstGeom>
          <a:solidFill>
            <a:srgbClr val="132238"/>
          </a:solidFill>
          <a:ln w="12700">
            <a:solidFill>
              <a:srgbClr val="4CAF50"/>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320040" y="2880360"/>
            <a:ext cx="2697480" cy="411480"/>
          </a:xfrm>
          <a:prstGeom prst="rect">
            <a:avLst/>
          </a:prstGeom>
          <a:solidFill>
            <a:srgbClr val="4CAF50">
              <a:alpha val="70000"/>
            </a:srgbClr>
          </a:solidFill>
          <a:ln w="12700">
            <a:solidFill>
              <a:srgbClr val="4CAF50"/>
            </a:solidFill>
            <a:prstDash val="solid"/>
          </a:ln>
        </p:spPr>
      </p:sp>
      <p:sp>
        <p:nvSpPr>
          <p:cNvPr id="24" name="Text 22"/>
          <p:cNvSpPr/>
          <p:nvPr/>
        </p:nvSpPr>
        <p:spPr>
          <a:xfrm>
            <a:off x="429768" y="292608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GAN</a:t>
            </a:r>
            <a:endParaRPr lang="en-US" sz="1400" dirty="0"/>
          </a:p>
        </p:txBody>
      </p:sp>
      <p:sp>
        <p:nvSpPr>
          <p:cNvPr id="25" name="Text 23"/>
          <p:cNvSpPr/>
          <p:nvPr/>
        </p:nvSpPr>
        <p:spPr>
          <a:xfrm>
            <a:off x="411480" y="3337560"/>
            <a:ext cx="2514600" cy="365760"/>
          </a:xfrm>
          <a:prstGeom prst="rect">
            <a:avLst/>
          </a:prstGeom>
          <a:noFill/>
          <a:ln/>
        </p:spPr>
        <p:txBody>
          <a:bodyPr wrap="square" lIns="0" tIns="0" rIns="0" bIns="0" rtlCol="0" anchor="ctr"/>
          <a:lstStyle/>
          <a:p>
            <a:pPr indent="0" marL="0">
              <a:buNone/>
            </a:pPr>
            <a:r>
              <a:rPr lang="en-US" sz="1000" dirty="0">
                <a:solidFill>
                  <a:srgbClr val="4CAF50"/>
                </a:solidFill>
                <a:latin typeface="Calibri" pitchFamily="34" charset="0"/>
                <a:ea typeface="Calibri" pitchFamily="34" charset="-122"/>
                <a:cs typeface="Calibri" pitchFamily="34" charset="-120"/>
              </a:rPr>
              <a:t>Generative Adversarial Network</a:t>
            </a:r>
            <a:endParaRPr lang="en-US" sz="1000" dirty="0"/>
          </a:p>
        </p:txBody>
      </p:sp>
      <p:sp>
        <p:nvSpPr>
          <p:cNvPr id="26" name="Text 24"/>
          <p:cNvSpPr/>
          <p:nvPr/>
        </p:nvSpPr>
        <p:spPr>
          <a:xfrm>
            <a:off x="411480" y="368503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Image generation, data augmentation</a:t>
            </a:r>
            <a:endParaRPr lang="en-US" sz="1000" dirty="0"/>
          </a:p>
        </p:txBody>
      </p:sp>
      <p:sp>
        <p:nvSpPr>
          <p:cNvPr id="27" name="Text 25"/>
          <p:cNvSpPr/>
          <p:nvPr/>
        </p:nvSpPr>
        <p:spPr>
          <a:xfrm>
            <a:off x="411480" y="405079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Generator vs discriminator adversarial training</a:t>
            </a:r>
            <a:endParaRPr lang="en-US" sz="1000" dirty="0"/>
          </a:p>
        </p:txBody>
      </p:sp>
      <p:sp>
        <p:nvSpPr>
          <p:cNvPr id="28" name="Shape 26"/>
          <p:cNvSpPr/>
          <p:nvPr/>
        </p:nvSpPr>
        <p:spPr>
          <a:xfrm>
            <a:off x="3200400" y="2880360"/>
            <a:ext cx="2697480" cy="1691640"/>
          </a:xfrm>
          <a:prstGeom prst="rect">
            <a:avLst/>
          </a:prstGeom>
          <a:solidFill>
            <a:srgbClr val="132238"/>
          </a:solidFill>
          <a:ln w="12700">
            <a:solidFill>
              <a:srgbClr val="FFC107"/>
            </a:solidFill>
            <a:prstDash val="solid"/>
          </a:ln>
          <a:effectLst>
            <a:outerShdw sx="100000" sy="100000" kx="0" ky="0" algn="bl" rotWithShape="0" blurRad="101600" dist="38100" dir="8100000">
              <a:srgbClr val="000000">
                <a:alpha val="30000"/>
              </a:srgbClr>
            </a:outerShdw>
          </a:effectLst>
        </p:spPr>
      </p:sp>
      <p:sp>
        <p:nvSpPr>
          <p:cNvPr id="29" name="Shape 27"/>
          <p:cNvSpPr/>
          <p:nvPr/>
        </p:nvSpPr>
        <p:spPr>
          <a:xfrm>
            <a:off x="3200400" y="2880360"/>
            <a:ext cx="2697480" cy="411480"/>
          </a:xfrm>
          <a:prstGeom prst="rect">
            <a:avLst/>
          </a:prstGeom>
          <a:solidFill>
            <a:srgbClr val="FFC107">
              <a:alpha val="70000"/>
            </a:srgbClr>
          </a:solidFill>
          <a:ln w="12700">
            <a:solidFill>
              <a:srgbClr val="FFC107"/>
            </a:solidFill>
            <a:prstDash val="solid"/>
          </a:ln>
        </p:spPr>
      </p:sp>
      <p:sp>
        <p:nvSpPr>
          <p:cNvPr id="30" name="Text 28"/>
          <p:cNvSpPr/>
          <p:nvPr/>
        </p:nvSpPr>
        <p:spPr>
          <a:xfrm>
            <a:off x="3310128" y="292608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Transformer</a:t>
            </a:r>
            <a:endParaRPr lang="en-US" sz="1400" dirty="0"/>
          </a:p>
        </p:txBody>
      </p:sp>
      <p:sp>
        <p:nvSpPr>
          <p:cNvPr id="31" name="Text 29"/>
          <p:cNvSpPr/>
          <p:nvPr/>
        </p:nvSpPr>
        <p:spPr>
          <a:xfrm>
            <a:off x="3291840" y="3337560"/>
            <a:ext cx="2514600" cy="365760"/>
          </a:xfrm>
          <a:prstGeom prst="rect">
            <a:avLst/>
          </a:prstGeom>
          <a:noFill/>
          <a:ln/>
        </p:spPr>
        <p:txBody>
          <a:bodyPr wrap="square" lIns="0" tIns="0" rIns="0" bIns="0" rtlCol="0" anchor="ctr"/>
          <a:lstStyle/>
          <a:p>
            <a:pPr indent="0" marL="0">
              <a:buNone/>
            </a:pPr>
            <a:r>
              <a:rPr lang="en-US" sz="1000" dirty="0">
                <a:solidFill>
                  <a:srgbClr val="FFC107"/>
                </a:solidFill>
                <a:latin typeface="Calibri" pitchFamily="34" charset="0"/>
                <a:ea typeface="Calibri" pitchFamily="34" charset="-122"/>
                <a:cs typeface="Calibri" pitchFamily="34" charset="-120"/>
              </a:rPr>
              <a:t>Attention-based Architecture</a:t>
            </a:r>
            <a:endParaRPr lang="en-US" sz="1000" dirty="0"/>
          </a:p>
        </p:txBody>
      </p:sp>
      <p:sp>
        <p:nvSpPr>
          <p:cNvPr id="32" name="Text 30"/>
          <p:cNvSpPr/>
          <p:nvPr/>
        </p:nvSpPr>
        <p:spPr>
          <a:xfrm>
            <a:off x="3291840" y="368503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NLP, vision, multimodal AI</a:t>
            </a:r>
            <a:endParaRPr lang="en-US" sz="1000" dirty="0"/>
          </a:p>
        </p:txBody>
      </p:sp>
      <p:sp>
        <p:nvSpPr>
          <p:cNvPr id="33" name="Text 31"/>
          <p:cNvSpPr/>
          <p:nvPr/>
        </p:nvSpPr>
        <p:spPr>
          <a:xfrm>
            <a:off x="3291840" y="405079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Self-attention, positional encoding, BERT/GPT</a:t>
            </a:r>
            <a:endParaRPr lang="en-US" sz="1000" dirty="0"/>
          </a:p>
        </p:txBody>
      </p:sp>
      <p:sp>
        <p:nvSpPr>
          <p:cNvPr id="34" name="Shape 32"/>
          <p:cNvSpPr/>
          <p:nvPr/>
        </p:nvSpPr>
        <p:spPr>
          <a:xfrm>
            <a:off x="6080760" y="2880360"/>
            <a:ext cx="2697480" cy="1691640"/>
          </a:xfrm>
          <a:prstGeom prst="rect">
            <a:avLst/>
          </a:prstGeom>
          <a:solidFill>
            <a:srgbClr val="132238"/>
          </a:solidFill>
          <a:ln w="12700">
            <a:solidFill>
              <a:srgbClr val="FF6B6B"/>
            </a:solidFill>
            <a:prstDash val="solid"/>
          </a:ln>
          <a:effectLst>
            <a:outerShdw sx="100000" sy="100000" kx="0" ky="0" algn="bl" rotWithShape="0" blurRad="101600" dist="38100" dir="8100000">
              <a:srgbClr val="000000">
                <a:alpha val="30000"/>
              </a:srgbClr>
            </a:outerShdw>
          </a:effectLst>
        </p:spPr>
      </p:sp>
      <p:sp>
        <p:nvSpPr>
          <p:cNvPr id="35" name="Shape 33"/>
          <p:cNvSpPr/>
          <p:nvPr/>
        </p:nvSpPr>
        <p:spPr>
          <a:xfrm>
            <a:off x="6080760" y="2880360"/>
            <a:ext cx="2697480" cy="411480"/>
          </a:xfrm>
          <a:prstGeom prst="rect">
            <a:avLst/>
          </a:prstGeom>
          <a:solidFill>
            <a:srgbClr val="FF6B6B">
              <a:alpha val="70000"/>
            </a:srgbClr>
          </a:solidFill>
          <a:ln w="12700">
            <a:solidFill>
              <a:srgbClr val="FF6B6B"/>
            </a:solidFill>
            <a:prstDash val="solid"/>
          </a:ln>
        </p:spPr>
      </p:sp>
      <p:sp>
        <p:nvSpPr>
          <p:cNvPr id="36" name="Text 34"/>
          <p:cNvSpPr/>
          <p:nvPr/>
        </p:nvSpPr>
        <p:spPr>
          <a:xfrm>
            <a:off x="6190488" y="2926080"/>
            <a:ext cx="1371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AutoEncoder</a:t>
            </a:r>
            <a:endParaRPr lang="en-US" sz="1400" dirty="0"/>
          </a:p>
        </p:txBody>
      </p:sp>
      <p:sp>
        <p:nvSpPr>
          <p:cNvPr id="37" name="Text 35"/>
          <p:cNvSpPr/>
          <p:nvPr/>
        </p:nvSpPr>
        <p:spPr>
          <a:xfrm>
            <a:off x="6172200" y="3337560"/>
            <a:ext cx="2514600" cy="365760"/>
          </a:xfrm>
          <a:prstGeom prst="rect">
            <a:avLst/>
          </a:prstGeom>
          <a:noFill/>
          <a:ln/>
        </p:spPr>
        <p:txBody>
          <a:bodyPr wrap="square" lIns="0" tIns="0" rIns="0" bIns="0" rtlCol="0" anchor="ctr"/>
          <a:lstStyle/>
          <a:p>
            <a:pPr indent="0" marL="0">
              <a:buNone/>
            </a:pPr>
            <a:r>
              <a:rPr lang="en-US" sz="1000" dirty="0">
                <a:solidFill>
                  <a:srgbClr val="FF6B6B"/>
                </a:solidFill>
                <a:latin typeface="Calibri" pitchFamily="34" charset="0"/>
                <a:ea typeface="Calibri" pitchFamily="34" charset="-122"/>
                <a:cs typeface="Calibri" pitchFamily="34" charset="-120"/>
              </a:rPr>
              <a:t>Encoder-Decoder Network</a:t>
            </a:r>
            <a:endParaRPr lang="en-US" sz="1000" dirty="0"/>
          </a:p>
        </p:txBody>
      </p:sp>
      <p:sp>
        <p:nvSpPr>
          <p:cNvPr id="38" name="Text 36"/>
          <p:cNvSpPr/>
          <p:nvPr/>
        </p:nvSpPr>
        <p:spPr>
          <a:xfrm>
            <a:off x="6172200" y="3685032"/>
            <a:ext cx="2514600" cy="36576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Use: Compression, anomaly detection</a:t>
            </a:r>
            <a:endParaRPr lang="en-US" sz="1000" dirty="0"/>
          </a:p>
        </p:txBody>
      </p:sp>
      <p:sp>
        <p:nvSpPr>
          <p:cNvPr id="39" name="Text 37"/>
          <p:cNvSpPr/>
          <p:nvPr/>
        </p:nvSpPr>
        <p:spPr>
          <a:xfrm>
            <a:off x="6172200" y="4050792"/>
            <a:ext cx="2514600" cy="4114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Latent space representation, reconstruction loss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Loss Functions &amp; Optimizers</a:t>
            </a:r>
            <a:endParaRPr lang="en-US" sz="3200" dirty="0"/>
          </a:p>
        </p:txBody>
      </p:sp>
      <p:sp>
        <p:nvSpPr>
          <p:cNvPr id="3" name="Shape 1"/>
          <p:cNvSpPr/>
          <p:nvPr/>
        </p:nvSpPr>
        <p:spPr>
          <a:xfrm>
            <a:off x="457200" y="868680"/>
            <a:ext cx="8229600" cy="36576"/>
          </a:xfrm>
          <a:prstGeom prst="rect">
            <a:avLst/>
          </a:prstGeom>
          <a:solidFill>
            <a:srgbClr val="00BCD4"/>
          </a:solidFill>
          <a:ln w="12700">
            <a:solidFill>
              <a:srgbClr val="00BCD4"/>
            </a:solidFill>
            <a:prstDash val="solid"/>
          </a:ln>
        </p:spPr>
      </p:sp>
      <p:sp>
        <p:nvSpPr>
          <p:cNvPr id="4" name="Shape 2"/>
          <p:cNvSpPr/>
          <p:nvPr/>
        </p:nvSpPr>
        <p:spPr>
          <a:xfrm>
            <a:off x="365760" y="1005840"/>
            <a:ext cx="4069080" cy="411480"/>
          </a:xfrm>
          <a:prstGeom prst="rect">
            <a:avLst/>
          </a:prstGeom>
          <a:solidFill>
            <a:srgbClr val="1E88E5">
              <a:alpha val="80000"/>
            </a:srgbClr>
          </a:solidFill>
          <a:ln w="12700">
            <a:solidFill>
              <a:srgbClr val="1E88E5"/>
            </a:solidFill>
            <a:prstDash val="solid"/>
          </a:ln>
        </p:spPr>
      </p:sp>
      <p:sp>
        <p:nvSpPr>
          <p:cNvPr id="5" name="Text 3"/>
          <p:cNvSpPr/>
          <p:nvPr/>
        </p:nvSpPr>
        <p:spPr>
          <a:xfrm>
            <a:off x="502920" y="1051560"/>
            <a:ext cx="38404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Loss Functions</a:t>
            </a:r>
            <a:endParaRPr lang="en-US" sz="1500" dirty="0"/>
          </a:p>
        </p:txBody>
      </p:sp>
      <p:sp>
        <p:nvSpPr>
          <p:cNvPr id="6" name="Shape 4"/>
          <p:cNvSpPr/>
          <p:nvPr/>
        </p:nvSpPr>
        <p:spPr>
          <a:xfrm>
            <a:off x="365760" y="1508760"/>
            <a:ext cx="4069080" cy="658368"/>
          </a:xfrm>
          <a:prstGeom prst="rect">
            <a:avLst/>
          </a:prstGeom>
          <a:solidFill>
            <a:srgbClr val="132238"/>
          </a:solidFill>
          <a:ln w="12700">
            <a:solidFill>
              <a:srgbClr val="1E3A5F"/>
            </a:solidFill>
            <a:prstDash val="solid"/>
          </a:ln>
        </p:spPr>
      </p:sp>
      <p:sp>
        <p:nvSpPr>
          <p:cNvPr id="7" name="Text 5"/>
          <p:cNvSpPr/>
          <p:nvPr/>
        </p:nvSpPr>
        <p:spPr>
          <a:xfrm>
            <a:off x="502920" y="1572768"/>
            <a:ext cx="1463040" cy="274320"/>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MSE</a:t>
            </a:r>
            <a:endParaRPr lang="en-US" sz="1200" dirty="0"/>
          </a:p>
        </p:txBody>
      </p:sp>
      <p:sp>
        <p:nvSpPr>
          <p:cNvPr id="8" name="Text 6"/>
          <p:cNvSpPr/>
          <p:nvPr/>
        </p:nvSpPr>
        <p:spPr>
          <a:xfrm>
            <a:off x="502920" y="1856232"/>
            <a:ext cx="1463040" cy="22860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 Regression</a:t>
            </a:r>
            <a:endParaRPr lang="en-US" sz="1000" dirty="0"/>
          </a:p>
        </p:txBody>
      </p:sp>
      <p:sp>
        <p:nvSpPr>
          <p:cNvPr id="9" name="Text 7"/>
          <p:cNvSpPr/>
          <p:nvPr/>
        </p:nvSpPr>
        <p:spPr>
          <a:xfrm>
            <a:off x="2011680" y="1673352"/>
            <a:ext cx="2194560"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Σ(y−ŷ)²/n</a:t>
            </a:r>
            <a:endParaRPr lang="en-US" sz="1100" dirty="0"/>
          </a:p>
        </p:txBody>
      </p:sp>
      <p:sp>
        <p:nvSpPr>
          <p:cNvPr id="10" name="Shape 8"/>
          <p:cNvSpPr/>
          <p:nvPr/>
        </p:nvSpPr>
        <p:spPr>
          <a:xfrm>
            <a:off x="365760" y="2258568"/>
            <a:ext cx="4069080" cy="658368"/>
          </a:xfrm>
          <a:prstGeom prst="rect">
            <a:avLst/>
          </a:prstGeom>
          <a:solidFill>
            <a:srgbClr val="132238"/>
          </a:solidFill>
          <a:ln w="12700">
            <a:solidFill>
              <a:srgbClr val="1E3A5F"/>
            </a:solidFill>
            <a:prstDash val="solid"/>
          </a:ln>
        </p:spPr>
      </p:sp>
      <p:sp>
        <p:nvSpPr>
          <p:cNvPr id="11" name="Text 9"/>
          <p:cNvSpPr/>
          <p:nvPr/>
        </p:nvSpPr>
        <p:spPr>
          <a:xfrm>
            <a:off x="502920" y="2322576"/>
            <a:ext cx="1463040" cy="274320"/>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Cross-Entropy</a:t>
            </a:r>
            <a:endParaRPr lang="en-US" sz="1200" dirty="0"/>
          </a:p>
        </p:txBody>
      </p:sp>
      <p:sp>
        <p:nvSpPr>
          <p:cNvPr id="12" name="Text 10"/>
          <p:cNvSpPr/>
          <p:nvPr/>
        </p:nvSpPr>
        <p:spPr>
          <a:xfrm>
            <a:off x="502920" y="2606040"/>
            <a:ext cx="1463040" cy="22860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 Classification</a:t>
            </a:r>
            <a:endParaRPr lang="en-US" sz="1000" dirty="0"/>
          </a:p>
        </p:txBody>
      </p:sp>
      <p:sp>
        <p:nvSpPr>
          <p:cNvPr id="13" name="Text 11"/>
          <p:cNvSpPr/>
          <p:nvPr/>
        </p:nvSpPr>
        <p:spPr>
          <a:xfrm>
            <a:off x="2011680" y="2423160"/>
            <a:ext cx="2194560"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−Σ y·log(ŷ)</a:t>
            </a:r>
            <a:endParaRPr lang="en-US" sz="1100" dirty="0"/>
          </a:p>
        </p:txBody>
      </p:sp>
      <p:sp>
        <p:nvSpPr>
          <p:cNvPr id="14" name="Shape 12"/>
          <p:cNvSpPr/>
          <p:nvPr/>
        </p:nvSpPr>
        <p:spPr>
          <a:xfrm>
            <a:off x="365760" y="3008376"/>
            <a:ext cx="4069080" cy="658368"/>
          </a:xfrm>
          <a:prstGeom prst="rect">
            <a:avLst/>
          </a:prstGeom>
          <a:solidFill>
            <a:srgbClr val="132238"/>
          </a:solidFill>
          <a:ln w="12700">
            <a:solidFill>
              <a:srgbClr val="1E3A5F"/>
            </a:solidFill>
            <a:prstDash val="solid"/>
          </a:ln>
        </p:spPr>
      </p:sp>
      <p:sp>
        <p:nvSpPr>
          <p:cNvPr id="15" name="Text 13"/>
          <p:cNvSpPr/>
          <p:nvPr/>
        </p:nvSpPr>
        <p:spPr>
          <a:xfrm>
            <a:off x="502920" y="3072384"/>
            <a:ext cx="1463040" cy="274320"/>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Binary CE</a:t>
            </a:r>
            <a:endParaRPr lang="en-US" sz="1200" dirty="0"/>
          </a:p>
        </p:txBody>
      </p:sp>
      <p:sp>
        <p:nvSpPr>
          <p:cNvPr id="16" name="Text 14"/>
          <p:cNvSpPr/>
          <p:nvPr/>
        </p:nvSpPr>
        <p:spPr>
          <a:xfrm>
            <a:off x="502920" y="3355848"/>
            <a:ext cx="1463040" cy="22860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 Binary tasks</a:t>
            </a:r>
            <a:endParaRPr lang="en-US" sz="1000" dirty="0"/>
          </a:p>
        </p:txBody>
      </p:sp>
      <p:sp>
        <p:nvSpPr>
          <p:cNvPr id="17" name="Text 15"/>
          <p:cNvSpPr/>
          <p:nvPr/>
        </p:nvSpPr>
        <p:spPr>
          <a:xfrm>
            <a:off x="2011680" y="3172968"/>
            <a:ext cx="2194560"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−[y·log(ŷ)+(1−y)·log(1−ŷ)]</a:t>
            </a:r>
            <a:endParaRPr lang="en-US" sz="1100" dirty="0"/>
          </a:p>
        </p:txBody>
      </p:sp>
      <p:sp>
        <p:nvSpPr>
          <p:cNvPr id="18" name="Shape 16"/>
          <p:cNvSpPr/>
          <p:nvPr/>
        </p:nvSpPr>
        <p:spPr>
          <a:xfrm>
            <a:off x="365760" y="3758184"/>
            <a:ext cx="4069080" cy="658368"/>
          </a:xfrm>
          <a:prstGeom prst="rect">
            <a:avLst/>
          </a:prstGeom>
          <a:solidFill>
            <a:srgbClr val="132238"/>
          </a:solidFill>
          <a:ln w="12700">
            <a:solidFill>
              <a:srgbClr val="1E3A5F"/>
            </a:solidFill>
            <a:prstDash val="solid"/>
          </a:ln>
        </p:spPr>
      </p:sp>
      <p:sp>
        <p:nvSpPr>
          <p:cNvPr id="19" name="Text 17"/>
          <p:cNvSpPr/>
          <p:nvPr/>
        </p:nvSpPr>
        <p:spPr>
          <a:xfrm>
            <a:off x="502920" y="3822192"/>
            <a:ext cx="1463040" cy="274320"/>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Huber Loss</a:t>
            </a:r>
            <a:endParaRPr lang="en-US" sz="1200" dirty="0"/>
          </a:p>
        </p:txBody>
      </p:sp>
      <p:sp>
        <p:nvSpPr>
          <p:cNvPr id="20" name="Text 18"/>
          <p:cNvSpPr/>
          <p:nvPr/>
        </p:nvSpPr>
        <p:spPr>
          <a:xfrm>
            <a:off x="502920" y="4105656"/>
            <a:ext cx="1463040" cy="228600"/>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 Robust regression</a:t>
            </a:r>
            <a:endParaRPr lang="en-US" sz="1000" dirty="0"/>
          </a:p>
        </p:txBody>
      </p:sp>
      <p:sp>
        <p:nvSpPr>
          <p:cNvPr id="21" name="Text 19"/>
          <p:cNvSpPr/>
          <p:nvPr/>
        </p:nvSpPr>
        <p:spPr>
          <a:xfrm>
            <a:off x="2011680" y="3922776"/>
            <a:ext cx="2194560"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δ²/2 if |e|&lt;δ, else δ|e|−δ²/2</a:t>
            </a:r>
            <a:endParaRPr lang="en-US" sz="1100" dirty="0"/>
          </a:p>
        </p:txBody>
      </p:sp>
      <p:sp>
        <p:nvSpPr>
          <p:cNvPr id="22" name="Shape 20"/>
          <p:cNvSpPr/>
          <p:nvPr/>
        </p:nvSpPr>
        <p:spPr>
          <a:xfrm>
            <a:off x="4709160" y="1005840"/>
            <a:ext cx="4069080" cy="411480"/>
          </a:xfrm>
          <a:prstGeom prst="rect">
            <a:avLst/>
          </a:prstGeom>
          <a:solidFill>
            <a:srgbClr val="009688">
              <a:alpha val="80000"/>
            </a:srgbClr>
          </a:solidFill>
          <a:ln w="12700">
            <a:solidFill>
              <a:srgbClr val="009688"/>
            </a:solidFill>
            <a:prstDash val="solid"/>
          </a:ln>
        </p:spPr>
      </p:sp>
      <p:sp>
        <p:nvSpPr>
          <p:cNvPr id="23" name="Text 21"/>
          <p:cNvSpPr/>
          <p:nvPr/>
        </p:nvSpPr>
        <p:spPr>
          <a:xfrm>
            <a:off x="4846320" y="1051560"/>
            <a:ext cx="38404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Optimizers</a:t>
            </a:r>
            <a:endParaRPr lang="en-US" sz="1500" dirty="0"/>
          </a:p>
        </p:txBody>
      </p:sp>
      <p:sp>
        <p:nvSpPr>
          <p:cNvPr id="24" name="Shape 22"/>
          <p:cNvSpPr/>
          <p:nvPr/>
        </p:nvSpPr>
        <p:spPr>
          <a:xfrm>
            <a:off x="4709160" y="1508760"/>
            <a:ext cx="4069080" cy="658368"/>
          </a:xfrm>
          <a:prstGeom prst="rect">
            <a:avLst/>
          </a:prstGeom>
          <a:solidFill>
            <a:srgbClr val="132238"/>
          </a:solidFill>
          <a:ln w="12700">
            <a:solidFill>
              <a:srgbClr val="90CAF9"/>
            </a:solidFill>
            <a:prstDash val="solid"/>
          </a:ln>
        </p:spPr>
      </p:sp>
      <p:sp>
        <p:nvSpPr>
          <p:cNvPr id="25" name="Shape 23"/>
          <p:cNvSpPr/>
          <p:nvPr/>
        </p:nvSpPr>
        <p:spPr>
          <a:xfrm>
            <a:off x="4709160" y="1508760"/>
            <a:ext cx="54864" cy="658368"/>
          </a:xfrm>
          <a:prstGeom prst="rect">
            <a:avLst/>
          </a:prstGeom>
          <a:solidFill>
            <a:srgbClr val="90CAF9"/>
          </a:solidFill>
          <a:ln w="12700">
            <a:solidFill>
              <a:srgbClr val="90CAF9"/>
            </a:solidFill>
            <a:prstDash val="solid"/>
          </a:ln>
        </p:spPr>
      </p:sp>
      <p:sp>
        <p:nvSpPr>
          <p:cNvPr id="26" name="Text 24"/>
          <p:cNvSpPr/>
          <p:nvPr/>
        </p:nvSpPr>
        <p:spPr>
          <a:xfrm>
            <a:off x="4846320" y="1572768"/>
            <a:ext cx="1097280" cy="274320"/>
          </a:xfrm>
          <a:prstGeom prst="rect">
            <a:avLst/>
          </a:prstGeom>
          <a:noFill/>
          <a:ln/>
        </p:spPr>
        <p:txBody>
          <a:bodyPr wrap="square" lIns="0" tIns="0" rIns="0" bIns="0" rtlCol="0" anchor="ctr"/>
          <a:lstStyle/>
          <a:p>
            <a:pPr indent="0" marL="0">
              <a:buNone/>
            </a:pPr>
            <a:r>
              <a:rPr lang="en-US" sz="1300" b="1" dirty="0">
                <a:solidFill>
                  <a:srgbClr val="90CAF9"/>
                </a:solidFill>
                <a:latin typeface="Calibri" pitchFamily="34" charset="0"/>
                <a:ea typeface="Calibri" pitchFamily="34" charset="-122"/>
                <a:cs typeface="Calibri" pitchFamily="34" charset="-120"/>
              </a:rPr>
              <a:t>SGD</a:t>
            </a:r>
            <a:endParaRPr lang="en-US" sz="1300" dirty="0"/>
          </a:p>
        </p:txBody>
      </p:sp>
      <p:sp>
        <p:nvSpPr>
          <p:cNvPr id="27" name="Text 25"/>
          <p:cNvSpPr/>
          <p:nvPr/>
        </p:nvSpPr>
        <p:spPr>
          <a:xfrm>
            <a:off x="4846320" y="1856232"/>
            <a:ext cx="3749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 ← w − η∇L  (basic gradient descent)</a:t>
            </a:r>
            <a:endParaRPr lang="en-US" sz="1100" dirty="0"/>
          </a:p>
        </p:txBody>
      </p:sp>
      <p:sp>
        <p:nvSpPr>
          <p:cNvPr id="28" name="Shape 26"/>
          <p:cNvSpPr/>
          <p:nvPr/>
        </p:nvSpPr>
        <p:spPr>
          <a:xfrm>
            <a:off x="4709160" y="2258568"/>
            <a:ext cx="4069080" cy="658368"/>
          </a:xfrm>
          <a:prstGeom prst="rect">
            <a:avLst/>
          </a:prstGeom>
          <a:solidFill>
            <a:srgbClr val="132238"/>
          </a:solidFill>
          <a:ln w="12700">
            <a:solidFill>
              <a:srgbClr val="1E88E5"/>
            </a:solidFill>
            <a:prstDash val="solid"/>
          </a:ln>
        </p:spPr>
      </p:sp>
      <p:sp>
        <p:nvSpPr>
          <p:cNvPr id="29" name="Shape 27"/>
          <p:cNvSpPr/>
          <p:nvPr/>
        </p:nvSpPr>
        <p:spPr>
          <a:xfrm>
            <a:off x="4709160" y="2258568"/>
            <a:ext cx="54864" cy="658368"/>
          </a:xfrm>
          <a:prstGeom prst="rect">
            <a:avLst/>
          </a:prstGeom>
          <a:solidFill>
            <a:srgbClr val="1E88E5"/>
          </a:solidFill>
          <a:ln w="12700">
            <a:solidFill>
              <a:srgbClr val="1E88E5"/>
            </a:solidFill>
            <a:prstDash val="solid"/>
          </a:ln>
        </p:spPr>
      </p:sp>
      <p:sp>
        <p:nvSpPr>
          <p:cNvPr id="30" name="Text 28"/>
          <p:cNvSpPr/>
          <p:nvPr/>
        </p:nvSpPr>
        <p:spPr>
          <a:xfrm>
            <a:off x="4846320" y="2322576"/>
            <a:ext cx="1097280" cy="274320"/>
          </a:xfrm>
          <a:prstGeom prst="rect">
            <a:avLst/>
          </a:prstGeom>
          <a:noFill/>
          <a:ln/>
        </p:spPr>
        <p:txBody>
          <a:bodyPr wrap="square" lIns="0" tIns="0" rIns="0" bIns="0" rtlCol="0" anchor="ctr"/>
          <a:lstStyle/>
          <a:p>
            <a:pPr indent="0" marL="0">
              <a:buNone/>
            </a:pPr>
            <a:r>
              <a:rPr lang="en-US" sz="1300" b="1" dirty="0">
                <a:solidFill>
                  <a:srgbClr val="1E88E5"/>
                </a:solidFill>
                <a:latin typeface="Calibri" pitchFamily="34" charset="0"/>
                <a:ea typeface="Calibri" pitchFamily="34" charset="-122"/>
                <a:cs typeface="Calibri" pitchFamily="34" charset="-120"/>
              </a:rPr>
              <a:t>Momentum</a:t>
            </a:r>
            <a:endParaRPr lang="en-US" sz="1300" dirty="0"/>
          </a:p>
        </p:txBody>
      </p:sp>
      <p:sp>
        <p:nvSpPr>
          <p:cNvPr id="31" name="Text 29"/>
          <p:cNvSpPr/>
          <p:nvPr/>
        </p:nvSpPr>
        <p:spPr>
          <a:xfrm>
            <a:off x="4846320" y="2606040"/>
            <a:ext cx="3749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Accumulates velocity in gradient direction</a:t>
            </a:r>
            <a:endParaRPr lang="en-US" sz="1100" dirty="0"/>
          </a:p>
        </p:txBody>
      </p:sp>
      <p:sp>
        <p:nvSpPr>
          <p:cNvPr id="32" name="Shape 30"/>
          <p:cNvSpPr/>
          <p:nvPr/>
        </p:nvSpPr>
        <p:spPr>
          <a:xfrm>
            <a:off x="4709160" y="3008376"/>
            <a:ext cx="4069080" cy="658368"/>
          </a:xfrm>
          <a:prstGeom prst="rect">
            <a:avLst/>
          </a:prstGeom>
          <a:solidFill>
            <a:srgbClr val="132238"/>
          </a:solidFill>
          <a:ln w="12700">
            <a:solidFill>
              <a:srgbClr val="00BCD4"/>
            </a:solidFill>
            <a:prstDash val="solid"/>
          </a:ln>
        </p:spPr>
      </p:sp>
      <p:sp>
        <p:nvSpPr>
          <p:cNvPr id="33" name="Shape 31"/>
          <p:cNvSpPr/>
          <p:nvPr/>
        </p:nvSpPr>
        <p:spPr>
          <a:xfrm>
            <a:off x="4709160" y="3008376"/>
            <a:ext cx="54864" cy="658368"/>
          </a:xfrm>
          <a:prstGeom prst="rect">
            <a:avLst/>
          </a:prstGeom>
          <a:solidFill>
            <a:srgbClr val="00BCD4"/>
          </a:solidFill>
          <a:ln w="12700">
            <a:solidFill>
              <a:srgbClr val="00BCD4"/>
            </a:solidFill>
            <a:prstDash val="solid"/>
          </a:ln>
        </p:spPr>
      </p:sp>
      <p:sp>
        <p:nvSpPr>
          <p:cNvPr id="34" name="Text 32"/>
          <p:cNvSpPr/>
          <p:nvPr/>
        </p:nvSpPr>
        <p:spPr>
          <a:xfrm>
            <a:off x="4846320" y="3072384"/>
            <a:ext cx="1097280" cy="274320"/>
          </a:xfrm>
          <a:prstGeom prst="rect">
            <a:avLst/>
          </a:prstGeom>
          <a:noFill/>
          <a:ln/>
        </p:spPr>
        <p:txBody>
          <a:bodyPr wrap="square" lIns="0" tIns="0" rIns="0" bIns="0" rtlCol="0" anchor="ctr"/>
          <a:lstStyle/>
          <a:p>
            <a:pPr indent="0" marL="0">
              <a:buNone/>
            </a:pPr>
            <a:r>
              <a:rPr lang="en-US" sz="1300" b="1" dirty="0">
                <a:solidFill>
                  <a:srgbClr val="00BCD4"/>
                </a:solidFill>
                <a:latin typeface="Calibri" pitchFamily="34" charset="0"/>
                <a:ea typeface="Calibri" pitchFamily="34" charset="-122"/>
                <a:cs typeface="Calibri" pitchFamily="34" charset="-120"/>
              </a:rPr>
              <a:t>RMSprop</a:t>
            </a:r>
            <a:endParaRPr lang="en-US" sz="1300" dirty="0"/>
          </a:p>
        </p:txBody>
      </p:sp>
      <p:sp>
        <p:nvSpPr>
          <p:cNvPr id="35" name="Text 33"/>
          <p:cNvSpPr/>
          <p:nvPr/>
        </p:nvSpPr>
        <p:spPr>
          <a:xfrm>
            <a:off x="4846320" y="3355848"/>
            <a:ext cx="3749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Adapts learning rate per parameter</a:t>
            </a:r>
            <a:endParaRPr lang="en-US" sz="1100" dirty="0"/>
          </a:p>
        </p:txBody>
      </p:sp>
      <p:sp>
        <p:nvSpPr>
          <p:cNvPr id="36" name="Shape 34"/>
          <p:cNvSpPr/>
          <p:nvPr/>
        </p:nvSpPr>
        <p:spPr>
          <a:xfrm>
            <a:off x="4709160" y="3758184"/>
            <a:ext cx="4069080" cy="658368"/>
          </a:xfrm>
          <a:prstGeom prst="rect">
            <a:avLst/>
          </a:prstGeom>
          <a:solidFill>
            <a:srgbClr val="132238"/>
          </a:solidFill>
          <a:ln w="12700">
            <a:solidFill>
              <a:srgbClr val="4CAF50"/>
            </a:solidFill>
            <a:prstDash val="solid"/>
          </a:ln>
        </p:spPr>
      </p:sp>
      <p:sp>
        <p:nvSpPr>
          <p:cNvPr id="37" name="Shape 35"/>
          <p:cNvSpPr/>
          <p:nvPr/>
        </p:nvSpPr>
        <p:spPr>
          <a:xfrm>
            <a:off x="4709160" y="3758184"/>
            <a:ext cx="54864" cy="658368"/>
          </a:xfrm>
          <a:prstGeom prst="rect">
            <a:avLst/>
          </a:prstGeom>
          <a:solidFill>
            <a:srgbClr val="4CAF50"/>
          </a:solidFill>
          <a:ln w="12700">
            <a:solidFill>
              <a:srgbClr val="4CAF50"/>
            </a:solidFill>
            <a:prstDash val="solid"/>
          </a:ln>
        </p:spPr>
      </p:sp>
      <p:sp>
        <p:nvSpPr>
          <p:cNvPr id="38" name="Text 36"/>
          <p:cNvSpPr/>
          <p:nvPr/>
        </p:nvSpPr>
        <p:spPr>
          <a:xfrm>
            <a:off x="4846320" y="3822192"/>
            <a:ext cx="1097280" cy="274320"/>
          </a:xfrm>
          <a:prstGeom prst="rect">
            <a:avLst/>
          </a:prstGeom>
          <a:noFill/>
          <a:ln/>
        </p:spPr>
        <p:txBody>
          <a:bodyPr wrap="square" lIns="0" tIns="0" rIns="0" bIns="0" rtlCol="0" anchor="ctr"/>
          <a:lstStyle/>
          <a:p>
            <a:pPr indent="0" marL="0">
              <a:buNone/>
            </a:pPr>
            <a:r>
              <a:rPr lang="en-US" sz="1300" b="1" dirty="0">
                <a:solidFill>
                  <a:srgbClr val="4CAF50"/>
                </a:solidFill>
                <a:latin typeface="Calibri" pitchFamily="34" charset="0"/>
                <a:ea typeface="Calibri" pitchFamily="34" charset="-122"/>
                <a:cs typeface="Calibri" pitchFamily="34" charset="-120"/>
              </a:rPr>
              <a:t>Adam</a:t>
            </a:r>
            <a:endParaRPr lang="en-US" sz="1300" dirty="0"/>
          </a:p>
        </p:txBody>
      </p:sp>
      <p:sp>
        <p:nvSpPr>
          <p:cNvPr id="39" name="Text 37"/>
          <p:cNvSpPr/>
          <p:nvPr/>
        </p:nvSpPr>
        <p:spPr>
          <a:xfrm>
            <a:off x="4846320" y="4105656"/>
            <a:ext cx="3749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Momentum + RMSprop: most popular optimizer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Regularization Techniques</a:t>
            </a:r>
            <a:endParaRPr lang="en-US" sz="3200" dirty="0"/>
          </a:p>
        </p:txBody>
      </p:sp>
      <p:sp>
        <p:nvSpPr>
          <p:cNvPr id="3" name="Shape 1"/>
          <p:cNvSpPr/>
          <p:nvPr/>
        </p:nvSpPr>
        <p:spPr>
          <a:xfrm>
            <a:off x="457200" y="868680"/>
            <a:ext cx="8229600" cy="36576"/>
          </a:xfrm>
          <a:prstGeom prst="rect">
            <a:avLst/>
          </a:prstGeom>
          <a:solidFill>
            <a:srgbClr val="FF6B6B"/>
          </a:solidFill>
          <a:ln w="12700">
            <a:solidFill>
              <a:srgbClr val="FF6B6B"/>
            </a:solidFill>
            <a:prstDash val="solid"/>
          </a:ln>
        </p:spPr>
      </p:sp>
      <p:sp>
        <p:nvSpPr>
          <p:cNvPr id="4" name="Text 2"/>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90CAF9"/>
                </a:solidFill>
                <a:latin typeface="Calibri" pitchFamily="34" charset="0"/>
                <a:ea typeface="Calibri" pitchFamily="34" charset="-122"/>
                <a:cs typeface="Calibri" pitchFamily="34" charset="-120"/>
              </a:rPr>
              <a:t>Preventing overfitting: balancing model complexity with generalization</a:t>
            </a:r>
            <a:endParaRPr lang="en-US" sz="1300" dirty="0"/>
          </a:p>
        </p:txBody>
      </p:sp>
      <p:sp>
        <p:nvSpPr>
          <p:cNvPr id="5" name="Shape 3"/>
          <p:cNvSpPr/>
          <p:nvPr/>
        </p:nvSpPr>
        <p:spPr>
          <a:xfrm>
            <a:off x="365760" y="1417320"/>
            <a:ext cx="2560320" cy="822960"/>
          </a:xfrm>
          <a:prstGeom prst="rect">
            <a:avLst/>
          </a:prstGeom>
          <a:solidFill>
            <a:srgbClr val="132238"/>
          </a:solidFill>
          <a:ln w="25400">
            <a:solidFill>
              <a:srgbClr val="1E88E5"/>
            </a:solidFill>
            <a:prstDash val="solid"/>
          </a:ln>
        </p:spPr>
      </p:sp>
      <p:sp>
        <p:nvSpPr>
          <p:cNvPr id="6" name="Text 4"/>
          <p:cNvSpPr/>
          <p:nvPr/>
        </p:nvSpPr>
        <p:spPr>
          <a:xfrm>
            <a:off x="502920" y="1481328"/>
            <a:ext cx="2286000" cy="320040"/>
          </a:xfrm>
          <a:prstGeom prst="rect">
            <a:avLst/>
          </a:prstGeom>
          <a:noFill/>
          <a:ln/>
        </p:spPr>
        <p:txBody>
          <a:bodyPr wrap="square" lIns="0" tIns="0" rIns="0" bIns="0" rtlCol="0" anchor="ctr"/>
          <a:lstStyle/>
          <a:p>
            <a:pPr indent="0" marL="0">
              <a:buNone/>
            </a:pPr>
            <a:r>
              <a:rPr lang="en-US" sz="1300" b="1" dirty="0">
                <a:solidFill>
                  <a:srgbClr val="1E88E5"/>
                </a:solidFill>
                <a:latin typeface="Calibri" pitchFamily="34" charset="0"/>
                <a:ea typeface="Calibri" pitchFamily="34" charset="-122"/>
                <a:cs typeface="Calibri" pitchFamily="34" charset="-120"/>
              </a:rPr>
              <a:t>Underfitting</a:t>
            </a:r>
            <a:endParaRPr lang="en-US" sz="1300" dirty="0"/>
          </a:p>
        </p:txBody>
      </p:sp>
      <p:sp>
        <p:nvSpPr>
          <p:cNvPr id="7" name="Text 5"/>
          <p:cNvSpPr/>
          <p:nvPr/>
        </p:nvSpPr>
        <p:spPr>
          <a:xfrm>
            <a:off x="502920" y="1801368"/>
            <a:ext cx="22860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Model too simple, fails to capture patterns</a:t>
            </a:r>
            <a:endParaRPr lang="en-US" sz="1000" dirty="0"/>
          </a:p>
        </p:txBody>
      </p:sp>
      <p:sp>
        <p:nvSpPr>
          <p:cNvPr id="8" name="Shape 6"/>
          <p:cNvSpPr/>
          <p:nvPr/>
        </p:nvSpPr>
        <p:spPr>
          <a:xfrm>
            <a:off x="3200400" y="1417320"/>
            <a:ext cx="2560320" cy="822960"/>
          </a:xfrm>
          <a:prstGeom prst="rect">
            <a:avLst/>
          </a:prstGeom>
          <a:solidFill>
            <a:srgbClr val="132238"/>
          </a:solidFill>
          <a:ln w="25400">
            <a:solidFill>
              <a:srgbClr val="4CAF50"/>
            </a:solidFill>
            <a:prstDash val="solid"/>
          </a:ln>
        </p:spPr>
      </p:sp>
      <p:sp>
        <p:nvSpPr>
          <p:cNvPr id="9" name="Text 7"/>
          <p:cNvSpPr/>
          <p:nvPr/>
        </p:nvSpPr>
        <p:spPr>
          <a:xfrm>
            <a:off x="3337560" y="1481328"/>
            <a:ext cx="2286000" cy="320040"/>
          </a:xfrm>
          <a:prstGeom prst="rect">
            <a:avLst/>
          </a:prstGeom>
          <a:noFill/>
          <a:ln/>
        </p:spPr>
        <p:txBody>
          <a:bodyPr wrap="square" lIns="0" tIns="0" rIns="0" bIns="0" rtlCol="0" anchor="ctr"/>
          <a:lstStyle/>
          <a:p>
            <a:pPr indent="0" marL="0">
              <a:buNone/>
            </a:pPr>
            <a:r>
              <a:rPr lang="en-US" sz="1300" b="1" dirty="0">
                <a:solidFill>
                  <a:srgbClr val="4CAF50"/>
                </a:solidFill>
                <a:latin typeface="Calibri" pitchFamily="34" charset="0"/>
                <a:ea typeface="Calibri" pitchFamily="34" charset="-122"/>
                <a:cs typeface="Calibri" pitchFamily="34" charset="-120"/>
              </a:rPr>
              <a:t>Good Fit</a:t>
            </a:r>
            <a:endParaRPr lang="en-US" sz="1300" dirty="0"/>
          </a:p>
        </p:txBody>
      </p:sp>
      <p:sp>
        <p:nvSpPr>
          <p:cNvPr id="10" name="Text 8"/>
          <p:cNvSpPr/>
          <p:nvPr/>
        </p:nvSpPr>
        <p:spPr>
          <a:xfrm>
            <a:off x="3337560" y="1801368"/>
            <a:ext cx="22860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Balanced: learns patterns, generalizes well</a:t>
            </a:r>
            <a:endParaRPr lang="en-US" sz="1000" dirty="0"/>
          </a:p>
        </p:txBody>
      </p:sp>
      <p:sp>
        <p:nvSpPr>
          <p:cNvPr id="11" name="Shape 9"/>
          <p:cNvSpPr/>
          <p:nvPr/>
        </p:nvSpPr>
        <p:spPr>
          <a:xfrm>
            <a:off x="6035040" y="1417320"/>
            <a:ext cx="2560320" cy="822960"/>
          </a:xfrm>
          <a:prstGeom prst="rect">
            <a:avLst/>
          </a:prstGeom>
          <a:solidFill>
            <a:srgbClr val="132238"/>
          </a:solidFill>
          <a:ln w="25400">
            <a:solidFill>
              <a:srgbClr val="FF6B6B"/>
            </a:solidFill>
            <a:prstDash val="solid"/>
          </a:ln>
        </p:spPr>
      </p:sp>
      <p:sp>
        <p:nvSpPr>
          <p:cNvPr id="12" name="Text 10"/>
          <p:cNvSpPr/>
          <p:nvPr/>
        </p:nvSpPr>
        <p:spPr>
          <a:xfrm>
            <a:off x="6172200" y="1481328"/>
            <a:ext cx="2286000" cy="32004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Overfitting</a:t>
            </a:r>
            <a:endParaRPr lang="en-US" sz="1300" dirty="0"/>
          </a:p>
        </p:txBody>
      </p:sp>
      <p:sp>
        <p:nvSpPr>
          <p:cNvPr id="13" name="Text 11"/>
          <p:cNvSpPr/>
          <p:nvPr/>
        </p:nvSpPr>
        <p:spPr>
          <a:xfrm>
            <a:off x="6172200" y="1801368"/>
            <a:ext cx="2286000" cy="3657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Memorizes training data, poor on new data</a:t>
            </a:r>
            <a:endParaRPr lang="en-US" sz="1000" dirty="0"/>
          </a:p>
        </p:txBody>
      </p:sp>
      <p:sp>
        <p:nvSpPr>
          <p:cNvPr id="14" name="Shape 12"/>
          <p:cNvSpPr/>
          <p:nvPr/>
        </p:nvSpPr>
        <p:spPr>
          <a:xfrm>
            <a:off x="365760" y="2377440"/>
            <a:ext cx="4114800" cy="749808"/>
          </a:xfrm>
          <a:prstGeom prst="rect">
            <a:avLst/>
          </a:prstGeom>
          <a:solidFill>
            <a:srgbClr val="132238"/>
          </a:solidFill>
          <a:ln w="12700">
            <a:solidFill>
              <a:srgbClr val="00BCD4"/>
            </a:solidFill>
            <a:prstDash val="solid"/>
          </a:ln>
        </p:spPr>
      </p:sp>
      <p:sp>
        <p:nvSpPr>
          <p:cNvPr id="15" name="Text 13"/>
          <p:cNvSpPr/>
          <p:nvPr/>
        </p:nvSpPr>
        <p:spPr>
          <a:xfrm>
            <a:off x="502920" y="2441448"/>
            <a:ext cx="1828800" cy="292608"/>
          </a:xfrm>
          <a:prstGeom prst="rect">
            <a:avLst/>
          </a:prstGeom>
          <a:noFill/>
          <a:ln/>
        </p:spPr>
        <p:txBody>
          <a:bodyPr wrap="square" lIns="0" tIns="0" rIns="0" bIns="0" rtlCol="0" anchor="ctr"/>
          <a:lstStyle/>
          <a:p>
            <a:pPr indent="0" marL="0">
              <a:buNone/>
            </a:pPr>
            <a:r>
              <a:rPr lang="en-US" sz="1200" b="1" dirty="0">
                <a:solidFill>
                  <a:srgbClr val="00BCD4"/>
                </a:solidFill>
                <a:latin typeface="Calibri" pitchFamily="34" charset="0"/>
                <a:ea typeface="Calibri" pitchFamily="34" charset="-122"/>
                <a:cs typeface="Calibri" pitchFamily="34" charset="-120"/>
              </a:rPr>
              <a:t>Dropout</a:t>
            </a:r>
            <a:endParaRPr lang="en-US" sz="1200" dirty="0"/>
          </a:p>
        </p:txBody>
      </p:sp>
      <p:sp>
        <p:nvSpPr>
          <p:cNvPr id="16" name="Text 14"/>
          <p:cNvSpPr/>
          <p:nvPr/>
        </p:nvSpPr>
        <p:spPr>
          <a:xfrm>
            <a:off x="502920" y="274320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Randomly zero p% of neurons during training</a:t>
            </a:r>
            <a:endParaRPr lang="en-US" sz="1100" dirty="0"/>
          </a:p>
        </p:txBody>
      </p:sp>
      <p:sp>
        <p:nvSpPr>
          <p:cNvPr id="17" name="Shape 15"/>
          <p:cNvSpPr/>
          <p:nvPr/>
        </p:nvSpPr>
        <p:spPr>
          <a:xfrm>
            <a:off x="4754880" y="2377440"/>
            <a:ext cx="4114800" cy="749808"/>
          </a:xfrm>
          <a:prstGeom prst="rect">
            <a:avLst/>
          </a:prstGeom>
          <a:solidFill>
            <a:srgbClr val="132238"/>
          </a:solidFill>
          <a:ln w="12700">
            <a:solidFill>
              <a:srgbClr val="7C4DFF"/>
            </a:solidFill>
            <a:prstDash val="solid"/>
          </a:ln>
        </p:spPr>
      </p:sp>
      <p:sp>
        <p:nvSpPr>
          <p:cNvPr id="18" name="Text 16"/>
          <p:cNvSpPr/>
          <p:nvPr/>
        </p:nvSpPr>
        <p:spPr>
          <a:xfrm>
            <a:off x="4892040" y="2441448"/>
            <a:ext cx="1828800" cy="292608"/>
          </a:xfrm>
          <a:prstGeom prst="rect">
            <a:avLst/>
          </a:prstGeom>
          <a:noFill/>
          <a:ln/>
        </p:spPr>
        <p:txBody>
          <a:bodyPr wrap="square" lIns="0" tIns="0" rIns="0" bIns="0" rtlCol="0" anchor="ctr"/>
          <a:lstStyle/>
          <a:p>
            <a:pPr indent="0" marL="0">
              <a:buNone/>
            </a:pPr>
            <a:r>
              <a:rPr lang="en-US" sz="1200" b="1" dirty="0">
                <a:solidFill>
                  <a:srgbClr val="7C4DFF"/>
                </a:solidFill>
                <a:latin typeface="Calibri" pitchFamily="34" charset="0"/>
                <a:ea typeface="Calibri" pitchFamily="34" charset="-122"/>
                <a:cs typeface="Calibri" pitchFamily="34" charset="-120"/>
              </a:rPr>
              <a:t>L2 Regularization</a:t>
            </a:r>
            <a:endParaRPr lang="en-US" sz="1200" dirty="0"/>
          </a:p>
        </p:txBody>
      </p:sp>
      <p:sp>
        <p:nvSpPr>
          <p:cNvPr id="19" name="Text 17"/>
          <p:cNvSpPr/>
          <p:nvPr/>
        </p:nvSpPr>
        <p:spPr>
          <a:xfrm>
            <a:off x="4892040" y="274320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Add λ||w||² to loss; penalizes large weights</a:t>
            </a:r>
            <a:endParaRPr lang="en-US" sz="1100" dirty="0"/>
          </a:p>
        </p:txBody>
      </p:sp>
      <p:sp>
        <p:nvSpPr>
          <p:cNvPr id="20" name="Shape 18"/>
          <p:cNvSpPr/>
          <p:nvPr/>
        </p:nvSpPr>
        <p:spPr>
          <a:xfrm>
            <a:off x="365760" y="3246120"/>
            <a:ext cx="4114800" cy="749808"/>
          </a:xfrm>
          <a:prstGeom prst="rect">
            <a:avLst/>
          </a:prstGeom>
          <a:solidFill>
            <a:srgbClr val="132238"/>
          </a:solidFill>
          <a:ln w="12700">
            <a:solidFill>
              <a:srgbClr val="4CAF50"/>
            </a:solidFill>
            <a:prstDash val="solid"/>
          </a:ln>
        </p:spPr>
      </p:sp>
      <p:sp>
        <p:nvSpPr>
          <p:cNvPr id="21" name="Text 19"/>
          <p:cNvSpPr/>
          <p:nvPr/>
        </p:nvSpPr>
        <p:spPr>
          <a:xfrm>
            <a:off x="502920" y="3310128"/>
            <a:ext cx="1828800" cy="292608"/>
          </a:xfrm>
          <a:prstGeom prst="rect">
            <a:avLst/>
          </a:prstGeom>
          <a:noFill/>
          <a:ln/>
        </p:spPr>
        <p:txBody>
          <a:bodyPr wrap="square" lIns="0" tIns="0" rIns="0" bIns="0" rtlCol="0" anchor="ctr"/>
          <a:lstStyle/>
          <a:p>
            <a:pPr indent="0" marL="0">
              <a:buNone/>
            </a:pPr>
            <a:r>
              <a:rPr lang="en-US" sz="1200" b="1" dirty="0">
                <a:solidFill>
                  <a:srgbClr val="4CAF50"/>
                </a:solidFill>
                <a:latin typeface="Calibri" pitchFamily="34" charset="0"/>
                <a:ea typeface="Calibri" pitchFamily="34" charset="-122"/>
                <a:cs typeface="Calibri" pitchFamily="34" charset="-120"/>
              </a:rPr>
              <a:t>Batch Normalization</a:t>
            </a:r>
            <a:endParaRPr lang="en-US" sz="1200" dirty="0"/>
          </a:p>
        </p:txBody>
      </p:sp>
      <p:sp>
        <p:nvSpPr>
          <p:cNvPr id="22" name="Text 20"/>
          <p:cNvSpPr/>
          <p:nvPr/>
        </p:nvSpPr>
        <p:spPr>
          <a:xfrm>
            <a:off x="502920" y="361188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Normalize activations within each mini-batch</a:t>
            </a:r>
            <a:endParaRPr lang="en-US" sz="1100" dirty="0"/>
          </a:p>
        </p:txBody>
      </p:sp>
      <p:sp>
        <p:nvSpPr>
          <p:cNvPr id="23" name="Shape 21"/>
          <p:cNvSpPr/>
          <p:nvPr/>
        </p:nvSpPr>
        <p:spPr>
          <a:xfrm>
            <a:off x="4754880" y="3246120"/>
            <a:ext cx="4114800" cy="749808"/>
          </a:xfrm>
          <a:prstGeom prst="rect">
            <a:avLst/>
          </a:prstGeom>
          <a:solidFill>
            <a:srgbClr val="132238"/>
          </a:solidFill>
          <a:ln w="12700">
            <a:solidFill>
              <a:srgbClr val="FFC107"/>
            </a:solidFill>
            <a:prstDash val="solid"/>
          </a:ln>
        </p:spPr>
      </p:sp>
      <p:sp>
        <p:nvSpPr>
          <p:cNvPr id="24" name="Text 22"/>
          <p:cNvSpPr/>
          <p:nvPr/>
        </p:nvSpPr>
        <p:spPr>
          <a:xfrm>
            <a:off x="4892040" y="3310128"/>
            <a:ext cx="1828800" cy="292608"/>
          </a:xfrm>
          <a:prstGeom prst="rect">
            <a:avLst/>
          </a:prstGeom>
          <a:noFill/>
          <a:ln/>
        </p:spPr>
        <p:txBody>
          <a:bodyPr wrap="square" lIns="0" tIns="0" rIns="0" bIns="0" rtlCol="0" anchor="ctr"/>
          <a:lstStyle/>
          <a:p>
            <a:pPr indent="0" marL="0">
              <a:buNone/>
            </a:pPr>
            <a:r>
              <a:rPr lang="en-US" sz="1200" b="1" dirty="0">
                <a:solidFill>
                  <a:srgbClr val="FFC107"/>
                </a:solidFill>
                <a:latin typeface="Calibri" pitchFamily="34" charset="0"/>
                <a:ea typeface="Calibri" pitchFamily="34" charset="-122"/>
                <a:cs typeface="Calibri" pitchFamily="34" charset="-120"/>
              </a:rPr>
              <a:t>Early Stopping</a:t>
            </a:r>
            <a:endParaRPr lang="en-US" sz="1200" dirty="0"/>
          </a:p>
        </p:txBody>
      </p:sp>
      <p:sp>
        <p:nvSpPr>
          <p:cNvPr id="25" name="Text 23"/>
          <p:cNvSpPr/>
          <p:nvPr/>
        </p:nvSpPr>
        <p:spPr>
          <a:xfrm>
            <a:off x="4892040" y="361188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Stop training when validation loss starts rising</a:t>
            </a:r>
            <a:endParaRPr lang="en-US" sz="1100" dirty="0"/>
          </a:p>
        </p:txBody>
      </p:sp>
      <p:sp>
        <p:nvSpPr>
          <p:cNvPr id="26" name="Shape 24"/>
          <p:cNvSpPr/>
          <p:nvPr/>
        </p:nvSpPr>
        <p:spPr>
          <a:xfrm>
            <a:off x="365760" y="4114800"/>
            <a:ext cx="4114800" cy="749808"/>
          </a:xfrm>
          <a:prstGeom prst="rect">
            <a:avLst/>
          </a:prstGeom>
          <a:solidFill>
            <a:srgbClr val="132238"/>
          </a:solidFill>
          <a:ln w="12700">
            <a:solidFill>
              <a:srgbClr val="1E88E5"/>
            </a:solidFill>
            <a:prstDash val="solid"/>
          </a:ln>
        </p:spPr>
      </p:sp>
      <p:sp>
        <p:nvSpPr>
          <p:cNvPr id="27" name="Text 25"/>
          <p:cNvSpPr/>
          <p:nvPr/>
        </p:nvSpPr>
        <p:spPr>
          <a:xfrm>
            <a:off x="502920" y="4178808"/>
            <a:ext cx="1828800" cy="292608"/>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Data Augmentation</a:t>
            </a:r>
            <a:endParaRPr lang="en-US" sz="1200" dirty="0"/>
          </a:p>
        </p:txBody>
      </p:sp>
      <p:sp>
        <p:nvSpPr>
          <p:cNvPr id="28" name="Text 26"/>
          <p:cNvSpPr/>
          <p:nvPr/>
        </p:nvSpPr>
        <p:spPr>
          <a:xfrm>
            <a:off x="502920" y="448056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Artificially expand training set with transforms</a:t>
            </a:r>
            <a:endParaRPr lang="en-US" sz="1100" dirty="0"/>
          </a:p>
        </p:txBody>
      </p:sp>
      <p:sp>
        <p:nvSpPr>
          <p:cNvPr id="29" name="Shape 27"/>
          <p:cNvSpPr/>
          <p:nvPr/>
        </p:nvSpPr>
        <p:spPr>
          <a:xfrm>
            <a:off x="4754880" y="4114800"/>
            <a:ext cx="4114800" cy="749808"/>
          </a:xfrm>
          <a:prstGeom prst="rect">
            <a:avLst/>
          </a:prstGeom>
          <a:solidFill>
            <a:srgbClr val="132238"/>
          </a:solidFill>
          <a:ln w="12700">
            <a:solidFill>
              <a:srgbClr val="FF6B6B"/>
            </a:solidFill>
            <a:prstDash val="solid"/>
          </a:ln>
        </p:spPr>
      </p:sp>
      <p:sp>
        <p:nvSpPr>
          <p:cNvPr id="30" name="Text 28"/>
          <p:cNvSpPr/>
          <p:nvPr/>
        </p:nvSpPr>
        <p:spPr>
          <a:xfrm>
            <a:off x="4892040" y="4178808"/>
            <a:ext cx="18288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Weight Decay</a:t>
            </a:r>
            <a:endParaRPr lang="en-US" sz="1200" dirty="0"/>
          </a:p>
        </p:txBody>
      </p:sp>
      <p:sp>
        <p:nvSpPr>
          <p:cNvPr id="31" name="Text 29"/>
          <p:cNvSpPr/>
          <p:nvPr/>
        </p:nvSpPr>
        <p:spPr>
          <a:xfrm>
            <a:off x="4892040" y="4480560"/>
            <a:ext cx="38404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L2 penalty applied directly in optimizer step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Real-World Applications</a:t>
            </a:r>
            <a:endParaRPr lang="en-US" sz="3200" dirty="0"/>
          </a:p>
        </p:txBody>
      </p:sp>
      <p:sp>
        <p:nvSpPr>
          <p:cNvPr id="3" name="Shape 1"/>
          <p:cNvSpPr/>
          <p:nvPr/>
        </p:nvSpPr>
        <p:spPr>
          <a:xfrm>
            <a:off x="457200" y="868680"/>
            <a:ext cx="8229600" cy="36576"/>
          </a:xfrm>
          <a:prstGeom prst="rect">
            <a:avLst/>
          </a:prstGeom>
          <a:solidFill>
            <a:srgbClr val="4CAF50"/>
          </a:solidFill>
          <a:ln w="12700">
            <a:solidFill>
              <a:srgbClr val="4CAF50"/>
            </a:solidFill>
            <a:prstDash val="solid"/>
          </a:ln>
        </p:spPr>
      </p:sp>
      <p:sp>
        <p:nvSpPr>
          <p:cNvPr id="4" name="Shape 2"/>
          <p:cNvSpPr/>
          <p:nvPr/>
        </p:nvSpPr>
        <p:spPr>
          <a:xfrm>
            <a:off x="365760" y="1005840"/>
            <a:ext cx="4069080" cy="1828800"/>
          </a:xfrm>
          <a:prstGeom prst="rect">
            <a:avLst/>
          </a:prstGeom>
          <a:solidFill>
            <a:srgbClr val="132238"/>
          </a:solidFill>
          <a:ln w="19050">
            <a:solidFill>
              <a:srgbClr val="1E88E5"/>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365760" y="1005840"/>
            <a:ext cx="4069080" cy="384048"/>
          </a:xfrm>
          <a:prstGeom prst="rect">
            <a:avLst/>
          </a:prstGeom>
          <a:solidFill>
            <a:srgbClr val="1E88E5">
              <a:alpha val="75000"/>
            </a:srgbClr>
          </a:solidFill>
          <a:ln w="12700">
            <a:solidFill>
              <a:srgbClr val="1E88E5"/>
            </a:solidFill>
            <a:prstDash val="solid"/>
          </a:ln>
        </p:spPr>
      </p:sp>
      <p:sp>
        <p:nvSpPr>
          <p:cNvPr id="6" name="Text 4"/>
          <p:cNvSpPr/>
          <p:nvPr/>
        </p:nvSpPr>
        <p:spPr>
          <a:xfrm>
            <a:off x="502920" y="1069848"/>
            <a:ext cx="3749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Computer Vision</a:t>
            </a:r>
            <a:endParaRPr lang="en-US" sz="1400" dirty="0"/>
          </a:p>
        </p:txBody>
      </p:sp>
      <p:sp>
        <p:nvSpPr>
          <p:cNvPr id="7" name="Text 5"/>
          <p:cNvSpPr/>
          <p:nvPr/>
        </p:nvSpPr>
        <p:spPr>
          <a:xfrm>
            <a:off x="502920" y="1481328"/>
            <a:ext cx="3749040" cy="292608"/>
          </a:xfrm>
          <a:prstGeom prst="rect">
            <a:avLst/>
          </a:prstGeom>
          <a:noFill/>
          <a:ln/>
        </p:spPr>
        <p:txBody>
          <a:bodyPr wrap="square" lIns="0" tIns="0" rIns="0" bIns="0" rtlCol="0" anchor="ctr"/>
          <a:lstStyle/>
          <a:p>
            <a:pPr indent="0" marL="0">
              <a:buNone/>
            </a:pPr>
            <a:r>
              <a:rPr lang="en-US" sz="1100" dirty="0">
                <a:solidFill>
                  <a:srgbClr val="1E88E5"/>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Image classification (ResNet, VGG)</a:t>
            </a:r>
            <a:endParaRPr lang="en-US" sz="1100" dirty="0"/>
          </a:p>
        </p:txBody>
      </p:sp>
      <p:sp>
        <p:nvSpPr>
          <p:cNvPr id="8" name="Text 6"/>
          <p:cNvSpPr/>
          <p:nvPr/>
        </p:nvSpPr>
        <p:spPr>
          <a:xfrm>
            <a:off x="502920" y="1801368"/>
            <a:ext cx="3749040" cy="292608"/>
          </a:xfrm>
          <a:prstGeom prst="rect">
            <a:avLst/>
          </a:prstGeom>
          <a:noFill/>
          <a:ln/>
        </p:spPr>
        <p:txBody>
          <a:bodyPr wrap="square" lIns="0" tIns="0" rIns="0" bIns="0" rtlCol="0" anchor="ctr"/>
          <a:lstStyle/>
          <a:p>
            <a:pPr indent="0" marL="0">
              <a:buNone/>
            </a:pPr>
            <a:r>
              <a:rPr lang="en-US" sz="1100" dirty="0">
                <a:solidFill>
                  <a:srgbClr val="1E88E5"/>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Object detection (YOLO, Faster-RCNN)</a:t>
            </a:r>
            <a:endParaRPr lang="en-US" sz="1100" dirty="0"/>
          </a:p>
        </p:txBody>
      </p:sp>
      <p:sp>
        <p:nvSpPr>
          <p:cNvPr id="9" name="Text 7"/>
          <p:cNvSpPr/>
          <p:nvPr/>
        </p:nvSpPr>
        <p:spPr>
          <a:xfrm>
            <a:off x="502920" y="2121408"/>
            <a:ext cx="3749040" cy="292608"/>
          </a:xfrm>
          <a:prstGeom prst="rect">
            <a:avLst/>
          </a:prstGeom>
          <a:noFill/>
          <a:ln/>
        </p:spPr>
        <p:txBody>
          <a:bodyPr wrap="square" lIns="0" tIns="0" rIns="0" bIns="0" rtlCol="0" anchor="ctr"/>
          <a:lstStyle/>
          <a:p>
            <a:pPr indent="0" marL="0">
              <a:buNone/>
            </a:pPr>
            <a:r>
              <a:rPr lang="en-US" sz="1100" dirty="0">
                <a:solidFill>
                  <a:srgbClr val="1E88E5"/>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Medical imaging &amp; diagnosis</a:t>
            </a:r>
            <a:endParaRPr lang="en-US" sz="1100" dirty="0"/>
          </a:p>
        </p:txBody>
      </p:sp>
      <p:sp>
        <p:nvSpPr>
          <p:cNvPr id="10" name="Text 8"/>
          <p:cNvSpPr/>
          <p:nvPr/>
        </p:nvSpPr>
        <p:spPr>
          <a:xfrm>
            <a:off x="502920" y="2441448"/>
            <a:ext cx="3749040" cy="292608"/>
          </a:xfrm>
          <a:prstGeom prst="rect">
            <a:avLst/>
          </a:prstGeom>
          <a:noFill/>
          <a:ln/>
        </p:spPr>
        <p:txBody>
          <a:bodyPr wrap="square" lIns="0" tIns="0" rIns="0" bIns="0" rtlCol="0" anchor="ctr"/>
          <a:lstStyle/>
          <a:p>
            <a:pPr indent="0" marL="0">
              <a:buNone/>
            </a:pPr>
            <a:r>
              <a:rPr lang="en-US" sz="1100" dirty="0">
                <a:solidFill>
                  <a:srgbClr val="1E88E5"/>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Autonomous driving</a:t>
            </a:r>
            <a:endParaRPr lang="en-US" sz="1100" dirty="0"/>
          </a:p>
        </p:txBody>
      </p:sp>
      <p:sp>
        <p:nvSpPr>
          <p:cNvPr id="11" name="Shape 9"/>
          <p:cNvSpPr/>
          <p:nvPr/>
        </p:nvSpPr>
        <p:spPr>
          <a:xfrm>
            <a:off x="4709160" y="1005840"/>
            <a:ext cx="4069080" cy="1828800"/>
          </a:xfrm>
          <a:prstGeom prst="rect">
            <a:avLst/>
          </a:prstGeom>
          <a:solidFill>
            <a:srgbClr val="132238"/>
          </a:solidFill>
          <a:ln w="19050">
            <a:solidFill>
              <a:srgbClr val="00BCD4"/>
            </a:solidFill>
            <a:prstDash val="solid"/>
          </a:ln>
          <a:effectLst>
            <a:outerShdw sx="100000" sy="100000" kx="0" ky="0" algn="bl" rotWithShape="0" blurRad="101600" dist="38100" dir="8100000">
              <a:srgbClr val="000000">
                <a:alpha val="30000"/>
              </a:srgbClr>
            </a:outerShdw>
          </a:effectLst>
        </p:spPr>
      </p:sp>
      <p:sp>
        <p:nvSpPr>
          <p:cNvPr id="12" name="Shape 10"/>
          <p:cNvSpPr/>
          <p:nvPr/>
        </p:nvSpPr>
        <p:spPr>
          <a:xfrm>
            <a:off x="4709160" y="1005840"/>
            <a:ext cx="4069080" cy="384048"/>
          </a:xfrm>
          <a:prstGeom prst="rect">
            <a:avLst/>
          </a:prstGeom>
          <a:solidFill>
            <a:srgbClr val="00BCD4">
              <a:alpha val="75000"/>
            </a:srgbClr>
          </a:solidFill>
          <a:ln w="12700">
            <a:solidFill>
              <a:srgbClr val="00BCD4"/>
            </a:solidFill>
            <a:prstDash val="solid"/>
          </a:ln>
        </p:spPr>
      </p:sp>
      <p:sp>
        <p:nvSpPr>
          <p:cNvPr id="13" name="Text 11"/>
          <p:cNvSpPr/>
          <p:nvPr/>
        </p:nvSpPr>
        <p:spPr>
          <a:xfrm>
            <a:off x="4846320" y="1069848"/>
            <a:ext cx="3749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Natural Language</a:t>
            </a:r>
            <a:endParaRPr lang="en-US" sz="1400" dirty="0"/>
          </a:p>
        </p:txBody>
      </p:sp>
      <p:sp>
        <p:nvSpPr>
          <p:cNvPr id="14" name="Text 12"/>
          <p:cNvSpPr/>
          <p:nvPr/>
        </p:nvSpPr>
        <p:spPr>
          <a:xfrm>
            <a:off x="4846320" y="1481328"/>
            <a:ext cx="3749040" cy="292608"/>
          </a:xfrm>
          <a:prstGeom prst="rect">
            <a:avLst/>
          </a:prstGeom>
          <a:noFill/>
          <a:ln/>
        </p:spPr>
        <p:txBody>
          <a:bodyPr wrap="square" lIns="0" tIns="0" rIns="0" bIns="0" rtlCol="0" anchor="ctr"/>
          <a:lstStyle/>
          <a:p>
            <a:pPr indent="0" marL="0">
              <a:buNone/>
            </a:pPr>
            <a:r>
              <a:rPr lang="en-US" sz="1100" dirty="0">
                <a:solidFill>
                  <a:srgbClr val="00BCD4"/>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Machine translation (GPT-4, T5)</a:t>
            </a:r>
            <a:endParaRPr lang="en-US" sz="1100" dirty="0"/>
          </a:p>
        </p:txBody>
      </p:sp>
      <p:sp>
        <p:nvSpPr>
          <p:cNvPr id="15" name="Text 13"/>
          <p:cNvSpPr/>
          <p:nvPr/>
        </p:nvSpPr>
        <p:spPr>
          <a:xfrm>
            <a:off x="4846320" y="1801368"/>
            <a:ext cx="3749040" cy="292608"/>
          </a:xfrm>
          <a:prstGeom prst="rect">
            <a:avLst/>
          </a:prstGeom>
          <a:noFill/>
          <a:ln/>
        </p:spPr>
        <p:txBody>
          <a:bodyPr wrap="square" lIns="0" tIns="0" rIns="0" bIns="0" rtlCol="0" anchor="ctr"/>
          <a:lstStyle/>
          <a:p>
            <a:pPr indent="0" marL="0">
              <a:buNone/>
            </a:pPr>
            <a:r>
              <a:rPr lang="en-US" sz="1100" dirty="0">
                <a:solidFill>
                  <a:srgbClr val="00BCD4"/>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Sentiment analysis</a:t>
            </a:r>
            <a:endParaRPr lang="en-US" sz="1100" dirty="0"/>
          </a:p>
        </p:txBody>
      </p:sp>
      <p:sp>
        <p:nvSpPr>
          <p:cNvPr id="16" name="Text 14"/>
          <p:cNvSpPr/>
          <p:nvPr/>
        </p:nvSpPr>
        <p:spPr>
          <a:xfrm>
            <a:off x="4846320" y="2121408"/>
            <a:ext cx="3749040" cy="292608"/>
          </a:xfrm>
          <a:prstGeom prst="rect">
            <a:avLst/>
          </a:prstGeom>
          <a:noFill/>
          <a:ln/>
        </p:spPr>
        <p:txBody>
          <a:bodyPr wrap="square" lIns="0" tIns="0" rIns="0" bIns="0" rtlCol="0" anchor="ctr"/>
          <a:lstStyle/>
          <a:p>
            <a:pPr indent="0" marL="0">
              <a:buNone/>
            </a:pPr>
            <a:r>
              <a:rPr lang="en-US" sz="1100" dirty="0">
                <a:solidFill>
                  <a:srgbClr val="00BCD4"/>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Question answering (BERT)</a:t>
            </a:r>
            <a:endParaRPr lang="en-US" sz="1100" dirty="0"/>
          </a:p>
        </p:txBody>
      </p:sp>
      <p:sp>
        <p:nvSpPr>
          <p:cNvPr id="17" name="Text 15"/>
          <p:cNvSpPr/>
          <p:nvPr/>
        </p:nvSpPr>
        <p:spPr>
          <a:xfrm>
            <a:off x="4846320" y="2441448"/>
            <a:ext cx="3749040" cy="292608"/>
          </a:xfrm>
          <a:prstGeom prst="rect">
            <a:avLst/>
          </a:prstGeom>
          <a:noFill/>
          <a:ln/>
        </p:spPr>
        <p:txBody>
          <a:bodyPr wrap="square" lIns="0" tIns="0" rIns="0" bIns="0" rtlCol="0" anchor="ctr"/>
          <a:lstStyle/>
          <a:p>
            <a:pPr indent="0" marL="0">
              <a:buNone/>
            </a:pPr>
            <a:r>
              <a:rPr lang="en-US" sz="1100" dirty="0">
                <a:solidFill>
                  <a:srgbClr val="00BCD4"/>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Code generation (Copilot)</a:t>
            </a:r>
            <a:endParaRPr lang="en-US" sz="1100" dirty="0"/>
          </a:p>
        </p:txBody>
      </p:sp>
      <p:sp>
        <p:nvSpPr>
          <p:cNvPr id="18" name="Shape 16"/>
          <p:cNvSpPr/>
          <p:nvPr/>
        </p:nvSpPr>
        <p:spPr>
          <a:xfrm>
            <a:off x="365760" y="3017520"/>
            <a:ext cx="4069080" cy="1828800"/>
          </a:xfrm>
          <a:prstGeom prst="rect">
            <a:avLst/>
          </a:prstGeom>
          <a:solidFill>
            <a:srgbClr val="132238"/>
          </a:solidFill>
          <a:ln w="19050">
            <a:solidFill>
              <a:srgbClr val="7C4DFF"/>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365760" y="3017520"/>
            <a:ext cx="4069080" cy="384048"/>
          </a:xfrm>
          <a:prstGeom prst="rect">
            <a:avLst/>
          </a:prstGeom>
          <a:solidFill>
            <a:srgbClr val="7C4DFF">
              <a:alpha val="75000"/>
            </a:srgbClr>
          </a:solidFill>
          <a:ln w="12700">
            <a:solidFill>
              <a:srgbClr val="7C4DFF"/>
            </a:solidFill>
            <a:prstDash val="solid"/>
          </a:ln>
        </p:spPr>
      </p:sp>
      <p:sp>
        <p:nvSpPr>
          <p:cNvPr id="20" name="Text 18"/>
          <p:cNvSpPr/>
          <p:nvPr/>
        </p:nvSpPr>
        <p:spPr>
          <a:xfrm>
            <a:off x="502920" y="3081528"/>
            <a:ext cx="3749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Generative AI</a:t>
            </a:r>
            <a:endParaRPr lang="en-US" sz="1400" dirty="0"/>
          </a:p>
        </p:txBody>
      </p:sp>
      <p:sp>
        <p:nvSpPr>
          <p:cNvPr id="21" name="Text 19"/>
          <p:cNvSpPr/>
          <p:nvPr/>
        </p:nvSpPr>
        <p:spPr>
          <a:xfrm>
            <a:off x="502920" y="3493008"/>
            <a:ext cx="3749040" cy="292608"/>
          </a:xfrm>
          <a:prstGeom prst="rect">
            <a:avLst/>
          </a:prstGeom>
          <a:noFill/>
          <a:ln/>
        </p:spPr>
        <p:txBody>
          <a:bodyPr wrap="square" lIns="0" tIns="0" rIns="0" bIns="0" rtlCol="0" anchor="ctr"/>
          <a:lstStyle/>
          <a:p>
            <a:pPr indent="0" marL="0">
              <a:buNone/>
            </a:pPr>
            <a:r>
              <a:rPr lang="en-US" sz="1100" dirty="0">
                <a:solidFill>
                  <a:srgbClr val="7C4DFF"/>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Text-to-image (DALL-E, Stable Diffusion)</a:t>
            </a:r>
            <a:endParaRPr lang="en-US" sz="1100" dirty="0"/>
          </a:p>
        </p:txBody>
      </p:sp>
      <p:sp>
        <p:nvSpPr>
          <p:cNvPr id="22" name="Text 20"/>
          <p:cNvSpPr/>
          <p:nvPr/>
        </p:nvSpPr>
        <p:spPr>
          <a:xfrm>
            <a:off x="502920" y="3813048"/>
            <a:ext cx="3749040" cy="292608"/>
          </a:xfrm>
          <a:prstGeom prst="rect">
            <a:avLst/>
          </a:prstGeom>
          <a:noFill/>
          <a:ln/>
        </p:spPr>
        <p:txBody>
          <a:bodyPr wrap="square" lIns="0" tIns="0" rIns="0" bIns="0" rtlCol="0" anchor="ctr"/>
          <a:lstStyle/>
          <a:p>
            <a:pPr indent="0" marL="0">
              <a:buNone/>
            </a:pPr>
            <a:r>
              <a:rPr lang="en-US" sz="1100" dirty="0">
                <a:solidFill>
                  <a:srgbClr val="7C4DFF"/>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Voice synthesis &amp; cloning</a:t>
            </a:r>
            <a:endParaRPr lang="en-US" sz="1100" dirty="0"/>
          </a:p>
        </p:txBody>
      </p:sp>
      <p:sp>
        <p:nvSpPr>
          <p:cNvPr id="23" name="Text 21"/>
          <p:cNvSpPr/>
          <p:nvPr/>
        </p:nvSpPr>
        <p:spPr>
          <a:xfrm>
            <a:off x="502920" y="4133088"/>
            <a:ext cx="3749040" cy="292608"/>
          </a:xfrm>
          <a:prstGeom prst="rect">
            <a:avLst/>
          </a:prstGeom>
          <a:noFill/>
          <a:ln/>
        </p:spPr>
        <p:txBody>
          <a:bodyPr wrap="square" lIns="0" tIns="0" rIns="0" bIns="0" rtlCol="0" anchor="ctr"/>
          <a:lstStyle/>
          <a:p>
            <a:pPr indent="0" marL="0">
              <a:buNone/>
            </a:pPr>
            <a:r>
              <a:rPr lang="en-US" sz="1100" dirty="0">
                <a:solidFill>
                  <a:srgbClr val="7C4DFF"/>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Video generation</a:t>
            </a:r>
            <a:endParaRPr lang="en-US" sz="1100" dirty="0"/>
          </a:p>
        </p:txBody>
      </p:sp>
      <p:sp>
        <p:nvSpPr>
          <p:cNvPr id="24" name="Text 22"/>
          <p:cNvSpPr/>
          <p:nvPr/>
        </p:nvSpPr>
        <p:spPr>
          <a:xfrm>
            <a:off x="502920" y="4453128"/>
            <a:ext cx="3749040" cy="292608"/>
          </a:xfrm>
          <a:prstGeom prst="rect">
            <a:avLst/>
          </a:prstGeom>
          <a:noFill/>
          <a:ln/>
        </p:spPr>
        <p:txBody>
          <a:bodyPr wrap="square" lIns="0" tIns="0" rIns="0" bIns="0" rtlCol="0" anchor="ctr"/>
          <a:lstStyle/>
          <a:p>
            <a:pPr indent="0" marL="0">
              <a:buNone/>
            </a:pPr>
            <a:r>
              <a:rPr lang="en-US" sz="1100" dirty="0">
                <a:solidFill>
                  <a:srgbClr val="7C4DFF"/>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Drug molecule discovery</a:t>
            </a:r>
            <a:endParaRPr lang="en-US" sz="1100" dirty="0"/>
          </a:p>
        </p:txBody>
      </p:sp>
      <p:sp>
        <p:nvSpPr>
          <p:cNvPr id="25" name="Shape 23"/>
          <p:cNvSpPr/>
          <p:nvPr/>
        </p:nvSpPr>
        <p:spPr>
          <a:xfrm>
            <a:off x="4709160" y="3017520"/>
            <a:ext cx="4069080" cy="1828800"/>
          </a:xfrm>
          <a:prstGeom prst="rect">
            <a:avLst/>
          </a:prstGeom>
          <a:solidFill>
            <a:srgbClr val="132238"/>
          </a:solidFill>
          <a:ln w="19050">
            <a:solidFill>
              <a:srgbClr val="4CAF50"/>
            </a:solidFill>
            <a:prstDash val="solid"/>
          </a:ln>
          <a:effectLst>
            <a:outerShdw sx="100000" sy="100000" kx="0" ky="0" algn="bl" rotWithShape="0" blurRad="101600" dist="38100" dir="8100000">
              <a:srgbClr val="000000">
                <a:alpha val="30000"/>
              </a:srgbClr>
            </a:outerShdw>
          </a:effectLst>
        </p:spPr>
      </p:sp>
      <p:sp>
        <p:nvSpPr>
          <p:cNvPr id="26" name="Shape 24"/>
          <p:cNvSpPr/>
          <p:nvPr/>
        </p:nvSpPr>
        <p:spPr>
          <a:xfrm>
            <a:off x="4709160" y="3017520"/>
            <a:ext cx="4069080" cy="384048"/>
          </a:xfrm>
          <a:prstGeom prst="rect">
            <a:avLst/>
          </a:prstGeom>
          <a:solidFill>
            <a:srgbClr val="4CAF50">
              <a:alpha val="75000"/>
            </a:srgbClr>
          </a:solidFill>
          <a:ln w="12700">
            <a:solidFill>
              <a:srgbClr val="4CAF50"/>
            </a:solidFill>
            <a:prstDash val="solid"/>
          </a:ln>
        </p:spPr>
      </p:sp>
      <p:sp>
        <p:nvSpPr>
          <p:cNvPr id="27" name="Text 25"/>
          <p:cNvSpPr/>
          <p:nvPr/>
        </p:nvSpPr>
        <p:spPr>
          <a:xfrm>
            <a:off x="4846320" y="3081528"/>
            <a:ext cx="3749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Time-Series &amp; Signals</a:t>
            </a:r>
            <a:endParaRPr lang="en-US" sz="1400" dirty="0"/>
          </a:p>
        </p:txBody>
      </p:sp>
      <p:sp>
        <p:nvSpPr>
          <p:cNvPr id="28" name="Text 26"/>
          <p:cNvSpPr/>
          <p:nvPr/>
        </p:nvSpPr>
        <p:spPr>
          <a:xfrm>
            <a:off x="4846320" y="3493008"/>
            <a:ext cx="3749040" cy="292608"/>
          </a:xfrm>
          <a:prstGeom prst="rect">
            <a:avLst/>
          </a:prstGeom>
          <a:noFill/>
          <a:ln/>
        </p:spPr>
        <p:txBody>
          <a:bodyPr wrap="square" lIns="0" tIns="0" rIns="0" bIns="0" rtlCol="0" anchor="ctr"/>
          <a:lstStyle/>
          <a:p>
            <a:pPr indent="0" marL="0">
              <a:buNone/>
            </a:pPr>
            <a:r>
              <a:rPr lang="en-US" sz="1100" dirty="0">
                <a:solidFill>
                  <a:srgbClr val="4CAF50"/>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Speech recognition (DeepSpeech)</a:t>
            </a:r>
            <a:endParaRPr lang="en-US" sz="1100" dirty="0"/>
          </a:p>
        </p:txBody>
      </p:sp>
      <p:sp>
        <p:nvSpPr>
          <p:cNvPr id="29" name="Text 27"/>
          <p:cNvSpPr/>
          <p:nvPr/>
        </p:nvSpPr>
        <p:spPr>
          <a:xfrm>
            <a:off x="4846320" y="3813048"/>
            <a:ext cx="3749040" cy="292608"/>
          </a:xfrm>
          <a:prstGeom prst="rect">
            <a:avLst/>
          </a:prstGeom>
          <a:noFill/>
          <a:ln/>
        </p:spPr>
        <p:txBody>
          <a:bodyPr wrap="square" lIns="0" tIns="0" rIns="0" bIns="0" rtlCol="0" anchor="ctr"/>
          <a:lstStyle/>
          <a:p>
            <a:pPr indent="0" marL="0">
              <a:buNone/>
            </a:pPr>
            <a:r>
              <a:rPr lang="en-US" sz="1100" dirty="0">
                <a:solidFill>
                  <a:srgbClr val="4CAF50"/>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Financial forecasting</a:t>
            </a:r>
            <a:endParaRPr lang="en-US" sz="1100" dirty="0"/>
          </a:p>
        </p:txBody>
      </p:sp>
      <p:sp>
        <p:nvSpPr>
          <p:cNvPr id="30" name="Text 28"/>
          <p:cNvSpPr/>
          <p:nvPr/>
        </p:nvSpPr>
        <p:spPr>
          <a:xfrm>
            <a:off x="4846320" y="4133088"/>
            <a:ext cx="3749040" cy="292608"/>
          </a:xfrm>
          <a:prstGeom prst="rect">
            <a:avLst/>
          </a:prstGeom>
          <a:noFill/>
          <a:ln/>
        </p:spPr>
        <p:txBody>
          <a:bodyPr wrap="square" lIns="0" tIns="0" rIns="0" bIns="0" rtlCol="0" anchor="ctr"/>
          <a:lstStyle/>
          <a:p>
            <a:pPr indent="0" marL="0">
              <a:buNone/>
            </a:pPr>
            <a:r>
              <a:rPr lang="en-US" sz="1100" dirty="0">
                <a:solidFill>
                  <a:srgbClr val="4CAF50"/>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Anomaly detection</a:t>
            </a:r>
            <a:endParaRPr lang="en-US" sz="1100" dirty="0"/>
          </a:p>
        </p:txBody>
      </p:sp>
      <p:sp>
        <p:nvSpPr>
          <p:cNvPr id="31" name="Text 29"/>
          <p:cNvSpPr/>
          <p:nvPr/>
        </p:nvSpPr>
        <p:spPr>
          <a:xfrm>
            <a:off x="4846320" y="4453128"/>
            <a:ext cx="3749040" cy="292608"/>
          </a:xfrm>
          <a:prstGeom prst="rect">
            <a:avLst/>
          </a:prstGeom>
          <a:noFill/>
          <a:ln/>
        </p:spPr>
        <p:txBody>
          <a:bodyPr wrap="square" lIns="0" tIns="0" rIns="0" bIns="0" rtlCol="0" anchor="ctr"/>
          <a:lstStyle/>
          <a:p>
            <a:pPr indent="0" marL="0">
              <a:buNone/>
            </a:pPr>
            <a:r>
              <a:rPr lang="en-US" sz="1100" dirty="0">
                <a:solidFill>
                  <a:srgbClr val="4CAF50"/>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Predictive maintenance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Deep Learning: Key Milestones</a:t>
            </a:r>
            <a:endParaRPr lang="en-US" sz="3200" dirty="0"/>
          </a:p>
        </p:txBody>
      </p:sp>
      <p:sp>
        <p:nvSpPr>
          <p:cNvPr id="3" name="Shape 1"/>
          <p:cNvSpPr/>
          <p:nvPr/>
        </p:nvSpPr>
        <p:spPr>
          <a:xfrm>
            <a:off x="457200" y="868680"/>
            <a:ext cx="8229600" cy="36576"/>
          </a:xfrm>
          <a:prstGeom prst="rect">
            <a:avLst/>
          </a:prstGeom>
          <a:solidFill>
            <a:srgbClr val="FFC107"/>
          </a:solidFill>
          <a:ln w="12700">
            <a:solidFill>
              <a:srgbClr val="FFC107"/>
            </a:solidFill>
            <a:prstDash val="solid"/>
          </a:ln>
        </p:spPr>
      </p:sp>
      <p:sp>
        <p:nvSpPr>
          <p:cNvPr id="4" name="Shape 2"/>
          <p:cNvSpPr/>
          <p:nvPr/>
        </p:nvSpPr>
        <p:spPr>
          <a:xfrm>
            <a:off x="457200" y="2926080"/>
            <a:ext cx="8229600" cy="0"/>
          </a:xfrm>
          <a:prstGeom prst="line">
            <a:avLst/>
          </a:prstGeom>
          <a:noFill/>
          <a:ln w="25400">
            <a:solidFill>
              <a:srgbClr val="1E3A5F"/>
            </a:solidFill>
            <a:prstDash val="solid"/>
          </a:ln>
        </p:spPr>
      </p:sp>
      <p:sp>
        <p:nvSpPr>
          <p:cNvPr id="5" name="Shape 3"/>
          <p:cNvSpPr/>
          <p:nvPr/>
        </p:nvSpPr>
        <p:spPr>
          <a:xfrm>
            <a:off x="822960" y="2807208"/>
            <a:ext cx="237744" cy="237744"/>
          </a:xfrm>
          <a:prstGeom prst="ellipse">
            <a:avLst/>
          </a:prstGeom>
          <a:solidFill>
            <a:srgbClr val="90CAF9"/>
          </a:solidFill>
          <a:ln w="12700">
            <a:solidFill>
              <a:srgbClr val="90CAF9"/>
            </a:solidFill>
            <a:prstDash val="solid"/>
          </a:ln>
        </p:spPr>
      </p:sp>
      <p:sp>
        <p:nvSpPr>
          <p:cNvPr id="6" name="Shape 4"/>
          <p:cNvSpPr/>
          <p:nvPr/>
        </p:nvSpPr>
        <p:spPr>
          <a:xfrm>
            <a:off x="941832" y="1371600"/>
            <a:ext cx="0" cy="1417320"/>
          </a:xfrm>
          <a:prstGeom prst="line">
            <a:avLst/>
          </a:prstGeom>
          <a:noFill/>
          <a:ln w="12700">
            <a:solidFill>
              <a:srgbClr val="90CAF9"/>
            </a:solidFill>
            <a:prstDash val="dash"/>
          </a:ln>
        </p:spPr>
      </p:sp>
      <p:sp>
        <p:nvSpPr>
          <p:cNvPr id="7" name="Text 5"/>
          <p:cNvSpPr/>
          <p:nvPr/>
        </p:nvSpPr>
        <p:spPr>
          <a:xfrm>
            <a:off x="320040" y="960120"/>
            <a:ext cx="1280160" cy="274320"/>
          </a:xfrm>
          <a:prstGeom prst="rect">
            <a:avLst/>
          </a:prstGeom>
          <a:noFill/>
          <a:ln/>
        </p:spPr>
        <p:txBody>
          <a:bodyPr wrap="square" lIns="0" tIns="0" rIns="0" bIns="0" rtlCol="0" anchor="ctr"/>
          <a:lstStyle/>
          <a:p>
            <a:pPr algn="ctr" indent="0" marL="0">
              <a:buNone/>
            </a:pPr>
            <a:r>
              <a:rPr lang="en-US" sz="1200" b="1" dirty="0">
                <a:solidFill>
                  <a:srgbClr val="90CAF9"/>
                </a:solidFill>
                <a:latin typeface="Calibri" pitchFamily="34" charset="0"/>
                <a:ea typeface="Calibri" pitchFamily="34" charset="-122"/>
                <a:cs typeface="Calibri" pitchFamily="34" charset="-120"/>
              </a:rPr>
              <a:t>1958</a:t>
            </a:r>
            <a:endParaRPr lang="en-US" sz="1200" dirty="0"/>
          </a:p>
        </p:txBody>
      </p:sp>
      <p:sp>
        <p:nvSpPr>
          <p:cNvPr id="8" name="Text 6"/>
          <p:cNvSpPr/>
          <p:nvPr/>
        </p:nvSpPr>
        <p:spPr>
          <a:xfrm>
            <a:off x="320040" y="1234440"/>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Perceptron</a:t>
            </a:r>
            <a:endParaRPr lang="en-US" sz="1100" dirty="0"/>
          </a:p>
        </p:txBody>
      </p:sp>
      <p:sp>
        <p:nvSpPr>
          <p:cNvPr id="9" name="Text 7"/>
          <p:cNvSpPr/>
          <p:nvPr/>
        </p:nvSpPr>
        <p:spPr>
          <a:xfrm>
            <a:off x="320040" y="1490472"/>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Rosenblatt</a:t>
            </a:r>
            <a:endParaRPr lang="en-US" sz="900" dirty="0"/>
          </a:p>
        </p:txBody>
      </p:sp>
      <p:sp>
        <p:nvSpPr>
          <p:cNvPr id="10" name="Shape 8"/>
          <p:cNvSpPr/>
          <p:nvPr/>
        </p:nvSpPr>
        <p:spPr>
          <a:xfrm>
            <a:off x="2240280" y="2807208"/>
            <a:ext cx="237744" cy="237744"/>
          </a:xfrm>
          <a:prstGeom prst="ellipse">
            <a:avLst/>
          </a:prstGeom>
          <a:solidFill>
            <a:srgbClr val="1E88E5"/>
          </a:solidFill>
          <a:ln w="12700">
            <a:solidFill>
              <a:srgbClr val="1E88E5"/>
            </a:solidFill>
            <a:prstDash val="solid"/>
          </a:ln>
        </p:spPr>
      </p:sp>
      <p:sp>
        <p:nvSpPr>
          <p:cNvPr id="11" name="Shape 9"/>
          <p:cNvSpPr/>
          <p:nvPr/>
        </p:nvSpPr>
        <p:spPr>
          <a:xfrm>
            <a:off x="2359152" y="3063240"/>
            <a:ext cx="0" cy="1188720"/>
          </a:xfrm>
          <a:prstGeom prst="line">
            <a:avLst/>
          </a:prstGeom>
          <a:noFill/>
          <a:ln w="12700">
            <a:solidFill>
              <a:srgbClr val="1E88E5"/>
            </a:solidFill>
            <a:prstDash val="dash"/>
          </a:ln>
        </p:spPr>
      </p:sp>
      <p:sp>
        <p:nvSpPr>
          <p:cNvPr id="12" name="Text 10"/>
          <p:cNvSpPr/>
          <p:nvPr/>
        </p:nvSpPr>
        <p:spPr>
          <a:xfrm>
            <a:off x="1737360" y="3337560"/>
            <a:ext cx="1280160" cy="274320"/>
          </a:xfrm>
          <a:prstGeom prst="rect">
            <a:avLst/>
          </a:prstGeom>
          <a:noFill/>
          <a:ln/>
        </p:spPr>
        <p:txBody>
          <a:bodyPr wrap="square" lIns="0" tIns="0" rIns="0" bIns="0" rtlCol="0" anchor="ctr"/>
          <a:lstStyle/>
          <a:p>
            <a:pPr algn="ctr" indent="0" marL="0">
              <a:buNone/>
            </a:pPr>
            <a:r>
              <a:rPr lang="en-US" sz="1200" b="1" dirty="0">
                <a:solidFill>
                  <a:srgbClr val="1E88E5"/>
                </a:solidFill>
                <a:latin typeface="Calibri" pitchFamily="34" charset="0"/>
                <a:ea typeface="Calibri" pitchFamily="34" charset="-122"/>
                <a:cs typeface="Calibri" pitchFamily="34" charset="-120"/>
              </a:rPr>
              <a:t>1986</a:t>
            </a:r>
            <a:endParaRPr lang="en-US" sz="1200" dirty="0"/>
          </a:p>
        </p:txBody>
      </p:sp>
      <p:sp>
        <p:nvSpPr>
          <p:cNvPr id="13" name="Text 11"/>
          <p:cNvSpPr/>
          <p:nvPr/>
        </p:nvSpPr>
        <p:spPr>
          <a:xfrm>
            <a:off x="1737360" y="3630168"/>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Backprop</a:t>
            </a:r>
            <a:endParaRPr lang="en-US" sz="1100" dirty="0"/>
          </a:p>
        </p:txBody>
      </p:sp>
      <p:sp>
        <p:nvSpPr>
          <p:cNvPr id="14" name="Text 12"/>
          <p:cNvSpPr/>
          <p:nvPr/>
        </p:nvSpPr>
        <p:spPr>
          <a:xfrm>
            <a:off x="1737360" y="3904488"/>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Rumelhart et al.</a:t>
            </a:r>
            <a:endParaRPr lang="en-US" sz="900" dirty="0"/>
          </a:p>
        </p:txBody>
      </p:sp>
      <p:sp>
        <p:nvSpPr>
          <p:cNvPr id="15" name="Shape 13"/>
          <p:cNvSpPr/>
          <p:nvPr/>
        </p:nvSpPr>
        <p:spPr>
          <a:xfrm>
            <a:off x="3657600" y="2807208"/>
            <a:ext cx="237744" cy="237744"/>
          </a:xfrm>
          <a:prstGeom prst="ellipse">
            <a:avLst/>
          </a:prstGeom>
          <a:solidFill>
            <a:srgbClr val="00BCD4"/>
          </a:solidFill>
          <a:ln w="12700">
            <a:solidFill>
              <a:srgbClr val="00BCD4"/>
            </a:solidFill>
            <a:prstDash val="solid"/>
          </a:ln>
        </p:spPr>
      </p:sp>
      <p:sp>
        <p:nvSpPr>
          <p:cNvPr id="16" name="Shape 14"/>
          <p:cNvSpPr/>
          <p:nvPr/>
        </p:nvSpPr>
        <p:spPr>
          <a:xfrm>
            <a:off x="3776472" y="1371600"/>
            <a:ext cx="0" cy="1417320"/>
          </a:xfrm>
          <a:prstGeom prst="line">
            <a:avLst/>
          </a:prstGeom>
          <a:noFill/>
          <a:ln w="12700">
            <a:solidFill>
              <a:srgbClr val="00BCD4"/>
            </a:solidFill>
            <a:prstDash val="dash"/>
          </a:ln>
        </p:spPr>
      </p:sp>
      <p:sp>
        <p:nvSpPr>
          <p:cNvPr id="17" name="Text 15"/>
          <p:cNvSpPr/>
          <p:nvPr/>
        </p:nvSpPr>
        <p:spPr>
          <a:xfrm>
            <a:off x="3154680" y="960120"/>
            <a:ext cx="1280160" cy="274320"/>
          </a:xfrm>
          <a:prstGeom prst="rect">
            <a:avLst/>
          </a:prstGeom>
          <a:noFill/>
          <a:ln/>
        </p:spPr>
        <p:txBody>
          <a:bodyPr wrap="square" lIns="0" tIns="0" rIns="0" bIns="0" rtlCol="0" anchor="ctr"/>
          <a:lstStyle/>
          <a:p>
            <a:pPr algn="ctr" indent="0" marL="0">
              <a:buNone/>
            </a:pPr>
            <a:r>
              <a:rPr lang="en-US" sz="1200" b="1" dirty="0">
                <a:solidFill>
                  <a:srgbClr val="00BCD4"/>
                </a:solidFill>
                <a:latin typeface="Calibri" pitchFamily="34" charset="0"/>
                <a:ea typeface="Calibri" pitchFamily="34" charset="-122"/>
                <a:cs typeface="Calibri" pitchFamily="34" charset="-120"/>
              </a:rPr>
              <a:t>1998</a:t>
            </a:r>
            <a:endParaRPr lang="en-US" sz="1200" dirty="0"/>
          </a:p>
        </p:txBody>
      </p:sp>
      <p:sp>
        <p:nvSpPr>
          <p:cNvPr id="18" name="Text 16"/>
          <p:cNvSpPr/>
          <p:nvPr/>
        </p:nvSpPr>
        <p:spPr>
          <a:xfrm>
            <a:off x="3154680" y="1234440"/>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LeNet</a:t>
            </a:r>
            <a:endParaRPr lang="en-US" sz="1100" dirty="0"/>
          </a:p>
        </p:txBody>
      </p:sp>
      <p:sp>
        <p:nvSpPr>
          <p:cNvPr id="19" name="Text 17"/>
          <p:cNvSpPr/>
          <p:nvPr/>
        </p:nvSpPr>
        <p:spPr>
          <a:xfrm>
            <a:off x="3154680" y="1490472"/>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LeCun: first CNN</a:t>
            </a:r>
            <a:endParaRPr lang="en-US" sz="900" dirty="0"/>
          </a:p>
        </p:txBody>
      </p:sp>
      <p:sp>
        <p:nvSpPr>
          <p:cNvPr id="20" name="Shape 18"/>
          <p:cNvSpPr/>
          <p:nvPr/>
        </p:nvSpPr>
        <p:spPr>
          <a:xfrm>
            <a:off x="5074920" y="2807208"/>
            <a:ext cx="237744" cy="237744"/>
          </a:xfrm>
          <a:prstGeom prst="ellipse">
            <a:avLst/>
          </a:prstGeom>
          <a:solidFill>
            <a:srgbClr val="4CAF50"/>
          </a:solidFill>
          <a:ln w="12700">
            <a:solidFill>
              <a:srgbClr val="4CAF50"/>
            </a:solidFill>
            <a:prstDash val="solid"/>
          </a:ln>
        </p:spPr>
      </p:sp>
      <p:sp>
        <p:nvSpPr>
          <p:cNvPr id="21" name="Shape 19"/>
          <p:cNvSpPr/>
          <p:nvPr/>
        </p:nvSpPr>
        <p:spPr>
          <a:xfrm>
            <a:off x="5193792" y="3063240"/>
            <a:ext cx="0" cy="1188720"/>
          </a:xfrm>
          <a:prstGeom prst="line">
            <a:avLst/>
          </a:prstGeom>
          <a:noFill/>
          <a:ln w="12700">
            <a:solidFill>
              <a:srgbClr val="4CAF50"/>
            </a:solidFill>
            <a:prstDash val="dash"/>
          </a:ln>
        </p:spPr>
      </p:sp>
      <p:sp>
        <p:nvSpPr>
          <p:cNvPr id="22" name="Text 20"/>
          <p:cNvSpPr/>
          <p:nvPr/>
        </p:nvSpPr>
        <p:spPr>
          <a:xfrm>
            <a:off x="4572000" y="3337560"/>
            <a:ext cx="1280160" cy="274320"/>
          </a:xfrm>
          <a:prstGeom prst="rect">
            <a:avLst/>
          </a:prstGeom>
          <a:noFill/>
          <a:ln/>
        </p:spPr>
        <p:txBody>
          <a:bodyPr wrap="square" lIns="0" tIns="0" rIns="0" bIns="0" rtlCol="0" anchor="ctr"/>
          <a:lstStyle/>
          <a:p>
            <a:pPr algn="ctr" indent="0" marL="0">
              <a:buNone/>
            </a:pPr>
            <a:r>
              <a:rPr lang="en-US" sz="1200" b="1" dirty="0">
                <a:solidFill>
                  <a:srgbClr val="4CAF50"/>
                </a:solidFill>
                <a:latin typeface="Calibri" pitchFamily="34" charset="0"/>
                <a:ea typeface="Calibri" pitchFamily="34" charset="-122"/>
                <a:cs typeface="Calibri" pitchFamily="34" charset="-120"/>
              </a:rPr>
              <a:t>2012</a:t>
            </a:r>
            <a:endParaRPr lang="en-US" sz="1200" dirty="0"/>
          </a:p>
        </p:txBody>
      </p:sp>
      <p:sp>
        <p:nvSpPr>
          <p:cNvPr id="23" name="Text 21"/>
          <p:cNvSpPr/>
          <p:nvPr/>
        </p:nvSpPr>
        <p:spPr>
          <a:xfrm>
            <a:off x="4572000" y="3630168"/>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AlexNet</a:t>
            </a:r>
            <a:endParaRPr lang="en-US" sz="1100" dirty="0"/>
          </a:p>
        </p:txBody>
      </p:sp>
      <p:sp>
        <p:nvSpPr>
          <p:cNvPr id="24" name="Text 22"/>
          <p:cNvSpPr/>
          <p:nvPr/>
        </p:nvSpPr>
        <p:spPr>
          <a:xfrm>
            <a:off x="4572000" y="3904488"/>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ImageNet breakthrough</a:t>
            </a:r>
            <a:endParaRPr lang="en-US" sz="900" dirty="0"/>
          </a:p>
        </p:txBody>
      </p:sp>
      <p:sp>
        <p:nvSpPr>
          <p:cNvPr id="25" name="Shape 23"/>
          <p:cNvSpPr/>
          <p:nvPr/>
        </p:nvSpPr>
        <p:spPr>
          <a:xfrm>
            <a:off x="6492240" y="2807208"/>
            <a:ext cx="237744" cy="237744"/>
          </a:xfrm>
          <a:prstGeom prst="ellipse">
            <a:avLst/>
          </a:prstGeom>
          <a:solidFill>
            <a:srgbClr val="FFC107"/>
          </a:solidFill>
          <a:ln w="12700">
            <a:solidFill>
              <a:srgbClr val="FFC107"/>
            </a:solidFill>
            <a:prstDash val="solid"/>
          </a:ln>
        </p:spPr>
      </p:sp>
      <p:sp>
        <p:nvSpPr>
          <p:cNvPr id="26" name="Shape 24"/>
          <p:cNvSpPr/>
          <p:nvPr/>
        </p:nvSpPr>
        <p:spPr>
          <a:xfrm>
            <a:off x="6611112" y="1371600"/>
            <a:ext cx="0" cy="1417320"/>
          </a:xfrm>
          <a:prstGeom prst="line">
            <a:avLst/>
          </a:prstGeom>
          <a:noFill/>
          <a:ln w="12700">
            <a:solidFill>
              <a:srgbClr val="FFC107"/>
            </a:solidFill>
            <a:prstDash val="dash"/>
          </a:ln>
        </p:spPr>
      </p:sp>
      <p:sp>
        <p:nvSpPr>
          <p:cNvPr id="27" name="Text 25"/>
          <p:cNvSpPr/>
          <p:nvPr/>
        </p:nvSpPr>
        <p:spPr>
          <a:xfrm>
            <a:off x="5989320" y="960120"/>
            <a:ext cx="1280160" cy="274320"/>
          </a:xfrm>
          <a:prstGeom prst="rect">
            <a:avLst/>
          </a:prstGeom>
          <a:noFill/>
          <a:ln/>
        </p:spPr>
        <p:txBody>
          <a:bodyPr wrap="square" lIns="0" tIns="0" rIns="0" bIns="0" rtlCol="0" anchor="ctr"/>
          <a:lstStyle/>
          <a:p>
            <a:pPr algn="ctr" indent="0" marL="0">
              <a:buNone/>
            </a:pPr>
            <a:r>
              <a:rPr lang="en-US" sz="1200" b="1" dirty="0">
                <a:solidFill>
                  <a:srgbClr val="FFC107"/>
                </a:solidFill>
                <a:latin typeface="Calibri" pitchFamily="34" charset="0"/>
                <a:ea typeface="Calibri" pitchFamily="34" charset="-122"/>
                <a:cs typeface="Calibri" pitchFamily="34" charset="-120"/>
              </a:rPr>
              <a:t>2017</a:t>
            </a:r>
            <a:endParaRPr lang="en-US" sz="1200" dirty="0"/>
          </a:p>
        </p:txBody>
      </p:sp>
      <p:sp>
        <p:nvSpPr>
          <p:cNvPr id="28" name="Text 26"/>
          <p:cNvSpPr/>
          <p:nvPr/>
        </p:nvSpPr>
        <p:spPr>
          <a:xfrm>
            <a:off x="5989320" y="1234440"/>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Transformer</a:t>
            </a:r>
            <a:endParaRPr lang="en-US" sz="1100" dirty="0"/>
          </a:p>
        </p:txBody>
      </p:sp>
      <p:sp>
        <p:nvSpPr>
          <p:cNvPr id="29" name="Text 27"/>
          <p:cNvSpPr/>
          <p:nvPr/>
        </p:nvSpPr>
        <p:spPr>
          <a:xfrm>
            <a:off x="5989320" y="1490472"/>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Attention is All You Need</a:t>
            </a:r>
            <a:endParaRPr lang="en-US" sz="900" dirty="0"/>
          </a:p>
        </p:txBody>
      </p:sp>
      <p:sp>
        <p:nvSpPr>
          <p:cNvPr id="30" name="Shape 28"/>
          <p:cNvSpPr/>
          <p:nvPr/>
        </p:nvSpPr>
        <p:spPr>
          <a:xfrm>
            <a:off x="7909560" y="2807208"/>
            <a:ext cx="237744" cy="237744"/>
          </a:xfrm>
          <a:prstGeom prst="ellipse">
            <a:avLst/>
          </a:prstGeom>
          <a:solidFill>
            <a:srgbClr val="FF6B6B"/>
          </a:solidFill>
          <a:ln w="12700">
            <a:solidFill>
              <a:srgbClr val="FF6B6B"/>
            </a:solidFill>
            <a:prstDash val="solid"/>
          </a:ln>
        </p:spPr>
      </p:sp>
      <p:sp>
        <p:nvSpPr>
          <p:cNvPr id="31" name="Shape 29"/>
          <p:cNvSpPr/>
          <p:nvPr/>
        </p:nvSpPr>
        <p:spPr>
          <a:xfrm>
            <a:off x="8028432" y="3063240"/>
            <a:ext cx="0" cy="1188720"/>
          </a:xfrm>
          <a:prstGeom prst="line">
            <a:avLst/>
          </a:prstGeom>
          <a:noFill/>
          <a:ln w="12700">
            <a:solidFill>
              <a:srgbClr val="FF6B6B"/>
            </a:solidFill>
            <a:prstDash val="dash"/>
          </a:ln>
        </p:spPr>
      </p:sp>
      <p:sp>
        <p:nvSpPr>
          <p:cNvPr id="32" name="Text 30"/>
          <p:cNvSpPr/>
          <p:nvPr/>
        </p:nvSpPr>
        <p:spPr>
          <a:xfrm>
            <a:off x="7406640" y="3337560"/>
            <a:ext cx="1280160" cy="274320"/>
          </a:xfrm>
          <a:prstGeom prst="rect">
            <a:avLst/>
          </a:prstGeom>
          <a:noFill/>
          <a:ln/>
        </p:spPr>
        <p:txBody>
          <a:bodyPr wrap="square" lIns="0" tIns="0" rIns="0" bIns="0" rtlCol="0" anchor="ctr"/>
          <a:lstStyle/>
          <a:p>
            <a:pPr algn="ctr" indent="0" marL="0">
              <a:buNone/>
            </a:pPr>
            <a:r>
              <a:rPr lang="en-US" sz="1200" b="1" dirty="0">
                <a:solidFill>
                  <a:srgbClr val="FF6B6B"/>
                </a:solidFill>
                <a:latin typeface="Calibri" pitchFamily="34" charset="0"/>
                <a:ea typeface="Calibri" pitchFamily="34" charset="-122"/>
                <a:cs typeface="Calibri" pitchFamily="34" charset="-120"/>
              </a:rPr>
              <a:t>2022</a:t>
            </a:r>
            <a:endParaRPr lang="en-US" sz="1200" dirty="0"/>
          </a:p>
        </p:txBody>
      </p:sp>
      <p:sp>
        <p:nvSpPr>
          <p:cNvPr id="33" name="Text 31"/>
          <p:cNvSpPr/>
          <p:nvPr/>
        </p:nvSpPr>
        <p:spPr>
          <a:xfrm>
            <a:off x="7406640" y="3630168"/>
            <a:ext cx="12801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ChatGPT</a:t>
            </a:r>
            <a:endParaRPr lang="en-US" sz="1100" dirty="0"/>
          </a:p>
        </p:txBody>
      </p:sp>
      <p:sp>
        <p:nvSpPr>
          <p:cNvPr id="34" name="Text 32"/>
          <p:cNvSpPr/>
          <p:nvPr/>
        </p:nvSpPr>
        <p:spPr>
          <a:xfrm>
            <a:off x="7406640" y="3904488"/>
            <a:ext cx="1280160" cy="274320"/>
          </a:xfrm>
          <a:prstGeom prst="rect">
            <a:avLst/>
          </a:prstGeom>
          <a:noFill/>
          <a:ln/>
        </p:spPr>
        <p:txBody>
          <a:bodyPr wrap="square" lIns="0" tIns="0" rIns="0" bIns="0" rtlCol="0" anchor="ctr"/>
          <a:lstStyle/>
          <a:p>
            <a:pPr algn="ctr" indent="0" marL="0">
              <a:buNone/>
            </a:pPr>
            <a:r>
              <a:rPr lang="en-US" sz="900" dirty="0">
                <a:solidFill>
                  <a:srgbClr val="90CAF9"/>
                </a:solidFill>
                <a:latin typeface="Calibri" pitchFamily="34" charset="0"/>
                <a:ea typeface="Calibri" pitchFamily="34" charset="-122"/>
                <a:cs typeface="Calibri" pitchFamily="34" charset="-120"/>
              </a:rPr>
              <a:t>LLM revolution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828800" y="-914400"/>
            <a:ext cx="5486400" cy="5486400"/>
          </a:xfrm>
          <a:prstGeom prst="ellipse">
            <a:avLst/>
          </a:prstGeom>
          <a:solidFill>
            <a:srgbClr val="1E88E5">
              <a:alpha val="10000"/>
            </a:srgbClr>
          </a:solidFill>
          <a:ln w="12700">
            <a:solidFill>
              <a:srgbClr val="1E88E5"/>
            </a:solidFill>
            <a:prstDash val="solid"/>
          </a:ln>
        </p:spPr>
      </p:sp>
      <p:sp>
        <p:nvSpPr>
          <p:cNvPr id="3" name="Text 1"/>
          <p:cNvSpPr/>
          <p:nvPr/>
        </p:nvSpPr>
        <p:spPr>
          <a:xfrm>
            <a:off x="457200" y="274320"/>
            <a:ext cx="82296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4" name="Shape 2"/>
          <p:cNvSpPr/>
          <p:nvPr/>
        </p:nvSpPr>
        <p:spPr>
          <a:xfrm>
            <a:off x="3200400" y="914400"/>
            <a:ext cx="2743200" cy="45720"/>
          </a:xfrm>
          <a:prstGeom prst="rect">
            <a:avLst/>
          </a:prstGeom>
          <a:solidFill>
            <a:srgbClr val="00BCD4"/>
          </a:solidFill>
          <a:ln w="12700">
            <a:solidFill>
              <a:srgbClr val="00BCD4"/>
            </a:solidFill>
            <a:prstDash val="solid"/>
          </a:ln>
        </p:spPr>
      </p:sp>
      <p:sp>
        <p:nvSpPr>
          <p:cNvPr id="5" name="Shape 3"/>
          <p:cNvSpPr/>
          <p:nvPr/>
        </p:nvSpPr>
        <p:spPr>
          <a:xfrm>
            <a:off x="640080" y="1097280"/>
            <a:ext cx="7863840" cy="658368"/>
          </a:xfrm>
          <a:prstGeom prst="rect">
            <a:avLst/>
          </a:prstGeom>
          <a:solidFill>
            <a:srgbClr val="132238"/>
          </a:solidFill>
          <a:ln w="12700">
            <a:solidFill>
              <a:srgbClr val="1E3A5F"/>
            </a:solidFill>
            <a:prstDash val="solid"/>
          </a:ln>
        </p:spPr>
      </p:sp>
      <p:sp>
        <p:nvSpPr>
          <p:cNvPr id="6" name="Text 4"/>
          <p:cNvSpPr/>
          <p:nvPr/>
        </p:nvSpPr>
        <p:spPr>
          <a:xfrm>
            <a:off x="868680" y="1170432"/>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Deep Learning = stacked layers of learned transformations on data</a:t>
            </a:r>
            <a:endParaRPr lang="en-US" sz="1400" dirty="0"/>
          </a:p>
        </p:txBody>
      </p:sp>
      <p:sp>
        <p:nvSpPr>
          <p:cNvPr id="7" name="Shape 5"/>
          <p:cNvSpPr/>
          <p:nvPr/>
        </p:nvSpPr>
        <p:spPr>
          <a:xfrm>
            <a:off x="640080" y="1847088"/>
            <a:ext cx="7863840" cy="658368"/>
          </a:xfrm>
          <a:prstGeom prst="rect">
            <a:avLst/>
          </a:prstGeom>
          <a:solidFill>
            <a:srgbClr val="132238"/>
          </a:solidFill>
          <a:ln w="12700">
            <a:solidFill>
              <a:srgbClr val="1E3A5F"/>
            </a:solidFill>
            <a:prstDash val="solid"/>
          </a:ln>
        </p:spPr>
      </p:sp>
      <p:sp>
        <p:nvSpPr>
          <p:cNvPr id="8" name="Text 6"/>
          <p:cNvSpPr/>
          <p:nvPr/>
        </p:nvSpPr>
        <p:spPr>
          <a:xfrm>
            <a:off x="868680" y="1920240"/>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Backpropagation + gradient descent trains networks end-to-end</a:t>
            </a:r>
            <a:endParaRPr lang="en-US" sz="1400" dirty="0"/>
          </a:p>
        </p:txBody>
      </p:sp>
      <p:sp>
        <p:nvSpPr>
          <p:cNvPr id="9" name="Shape 7"/>
          <p:cNvSpPr/>
          <p:nvPr/>
        </p:nvSpPr>
        <p:spPr>
          <a:xfrm>
            <a:off x="640080" y="2596896"/>
            <a:ext cx="7863840" cy="658368"/>
          </a:xfrm>
          <a:prstGeom prst="rect">
            <a:avLst/>
          </a:prstGeom>
          <a:solidFill>
            <a:srgbClr val="132238"/>
          </a:solidFill>
          <a:ln w="12700">
            <a:solidFill>
              <a:srgbClr val="1E3A5F"/>
            </a:solidFill>
            <a:prstDash val="solid"/>
          </a:ln>
        </p:spPr>
      </p:sp>
      <p:sp>
        <p:nvSpPr>
          <p:cNvPr id="10" name="Text 8"/>
          <p:cNvSpPr/>
          <p:nvPr/>
        </p:nvSpPr>
        <p:spPr>
          <a:xfrm>
            <a:off x="868680" y="2670048"/>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Architecture choice (CNN, RNN, Transformer) depends on the data type</a:t>
            </a:r>
            <a:endParaRPr lang="en-US" sz="1400" dirty="0"/>
          </a:p>
        </p:txBody>
      </p:sp>
      <p:sp>
        <p:nvSpPr>
          <p:cNvPr id="11" name="Shape 9"/>
          <p:cNvSpPr/>
          <p:nvPr/>
        </p:nvSpPr>
        <p:spPr>
          <a:xfrm>
            <a:off x="640080" y="3346704"/>
            <a:ext cx="7863840" cy="658368"/>
          </a:xfrm>
          <a:prstGeom prst="rect">
            <a:avLst/>
          </a:prstGeom>
          <a:solidFill>
            <a:srgbClr val="132238"/>
          </a:solidFill>
          <a:ln w="12700">
            <a:solidFill>
              <a:srgbClr val="1E3A5F"/>
            </a:solidFill>
            <a:prstDash val="solid"/>
          </a:ln>
        </p:spPr>
      </p:sp>
      <p:sp>
        <p:nvSpPr>
          <p:cNvPr id="12" name="Text 10"/>
          <p:cNvSpPr/>
          <p:nvPr/>
        </p:nvSpPr>
        <p:spPr>
          <a:xfrm>
            <a:off x="868680" y="3419856"/>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Regularization is essential to avoid overfitting on training data</a:t>
            </a:r>
            <a:endParaRPr lang="en-US" sz="1400" dirty="0"/>
          </a:p>
        </p:txBody>
      </p:sp>
      <p:sp>
        <p:nvSpPr>
          <p:cNvPr id="13" name="Shape 11"/>
          <p:cNvSpPr/>
          <p:nvPr/>
        </p:nvSpPr>
        <p:spPr>
          <a:xfrm>
            <a:off x="640080" y="4096512"/>
            <a:ext cx="7863840" cy="658368"/>
          </a:xfrm>
          <a:prstGeom prst="rect">
            <a:avLst/>
          </a:prstGeom>
          <a:solidFill>
            <a:srgbClr val="132238"/>
          </a:solidFill>
          <a:ln w="12700">
            <a:solidFill>
              <a:srgbClr val="1E3A5F"/>
            </a:solidFill>
            <a:prstDash val="solid"/>
          </a:ln>
        </p:spPr>
      </p:sp>
      <p:sp>
        <p:nvSpPr>
          <p:cNvPr id="14" name="Text 12"/>
          <p:cNvSpPr/>
          <p:nvPr/>
        </p:nvSpPr>
        <p:spPr>
          <a:xfrm>
            <a:off x="868680" y="4169664"/>
            <a:ext cx="74980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Deep learning now powers vision, language, generation &amp; more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Theory &amp; Applications</dc:title>
  <dc:subject>PptxGenJS Presentation</dc:subject>
  <dc:creator>PptxGenJS</dc:creator>
  <cp:lastModifiedBy>PptxGenJS</cp:lastModifiedBy>
  <cp:revision>1</cp:revision>
  <dcterms:created xsi:type="dcterms:W3CDTF">2026-04-23T12:45:41Z</dcterms:created>
  <dcterms:modified xsi:type="dcterms:W3CDTF">2026-04-23T12:45:41Z</dcterms:modified>
</cp:coreProperties>
</file>