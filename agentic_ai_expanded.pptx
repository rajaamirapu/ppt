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AI: The Next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213" y="116601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From Automation to Autonomous Decision-Making</a:t>
            </a:r>
          </a:p>
          <a:p>
            <a:r>
              <a:rPr lang="en-US" dirty="0"/>
              <a:t>AI agents don’t just respond — they plan, act, and learn. This presentation explores how enterprises are deploying autonomous AI systems to handle complex, multi-step workflows with minimal human intervention.</a:t>
            </a:r>
          </a:p>
          <a:p>
            <a:r>
              <a:rPr lang="en-US" i="1" dirty="0"/>
              <a:t>“The question is not whether AI will replace humans, but which humans will use AI to replace others.” — Harvard Business Review,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213" y="1088923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What is Changing</a:t>
            </a:r>
          </a:p>
          <a:p>
            <a:r>
              <a:rPr lang="en-US" dirty="0"/>
              <a:t>AI is evolving from reactive systems (answering questions) to proactive agents (completing goals). Traditional AI waits for a prompt; Agentic AI breaks down a goal, creates a plan, calls tools, and executes — all autonomously.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40-60% reduction in repetitive task cycle time | 24/7 operations without staffing costs | 3x faster root-cause analysis in IT/ops</a:t>
            </a:r>
          </a:p>
          <a:p>
            <a:r>
              <a:rPr lang="en-US" b="1" dirty="0"/>
              <a:t>Market Signal</a:t>
            </a:r>
          </a:p>
          <a:p>
            <a:r>
              <a:rPr lang="en-US" i="1" dirty="0"/>
              <a:t>“By 2028, 15% of day-to-day work decisions will be made autonomously through agentic AI.” — Gartner,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964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Agentic AI refers to AI systems that autonomously pursue goals by breaking them into sub-tasks, using external tools (APIs, databases, browsers), reasoning over intermediate results, and adapting plans when they encounter obstacles.</a:t>
            </a:r>
          </a:p>
          <a:p>
            <a:r>
              <a:rPr lang="en-US" b="1" dirty="0"/>
              <a:t>Key Characteristics</a:t>
            </a:r>
          </a:p>
          <a:p>
            <a:r>
              <a:rPr lang="en-US" dirty="0"/>
              <a:t>Goal-directed: Given “Book cheapest flight to NYC”, it searches, compares, and books — not just searches.</a:t>
            </a:r>
          </a:p>
          <a:p>
            <a:r>
              <a:rPr lang="en-US" dirty="0"/>
              <a:t>Tool-using: Can call APIs, run code, query databases, and send emails.</a:t>
            </a:r>
          </a:p>
          <a:p>
            <a:r>
              <a:rPr lang="en-US" dirty="0"/>
              <a:t>Self-correcting: If a step fails, it retries, reroutes, or escalates.</a:t>
            </a:r>
          </a:p>
          <a:p>
            <a:r>
              <a:rPr lang="en-US" b="1" dirty="0"/>
              <a:t>Simple Example</a:t>
            </a:r>
          </a:p>
          <a:p>
            <a:r>
              <a:rPr lang="en-US" i="1" dirty="0"/>
              <a:t>User: “Research the top 3 competitors and send me a summary by 5 PM.” An agentic AI browses the web, extracts data, compiles the report, and emails it — without further instructions.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497" y="1434844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Traditional AI: Reactive</a:t>
            </a:r>
          </a:p>
          <a:p>
            <a:r>
              <a:rPr lang="en-US" dirty="0"/>
              <a:t>Waits for input, returns a single response, then stops. Example: ChatGPT answering “What is the capital of France?” — one question, one answer, no follow-through.</a:t>
            </a:r>
          </a:p>
          <a:p>
            <a:r>
              <a:rPr lang="en-US" b="1" dirty="0"/>
              <a:t>Agentic AI: Proactive</a:t>
            </a:r>
          </a:p>
          <a:p>
            <a:r>
              <a:rPr lang="en-US" dirty="0"/>
              <a:t>Pursues a goal across many steps. Example: “Onboard a new client” — it creates the account, assigns a CSM, schedules kickoff, sends welcome email, and logs everything in CRM.</a:t>
            </a:r>
          </a:p>
          <a:p>
            <a:r>
              <a:rPr lang="en-US" b="1" dirty="0"/>
              <a:t>Key Differences at a Glance</a:t>
            </a:r>
          </a:p>
          <a:p>
            <a:r>
              <a:rPr lang="en-US" dirty="0"/>
              <a:t>Single-step (Traditional) vs Multi-step with tool use (Agentic)</a:t>
            </a:r>
          </a:p>
          <a:p>
            <a:r>
              <a:rPr lang="en-US" dirty="0"/>
              <a:t>Low autonomy, human drives each step (Traditional) vs High autonomy, human sets goal only (Agentic)</a:t>
            </a:r>
          </a:p>
          <a:p>
            <a:r>
              <a:rPr lang="en-US" dirty="0"/>
              <a:t>No memory between sessions (Traditional) vs Persistent memory enables learning over time (Agentic)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Digital Employee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77" y="1166018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Think of an Agentic AI as a skilled new employee who has been given a job description, a desk, and a toolbox. They don’t need hand-holding for every task.</a:t>
            </a:r>
          </a:p>
          <a:p>
            <a:r>
              <a:rPr lang="en-US" b="1" dirty="0"/>
              <a:t>LLM = Brain</a:t>
            </a:r>
          </a:p>
          <a:p>
            <a:r>
              <a:rPr lang="en-US" dirty="0"/>
              <a:t>Reasons, understands language, makes decisions. Like a smart analyst who reads reports and draws conclusions.</a:t>
            </a:r>
          </a:p>
          <a:p>
            <a:r>
              <a:rPr lang="en-US" b="1" dirty="0"/>
              <a:t>Tools = Hands</a:t>
            </a:r>
          </a:p>
          <a:p>
            <a:r>
              <a:rPr lang="en-US" dirty="0"/>
              <a:t>Web browsers, APIs, code interpreters, email clients. The agent can search Google, pull a report from Salesforce, or trigger a Jira ticket.</a:t>
            </a:r>
          </a:p>
          <a:p>
            <a:r>
              <a:rPr lang="en-US" b="1" dirty="0"/>
              <a:t>Memory = Experience</a:t>
            </a:r>
          </a:p>
          <a:p>
            <a:r>
              <a:rPr lang="en-US" dirty="0"/>
              <a:t>Remembers past interactions, client preferences, and prior decisions — like an employee who recalls what worked last quarter.</a:t>
            </a:r>
          </a:p>
          <a:p>
            <a:r>
              <a:rPr lang="en-US" b="1" dirty="0"/>
              <a:t>Planner = Manager</a:t>
            </a:r>
          </a:p>
          <a:p>
            <a:r>
              <a:rPr lang="en-US" dirty="0"/>
              <a:t>Breaks big goals into steps, sequences tasks, delegates to sub-agents — like a project manager orchestrating a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Reasoning Engine (LLM)</a:t>
            </a:r>
          </a:p>
          <a:p>
            <a:r>
              <a:rPr lang="en-US" dirty="0"/>
              <a:t>The core intelligence that interprets goals, evaluates options, and generates next actions. Examples: GPT-4, Claude, Gemini.</a:t>
            </a:r>
          </a:p>
          <a:p>
            <a:r>
              <a:rPr lang="en-US" b="1" dirty="0"/>
              <a:t>Planner / Orchestrator</a:t>
            </a:r>
          </a:p>
          <a:p>
            <a:r>
              <a:rPr lang="en-US" dirty="0"/>
              <a:t>Decomposes a goal into sub-tasks and sequences them. “To close this support ticket, first retrieve account data, then diagnose, then respond.”</a:t>
            </a:r>
          </a:p>
          <a:p>
            <a:r>
              <a:rPr lang="en-US" b="1" dirty="0"/>
              <a:t>Tools / APIs</a:t>
            </a:r>
          </a:p>
          <a:p>
            <a:r>
              <a:rPr lang="en-US" dirty="0"/>
              <a:t>External capabilities: web search, database queries, code execution, CRM updates, email. Each tool extends what the agent can do in the real world.</a:t>
            </a:r>
          </a:p>
          <a:p>
            <a:r>
              <a:rPr lang="en-US" b="1" dirty="0"/>
              <a:t>Memory (Short + Long Term)</a:t>
            </a:r>
          </a:p>
          <a:p>
            <a:r>
              <a:rPr lang="en-US" dirty="0"/>
              <a:t>Short-term: current session context. Long-term: vector database storing past interactions, policies, and domain knowledge for retrieval.</a:t>
            </a:r>
          </a:p>
          <a:p>
            <a:r>
              <a:rPr lang="en-US" b="1" dirty="0"/>
              <a:t>Feedback Loop</a:t>
            </a:r>
          </a:p>
          <a:p>
            <a:r>
              <a:rPr lang="en-US" dirty="0"/>
              <a:t>After each action, the agent observes the result and updates its plan. If an API call fails, it retries with different parameters or escalates to a human.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903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1. Goal</a:t>
            </a:r>
            <a:r>
              <a:rPr lang="en-US" dirty="0"/>
              <a:t> — One instruction starts everything. E.g., “Resolve all P1 incidents.”</a:t>
            </a:r>
          </a:p>
          <a:p>
            <a:r>
              <a:rPr lang="en-US" b="1" dirty="0"/>
              <a:t>2. Plan</a:t>
            </a:r>
            <a:r>
              <a:rPr lang="en-US" dirty="0"/>
              <a:t> — Goal is broken into ordered steps before any action is taken.</a:t>
            </a:r>
          </a:p>
          <a:p>
            <a:r>
              <a:rPr lang="en-US" b="1" dirty="0"/>
              <a:t>3. Execute</a:t>
            </a:r>
            <a:r>
              <a:rPr lang="en-US" dirty="0"/>
              <a:t> — Each step runs using the right tool: API, shell command, or database query.</a:t>
            </a:r>
          </a:p>
          <a:p>
            <a:r>
              <a:rPr lang="en-US" b="1" dirty="0"/>
              <a:t>4. Observe → Adjust → Repeat</a:t>
            </a:r>
            <a:r>
              <a:rPr lang="en-US" dirty="0"/>
              <a:t> — After each step, results are checked. Failures trigger a retry or human escalation.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213" y="1293837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Reactive Agents</a:t>
            </a:r>
          </a:p>
          <a:p>
            <a:r>
              <a:rPr lang="en-US" dirty="0"/>
              <a:t>Respond to immediate inputs without memory or planning. Example: a chatbot that answers FAQs. Fast, predictable, but limited in scope.</a:t>
            </a:r>
          </a:p>
          <a:p>
            <a:r>
              <a:rPr lang="en-US" b="1" dirty="0"/>
              <a:t>Planning Agents</a:t>
            </a:r>
          </a:p>
          <a:p>
            <a:r>
              <a:rPr lang="en-US" dirty="0"/>
              <a:t>Use reasoning to form multi-step plans before acting. Example: an agent that plans a data migration by sequencing backup → test → migrate → validate.</a:t>
            </a:r>
          </a:p>
          <a:p>
            <a:r>
              <a:rPr lang="en-US" b="1" dirty="0"/>
              <a:t>Multi-Agent Systems</a:t>
            </a:r>
          </a:p>
          <a:p>
            <a:r>
              <a:rPr lang="en-US" dirty="0"/>
              <a:t>Multiple specialized agents collaborate. Example: an Orchestrator delegates to a Research Agent, a Code Agent, and a QA Agent — like a software development team.</a:t>
            </a:r>
          </a:p>
          <a:p>
            <a:r>
              <a:rPr lang="en-US" b="1" dirty="0"/>
              <a:t>Fully Autonomous Agents</a:t>
            </a:r>
          </a:p>
          <a:p>
            <a:r>
              <a:rPr lang="en-US" dirty="0"/>
              <a:t>Operate with minimal human oversight over extended time. Example: an AI that monitors infrastructure 24/7, self-heals issues, and only escalates anomalies above a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BFSI: Fraud Detection &amp; AML</a:t>
            </a:r>
          </a:p>
          <a:p>
            <a:r>
              <a:rPr lang="en-US" dirty="0"/>
              <a:t>An agent monitors transactions in real-time, cross-references sanctions lists, flags anomalies, and auto-files Suspicious Activity Reports — cutting analyst workload by 70%.</a:t>
            </a:r>
          </a:p>
          <a:p>
            <a:r>
              <a:rPr lang="en-US" b="1" dirty="0"/>
              <a:t>E-Commerce: Dynamic Pricing</a:t>
            </a:r>
          </a:p>
          <a:p>
            <a:r>
              <a:rPr lang="en-US" dirty="0"/>
              <a:t>Tracks competitor pricing, inventory levels, and demand signals every 15 minutes, then autonomously adjusts prices to maximize margin — no human approval needed per change.</a:t>
            </a:r>
          </a:p>
          <a:p>
            <a:r>
              <a:rPr lang="en-US" b="1" dirty="0"/>
              <a:t>IT Operations: Incident Resolution</a:t>
            </a:r>
          </a:p>
          <a:p>
            <a:r>
              <a:rPr lang="en-US" dirty="0"/>
              <a:t>Detects alerts, correlates logs, executes runbooks, and resolves 60% of L1 incidents autonomously. Mean time to resolve drops from 45 minutes to under 4 minutes.</a:t>
            </a:r>
          </a:p>
          <a:p>
            <a:r>
              <a:rPr lang="en-US" b="1" dirty="0"/>
              <a:t>Analytics: BI &amp; Insight Agents</a:t>
            </a:r>
          </a:p>
          <a:p>
            <a:r>
              <a:rPr lang="en-US" dirty="0"/>
              <a:t>A business user says “Why did revenue drop in Q3?”. The agent queries the data warehouse, builds visualizations, identifies root causes, and delivers a narrative report in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5735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Scenario: Enterprise Customer Support Agent</a:t>
            </a:r>
          </a:p>
          <a:p>
            <a:r>
              <a:rPr lang="en-US" dirty="0"/>
              <a:t>A customer emails: “My invoice from last month is wrong. Can you fix it and resend?”</a:t>
            </a:r>
          </a:p>
          <a:p>
            <a:r>
              <a:rPr lang="en-US" b="1" dirty="0"/>
              <a:t>Step 1: Understand</a:t>
            </a:r>
          </a:p>
          <a:p>
            <a:r>
              <a:rPr lang="en-US" dirty="0"/>
              <a:t>Agent parses the email, identifies intent (billing dispute), and extracts customer ID from the email signature.</a:t>
            </a:r>
          </a:p>
          <a:p>
            <a:r>
              <a:rPr lang="en-US" b="1" dirty="0"/>
              <a:t>Step 2: Retrieve &amp; Diagnose</a:t>
            </a:r>
          </a:p>
          <a:p>
            <a:r>
              <a:rPr lang="en-US" dirty="0"/>
              <a:t>Queries CRM for account history, pulls last invoice from the billing system, and compares line items against contract terms to identify the discrepancy.</a:t>
            </a:r>
          </a:p>
          <a:p>
            <a:r>
              <a:rPr lang="en-US" b="1" dirty="0"/>
              <a:t>Step 3: Act &amp; Close</a:t>
            </a:r>
          </a:p>
          <a:p>
            <a:r>
              <a:rPr lang="en-US" dirty="0"/>
              <a:t>Corrects the invoice in the billing system, generates a PDF, emails it to the customer with an explanation, and logs the resolution in CRM — all without human involvement.</a:t>
            </a:r>
          </a:p>
          <a:p>
            <a:r>
              <a:rPr lang="en-US" i="1" dirty="0"/>
              <a:t>Result: Resolution time drops from 48 hours to under 3 minutes. CSAT scores improve by 35%.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4" y="1039761"/>
            <a:ext cx="82296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Reduced Cycle Time</a:t>
            </a:r>
          </a:p>
          <a:p>
            <a:r>
              <a:rPr lang="en-US" dirty="0"/>
              <a:t>Multi-step processes that took days (onboarding, compliance checks, report generation) are completed in minutes. JPMorgan’s COIN agent reviews 12,000 commercial loan agreements in seconds vs. 360,000 lawyer-hours annually.</a:t>
            </a:r>
          </a:p>
          <a:p>
            <a:r>
              <a:rPr lang="en-US" b="1" dirty="0"/>
              <a:t>24/7 Operations</a:t>
            </a:r>
          </a:p>
          <a:p>
            <a:r>
              <a:rPr lang="en-US" dirty="0"/>
              <a:t>Agents don’t sleep, take breaks, or go on vacation. IT incident resolution, customer support, and data monitoring run around the clock without staffing overhead.</a:t>
            </a:r>
          </a:p>
          <a:p>
            <a:r>
              <a:rPr lang="en-US" b="1" dirty="0"/>
              <a:t>Better, Faster Decisions</a:t>
            </a:r>
          </a:p>
          <a:p>
            <a:r>
              <a:rPr lang="en-US" dirty="0"/>
              <a:t>Agents process more data signals simultaneously than any human team. A pricing agent tracks 500 SKUs across 10 competitors in real time — impossible for a human analyst.</a:t>
            </a:r>
          </a:p>
          <a:p>
            <a:r>
              <a:rPr lang="en-US" b="1" dirty="0"/>
              <a:t>Continuous Learning</a:t>
            </a:r>
          </a:p>
          <a:p>
            <a:r>
              <a:rPr lang="en-US" dirty="0"/>
              <a:t>Every interaction is logged and can be used to fine-tune future behavior. Agents improve over time, adapting to edge cases and new business rules without re-engineering.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42" y="1059426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Hallucinations &amp; Reliability</a:t>
            </a:r>
          </a:p>
          <a:p>
            <a:r>
              <a:rPr lang="en-US" dirty="0"/>
              <a:t>LLMs can confidently generate incorrect outputs. In agentic settings, one wrong reasoning step cascades into wrong actions. Mitigation: retrieval-augmented generation (RAG), structured output validation, and human checkpoints on critical decisions.</a:t>
            </a:r>
          </a:p>
          <a:p>
            <a:r>
              <a:rPr lang="en-US" b="1" dirty="0"/>
              <a:t>Governance &amp; Auditability</a:t>
            </a:r>
          </a:p>
          <a:p>
            <a:r>
              <a:rPr lang="en-US" dirty="0"/>
              <a:t>Regulators demand explainability. When an agent denies a loan or flags fraud, you need a complete audit trail of every decision, tool call, and data source used. This requires logging at every step.</a:t>
            </a:r>
          </a:p>
          <a:p>
            <a:r>
              <a:rPr lang="en-US" b="1" dirty="0"/>
              <a:t>Trust &amp; Compliance</a:t>
            </a:r>
          </a:p>
          <a:p>
            <a:r>
              <a:rPr lang="en-US" dirty="0"/>
              <a:t>Agents that take actions (send emails, update records, execute transactions) require strict permission boundaries. “Prompt injection” attacks — where malicious input hijacks agent behavior — are an emerging threat vector.</a:t>
            </a:r>
          </a:p>
          <a:p>
            <a:r>
              <a:rPr lang="en-US" i="1" dirty="0"/>
              <a:t>“The biggest risk isn’t that AI does something malicious — it’s that it does something plausible but wrong at scale.” — AI Safety researcher,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77" y="1039762"/>
            <a:ext cx="82296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Human-in-the-Loop (HITL)</a:t>
            </a:r>
          </a:p>
          <a:p>
            <a:r>
              <a:rPr lang="en-US" dirty="0"/>
              <a:t>Not all decisions should be fully autonomous. Define “confidence thresholds”: actions above 95% confidence execute automatically; below that, an alert is sent to a human approver. Example: refunds under $500 auto-approved, over $500 require manager sign-off.</a:t>
            </a:r>
          </a:p>
          <a:p>
            <a:r>
              <a:rPr lang="en-US" b="1" dirty="0"/>
              <a:t>Audit Trails &amp; Explainability</a:t>
            </a:r>
          </a:p>
          <a:p>
            <a:r>
              <a:rPr lang="en-US" dirty="0"/>
              <a:t>Every agent action must be logged: what data was accessed, what tools were called, what decision was made, and why. Use structured event logs compatible with your SIEM or compliance platform (e.g., Splunk, Datadog).</a:t>
            </a:r>
          </a:p>
          <a:p>
            <a:r>
              <a:rPr lang="en-US" b="1" dirty="0"/>
              <a:t>Role-Based Access Control (RBAC)</a:t>
            </a:r>
          </a:p>
          <a:p>
            <a:r>
              <a:rPr lang="en-US" dirty="0"/>
              <a:t>Agents operate under the principle of least privilege. A customer support agent can read CRM data but cannot write to the finance system. Scope permissions to the minimum required for each agent’s function.</a:t>
            </a:r>
          </a:p>
          <a:p>
            <a:r>
              <a:rPr lang="en-US" b="1" dirty="0"/>
              <a:t>Governance Framework Example</a:t>
            </a:r>
          </a:p>
          <a:p>
            <a:r>
              <a:rPr lang="en-US" i="1" dirty="0"/>
              <a:t>AWS, Azure, and Google Cloud all offer AI governance toolkits with model cards, usage policies, and monitoring dashboards — adopt these as your baseline, then layer business-specific rules on 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Phase 1: Assistive AI (Months 0-6)</a:t>
            </a:r>
          </a:p>
          <a:p>
            <a:r>
              <a:rPr lang="en-US" dirty="0"/>
              <a:t>AI augments humans without taking autonomous action. Example: Copilot drafts emails, agents surface relevant KB articles, dashboards auto-populate. Human reviews every output before it goes live. Low risk, fast ROI.</a:t>
            </a:r>
          </a:p>
          <a:p>
            <a:r>
              <a:rPr lang="en-US" b="1" dirty="0"/>
              <a:t>Phase 2: Semi-Agentic (Months 6-18)</a:t>
            </a:r>
          </a:p>
          <a:p>
            <a:r>
              <a:rPr lang="en-US" dirty="0"/>
              <a:t>Agents handle defined workflows end-to-end for low-risk tasks. Example: auto-close resolved tickets, auto-approve routine purchase orders under a threshold. Humans approve exceptions only.</a:t>
            </a:r>
          </a:p>
          <a:p>
            <a:r>
              <a:rPr lang="en-US" b="1" dirty="0"/>
              <a:t>Phase 3: Fully Agentic (Month 18+)</a:t>
            </a:r>
          </a:p>
          <a:p>
            <a:r>
              <a:rPr lang="en-US" dirty="0"/>
              <a:t>Agents run entire business processes with minimal oversight. Multi-agent pipelines handle end-to-end: customer onboarding, fraud investigation, campaign management. Governance and audit infrastructure must be mature before this phase.</a:t>
            </a:r>
          </a:p>
          <a:p>
            <a:r>
              <a:rPr lang="en-US" i="1" dirty="0"/>
              <a:t>Key success factor: start with a high-volume, well-defined process (e.g., IT incident triage) rather than a complex, judgment-heavy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vs Buy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710" y="1059426"/>
            <a:ext cx="82296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Build (Custom Development)</a:t>
            </a:r>
          </a:p>
          <a:p>
            <a:r>
              <a:rPr lang="en-US" dirty="0"/>
              <a:t>Full control over data privacy, model choice, and integration. Best for highly regulated industries (BFSI, healthcare) or proprietary workflows. Requires ML engineering talent and 6-18 months to production. Frameworks: </a:t>
            </a:r>
            <a:r>
              <a:rPr lang="en-US" dirty="0" err="1"/>
              <a:t>LangChain</a:t>
            </a:r>
            <a:r>
              <a:rPr lang="en-US" dirty="0"/>
              <a:t>, LlamaIndex, </a:t>
            </a:r>
            <a:r>
              <a:rPr lang="en-US" dirty="0" err="1"/>
              <a:t>AutoGen</a:t>
            </a:r>
            <a:r>
              <a:rPr lang="en-US" dirty="0"/>
              <a:t>.</a:t>
            </a:r>
          </a:p>
          <a:p>
            <a:r>
              <a:rPr lang="en-US" b="1" dirty="0"/>
              <a:t>Buy (SaaS / Platform)</a:t>
            </a:r>
          </a:p>
          <a:p>
            <a:r>
              <a:rPr lang="en-US" dirty="0"/>
              <a:t>Faster time-to-value (weeks, not months). Examples: Salesforce </a:t>
            </a:r>
            <a:r>
              <a:rPr lang="en-US" dirty="0" err="1"/>
              <a:t>Agentforce</a:t>
            </a:r>
            <a:r>
              <a:rPr lang="en-US" dirty="0"/>
              <a:t> for CRM workflows, ServiceNow AI Agents for ITSM, Microsoft Copilot Studio for business automation. Trade-off: less customization, vendor lock-in risk.</a:t>
            </a:r>
          </a:p>
          <a:p>
            <a:r>
              <a:rPr lang="en-US" b="1" dirty="0"/>
              <a:t>Recommendation: Hybrid Approach</a:t>
            </a:r>
          </a:p>
          <a:p>
            <a:r>
              <a:rPr lang="en-US" dirty="0"/>
              <a:t>Buy for commodity workflows (support, HR, IT). Build for competitive differentiators (proprietary pricing models, unique risk algorithms). Use open-source foundations (</a:t>
            </a:r>
            <a:r>
              <a:rPr lang="en-US" dirty="0" err="1"/>
              <a:t>LLaMA</a:t>
            </a:r>
            <a:r>
              <a:rPr lang="en-US" dirty="0"/>
              <a:t>, Mistral) to reduce licensing costs at scale.</a:t>
            </a:r>
          </a:p>
          <a:p>
            <a:r>
              <a:rPr lang="en-US" i="1" dirty="0"/>
              <a:t>“Don’t build what you can buy; don’t buy what defines your competitive edge.”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78" y="274638"/>
            <a:ext cx="8229600" cy="1143000"/>
          </a:xfrm>
        </p:spPr>
        <p:txBody>
          <a:bodyPr/>
          <a:lstStyle/>
          <a:p>
            <a:r>
              <a:rPr dirty="0"/>
              <a:t>Organic Chemistry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Agents = Atoms</a:t>
            </a:r>
            <a:r>
              <a:rPr lang="en-US" dirty="0"/>
              <a:t> — Simple, specialized, composable units with one job each.</a:t>
            </a:r>
          </a:p>
          <a:p>
            <a:r>
              <a:rPr lang="en-US" b="1" dirty="0"/>
              <a:t>Communication = Bonds</a:t>
            </a:r>
            <a:r>
              <a:rPr lang="en-US" dirty="0"/>
              <a:t> — Agents connect via structured JSON messaging (sync or async).</a:t>
            </a:r>
          </a:p>
          <a:p>
            <a:r>
              <a:rPr lang="en-US" b="1" dirty="0"/>
              <a:t>Multi-Agent = Molecule</a:t>
            </a:r>
            <a:r>
              <a:rPr lang="en-US" dirty="0"/>
              <a:t> — Research + Code + QA agents combine into a capable “Dev Team.”</a:t>
            </a:r>
          </a:p>
          <a:p>
            <a:r>
              <a:rPr lang="en-US" b="1" dirty="0"/>
              <a:t>Tools = Functional Groups</a:t>
            </a:r>
            <a:r>
              <a:rPr lang="en-US" dirty="0"/>
              <a:t> — Attach search, code, or email tools to define what an agent can 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213" y="0"/>
            <a:ext cx="8229600" cy="1143000"/>
          </a:xfrm>
        </p:spPr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AI That Acts, Not Just Answers</a:t>
            </a:r>
          </a:p>
          <a:p>
            <a:r>
              <a:rPr lang="en-US" dirty="0"/>
              <a:t>The shift from “AI as a chatbot” to “AI as a worker” is the defining enterprise trend of 2025-2030. Agentic AI closes the loop between insight and action — it doesn’t just tell you what to do, it does it.</a:t>
            </a:r>
          </a:p>
          <a:p>
            <a:r>
              <a:rPr lang="en-US" b="1" dirty="0"/>
              <a:t>Enterprise Transformation is Underway</a:t>
            </a:r>
          </a:p>
          <a:p>
            <a:r>
              <a:rPr lang="en-US" dirty="0"/>
              <a:t>Leading companies in BFSI, retail, and tech are already deploying agentic pipelines in production. Those who wait for “the technology to mature” will face a 2-3 year competitive gap that is very hard to close.</a:t>
            </a:r>
          </a:p>
          <a:p>
            <a:r>
              <a:rPr lang="en-US" b="1" dirty="0"/>
              <a:t>Early Adoption Advantage</a:t>
            </a:r>
          </a:p>
          <a:p>
            <a:r>
              <a:rPr lang="en-US" dirty="0"/>
              <a:t>First-movers gain compounding advantages: more interaction data → better-trained agents → faster operations → lower costs. The ROI on an agent improves every month it runs.</a:t>
            </a:r>
          </a:p>
          <a:p>
            <a:r>
              <a:rPr lang="en-US" b="1" dirty="0"/>
              <a:t>Start Small, Scale Fast</a:t>
            </a:r>
          </a:p>
          <a:p>
            <a:r>
              <a:rPr lang="en-US" i="1" dirty="0"/>
              <a:t>Pick one high-volume, well-defined process. Prove ROI in 90 days. Then scale to adjacent workflows. You don’t need a multi-year transformation program — you need a focused pilot.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381" y="-221328"/>
            <a:ext cx="8229600" cy="1143000"/>
          </a:xfrm>
        </p:spPr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5" y="863344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AI is Moving from Tool to Workforce</a:t>
            </a:r>
          </a:p>
          <a:p>
            <a:r>
              <a:rPr lang="en-US" dirty="0"/>
              <a:t>We are entering an era where AI agents will sit alongside human employees in org charts — not replacing them, but augmenting their capacity to do more, faster, with greater consistency.</a:t>
            </a:r>
          </a:p>
          <a:p>
            <a:r>
              <a:rPr lang="en-US" b="1" dirty="0"/>
              <a:t>The Question is No Longer “If”</a:t>
            </a:r>
          </a:p>
          <a:p>
            <a:r>
              <a:rPr lang="en-US" dirty="0"/>
              <a:t>It’s “how fast” and “how responsibly.” Every enterprise has processes that are repetitive, data-rich, and rule-governed — these are ideal agent candidates available today.</a:t>
            </a:r>
          </a:p>
          <a:p>
            <a:r>
              <a:rPr lang="en-US" b="1" dirty="0"/>
              <a:t>Your Next Step</a:t>
            </a:r>
          </a:p>
          <a:p>
            <a:r>
              <a:rPr lang="en-US" dirty="0"/>
              <a:t>1. Identify one candidate process (high volume, structured, measurable). 2. Run a 30-day proof-of-concept with a focused agent. 3. Measure cycle time, cost, and quality vs. baseline. 4. Present findings to leadership and secure Phase 2 budget.</a:t>
            </a:r>
          </a:p>
          <a:p>
            <a:r>
              <a:rPr lang="en-US" i="1" dirty="0"/>
              <a:t>“The future belongs to organizations that treat AI not as a feature, but as a fundamental operating capability.”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2421</Words>
  <Application>Microsoft Office PowerPoint</Application>
  <PresentationFormat>On-screen Show (4:3)</PresentationFormat>
  <Paragraphs>147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Agentic AI: The Next Evolution</vt:lpstr>
      <vt:lpstr>Executive Summary</vt:lpstr>
      <vt:lpstr>What is Agentic AI?</vt:lpstr>
      <vt:lpstr>Traditional vs Agentic AI</vt:lpstr>
      <vt:lpstr>Analogy: Digital Employee</vt:lpstr>
      <vt:lpstr>Core Components</vt:lpstr>
      <vt:lpstr>Architecture</vt:lpstr>
      <vt:lpstr>Types of Agents</vt:lpstr>
      <vt:lpstr>Use Cases</vt:lpstr>
      <vt:lpstr>Example Use Case</vt:lpstr>
      <vt:lpstr>Benefits</vt:lpstr>
      <vt:lpstr>Challenges</vt:lpstr>
      <vt:lpstr>Governance Model</vt:lpstr>
      <vt:lpstr>Implementation Strategy</vt:lpstr>
      <vt:lpstr>Build vs Buy</vt:lpstr>
      <vt:lpstr>Organic Chemistry Analogy</vt:lpstr>
      <vt:lpstr>Key Takeaways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Rajasekhar Amirapu</cp:lastModifiedBy>
  <cp:revision>4</cp:revision>
  <dcterms:created xsi:type="dcterms:W3CDTF">2013-01-27T09:14:16Z</dcterms:created>
  <dcterms:modified xsi:type="dcterms:W3CDTF">2026-03-22T11:42:45Z</dcterms:modified>
  <cp:category/>
</cp:coreProperties>
</file>