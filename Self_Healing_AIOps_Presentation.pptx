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6" r:id="rId6"/>
    <p:sldId id="267" r:id="rId7"/>
    <p:sldId id="268" r:id="rId8"/>
    <p:sldId id="260" r:id="rId9"/>
    <p:sldId id="261" r:id="rId10"/>
    <p:sldId id="262" r:id="rId11"/>
    <p:sldId id="263" r:id="rId12"/>
    <p:sldId id="264" r:id="rId13"/>
    <p:sldId id="265" r:id="rId14"/>
    <p:sldId id="269" r:id="rId15"/>
    <p:sldId id="270" r:id="rId16"/>
    <p:sldId id="271" r:id="rId17"/>
    <p:sldId id="272" r:id="rId18"/>
    <p:sldId id="273" r:id="rId19"/>
    <p:sldId id="274" r:id="rId20"/>
    <p:sldId id="275" r:id="rId21"/>
    <p:sldId id="276"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5" d="100"/>
          <a:sy n="75" d="100"/>
        </p:scale>
        <p:origin x="1666"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440" y="2857500"/>
            <a:ext cx="8229600" cy="2598420"/>
          </a:xfrm>
        </p:spPr>
        <p:txBody>
          <a:bodyPr>
            <a:normAutofit fontScale="90000"/>
          </a:bodyPr>
          <a:lstStyle/>
          <a:p>
            <a:r>
              <a:rPr dirty="0"/>
              <a:t>Autonomous Log Intelligence &amp; Self-Healing System Using Local LLMs + Knowledge Graphs</a:t>
            </a:r>
            <a:br>
              <a:rPr lang="en-IN" dirty="0"/>
            </a:br>
            <a:r>
              <a:rPr lang="en-IN" dirty="0"/>
              <a:t>Raja Sekhar Amirapu</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7090"/>
            <a:ext cx="8229600" cy="1143000"/>
          </a:xfrm>
        </p:spPr>
        <p:txBody>
          <a:bodyPr>
            <a:normAutofit fontScale="90000"/>
          </a:bodyPr>
          <a:lstStyle/>
          <a:p>
            <a:r>
              <a:rPr dirty="0"/>
              <a:t>Problem Statement</a:t>
            </a:r>
            <a:r>
              <a:rPr lang="en-IN" dirty="0"/>
              <a:t>-</a:t>
            </a:r>
            <a:r>
              <a:rPr lang="en-US" dirty="0"/>
              <a:t>The Observability Crisis: Data Overload and Privacy Deadlocks</a:t>
            </a:r>
            <a:br>
              <a:rPr lang="en-US" dirty="0"/>
            </a:br>
            <a:endParaRPr dirty="0"/>
          </a:p>
        </p:txBody>
      </p:sp>
      <p:sp>
        <p:nvSpPr>
          <p:cNvPr id="3" name="Content Placeholder 2"/>
          <p:cNvSpPr>
            <a:spLocks noGrp="1"/>
          </p:cNvSpPr>
          <p:nvPr>
            <p:ph idx="1"/>
          </p:nvPr>
        </p:nvSpPr>
        <p:spPr>
          <a:xfrm>
            <a:off x="457200" y="2017404"/>
            <a:ext cx="8229600" cy="4525963"/>
          </a:xfrm>
        </p:spPr>
        <p:txBody>
          <a:bodyPr>
            <a:normAutofit fontScale="92500" lnSpcReduction="10000"/>
          </a:bodyPr>
          <a:lstStyle/>
          <a:p>
            <a:pPr marL="457200" lvl="1" indent="0">
              <a:buNone/>
            </a:pPr>
            <a:r>
              <a:rPr lang="en-US" dirty="0"/>
              <a:t>Modern infrastructure generates massive, "noisy," and unstructured log data that overwhelms traditional tools. Relying on human engineers to manually search ("grep") through this data for Root Cause Analysis (RCA) is slow, prone to error, and leads to prolonged downtime and alert fatigue.</a:t>
            </a:r>
          </a:p>
          <a:p>
            <a:pPr marL="457200" lvl="1" indent="0">
              <a:buNone/>
            </a:pPr>
            <a:r>
              <a:rPr lang="en-IN" dirty="0"/>
              <a:t>While AI offers a solution to the data volume problem, current "Cloud AIOps" models require sending sensitive log data to third-party vendors. This creates unacceptable privacy risks, regulatory compliance failures (e.g., GDPR, HIPAA), and high costs.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Solution Overview</a:t>
            </a:r>
          </a:p>
        </p:txBody>
      </p:sp>
      <p:sp>
        <p:nvSpPr>
          <p:cNvPr id="3" name="Content Placeholder 2"/>
          <p:cNvSpPr>
            <a:spLocks noGrp="1"/>
          </p:cNvSpPr>
          <p:nvPr>
            <p:ph idx="1"/>
          </p:nvPr>
        </p:nvSpPr>
        <p:spPr/>
        <p:txBody>
          <a:bodyPr>
            <a:normAutofit fontScale="55000" lnSpcReduction="20000"/>
          </a:bodyPr>
          <a:lstStyle/>
          <a:p>
            <a:r>
              <a:rPr lang="en-US" dirty="0"/>
              <a:t>Here is the summary of the updated solution:</a:t>
            </a:r>
          </a:p>
          <a:p>
            <a:r>
              <a:rPr lang="en-US" b="1" dirty="0"/>
              <a:t>The Solution: Graph-Augmented Private AI</a:t>
            </a:r>
            <a:endParaRPr lang="en-US" dirty="0"/>
          </a:p>
          <a:p>
            <a:r>
              <a:rPr lang="en-US" dirty="0"/>
              <a:t>We propose a self-contained intelligence engine that runs entirely on-premise or within your secure VPC, ensuring zero data leakage while transforming how incidents are resolved.</a:t>
            </a:r>
          </a:p>
          <a:p>
            <a:r>
              <a:rPr lang="en-US" b="1" dirty="0"/>
              <a:t>Hybrid Intelligence:</a:t>
            </a:r>
            <a:r>
              <a:rPr lang="en-US" dirty="0"/>
              <a:t> The system combines </a:t>
            </a:r>
            <a:r>
              <a:rPr lang="en-US" b="1" dirty="0"/>
              <a:t>Local LLMs</a:t>
            </a:r>
            <a:r>
              <a:rPr lang="en-US" dirty="0"/>
              <a:t> (to understand the </a:t>
            </a:r>
            <a:r>
              <a:rPr lang="en-US" i="1" dirty="0"/>
              <a:t>semantics</a:t>
            </a:r>
            <a:r>
              <a:rPr lang="en-US" dirty="0"/>
              <a:t> of log text) with a </a:t>
            </a:r>
            <a:r>
              <a:rPr lang="en-US" b="1" dirty="0"/>
              <a:t>Dynamic Knowledge Graph</a:t>
            </a:r>
            <a:r>
              <a:rPr lang="en-US" dirty="0"/>
              <a:t> (to understand the </a:t>
            </a:r>
            <a:r>
              <a:rPr lang="en-US" i="1" dirty="0"/>
              <a:t>structure</a:t>
            </a:r>
            <a:r>
              <a:rPr lang="en-US" dirty="0"/>
              <a:t> and dependencies of your infrastructure).</a:t>
            </a:r>
          </a:p>
          <a:p>
            <a:r>
              <a:rPr lang="en-US" b="1" dirty="0"/>
              <a:t>Contextual Reasoning (</a:t>
            </a:r>
            <a:r>
              <a:rPr lang="en-US" b="1" dirty="0" err="1"/>
              <a:t>GraphRAG</a:t>
            </a:r>
            <a:r>
              <a:rPr lang="en-US" b="1" dirty="0"/>
              <a:t>):</a:t>
            </a:r>
            <a:r>
              <a:rPr lang="en-US" dirty="0"/>
              <a:t> Instead of viewing errors in isolation, the AI uses the graph to trace causality. It links "noisy" logs to specific root causes—such as upstream service failures, database dependencies, or recent code commits—providing </a:t>
            </a:r>
            <a:r>
              <a:rPr lang="en-US" b="1" dirty="0"/>
              <a:t>deterministic</a:t>
            </a:r>
            <a:r>
              <a:rPr lang="en-US" dirty="0"/>
              <a:t> rather than probabilistic analysis.</a:t>
            </a:r>
          </a:p>
          <a:p>
            <a:r>
              <a:rPr lang="en-US" b="1" dirty="0"/>
              <a:t>Autonomous Remediation:</a:t>
            </a:r>
            <a:r>
              <a:rPr lang="en-US" dirty="0"/>
              <a:t> Armed with deep contextual awareness, the system can safely trigger self-healing actions, reducing Mean Time to Resolution (MTTR) from hours of manual searching to seconds of automated fixing.</a:t>
            </a:r>
          </a:p>
          <a:p>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Architecture Diagram</a:t>
            </a:r>
          </a:p>
        </p:txBody>
      </p:sp>
      <p:pic>
        <p:nvPicPr>
          <p:cNvPr id="9" name="Picture 8">
            <a:extLst>
              <a:ext uri="{FF2B5EF4-FFF2-40B4-BE49-F238E27FC236}">
                <a16:creationId xmlns:a16="http://schemas.microsoft.com/office/drawing/2014/main" id="{FF5D0DEE-EE21-67F2-A3B1-A6EEBE720AB3}"/>
              </a:ext>
            </a:extLst>
          </p:cNvPr>
          <p:cNvPicPr>
            <a:picLocks noChangeAspect="1"/>
          </p:cNvPicPr>
          <p:nvPr/>
        </p:nvPicPr>
        <p:blipFill>
          <a:blip r:embed="rId2"/>
          <a:stretch>
            <a:fillRect/>
          </a:stretch>
        </p:blipFill>
        <p:spPr>
          <a:xfrm>
            <a:off x="1204442" y="1248697"/>
            <a:ext cx="6735115" cy="546212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C1FBA-61C6-9E0D-A22B-30FF8C2B7592}"/>
              </a:ext>
            </a:extLst>
          </p:cNvPr>
          <p:cNvSpPr>
            <a:spLocks noGrp="1"/>
          </p:cNvSpPr>
          <p:nvPr>
            <p:ph type="title"/>
          </p:nvPr>
        </p:nvSpPr>
        <p:spPr>
          <a:xfrm>
            <a:off x="457200" y="274638"/>
            <a:ext cx="8229600" cy="620097"/>
          </a:xfrm>
        </p:spPr>
        <p:txBody>
          <a:bodyPr>
            <a:normAutofit fontScale="90000"/>
          </a:bodyPr>
          <a:lstStyle/>
          <a:p>
            <a:r>
              <a:rPr lang="en-IN" dirty="0"/>
              <a:t>Data Ingestion &amp; Pre-Processing</a:t>
            </a:r>
          </a:p>
        </p:txBody>
      </p:sp>
      <p:sp>
        <p:nvSpPr>
          <p:cNvPr id="3" name="Content Placeholder 2">
            <a:extLst>
              <a:ext uri="{FF2B5EF4-FFF2-40B4-BE49-F238E27FC236}">
                <a16:creationId xmlns:a16="http://schemas.microsoft.com/office/drawing/2014/main" id="{37F2A9A9-8A84-2867-A036-DF4EE8C66B9A}"/>
              </a:ext>
            </a:extLst>
          </p:cNvPr>
          <p:cNvSpPr>
            <a:spLocks noGrp="1"/>
          </p:cNvSpPr>
          <p:nvPr>
            <p:ph idx="1"/>
          </p:nvPr>
        </p:nvSpPr>
        <p:spPr>
          <a:xfrm>
            <a:off x="378542" y="1344562"/>
            <a:ext cx="8229600" cy="4525963"/>
          </a:xfrm>
        </p:spPr>
        <p:txBody>
          <a:bodyPr>
            <a:normAutofit fontScale="92500" lnSpcReduction="10000"/>
          </a:bodyPr>
          <a:lstStyle/>
          <a:p>
            <a:r>
              <a:rPr lang="en-IN" b="1" dirty="0"/>
              <a:t>Log Collectors (GCP Logs, </a:t>
            </a:r>
            <a:r>
              <a:rPr lang="en-IN" b="1" dirty="0" err="1"/>
              <a:t>OpenTelemetry</a:t>
            </a:r>
            <a:r>
              <a:rPr lang="en-IN" b="1" dirty="0"/>
              <a:t>, AWS Logs):</a:t>
            </a:r>
            <a:r>
              <a:rPr lang="en-IN" dirty="0"/>
              <a:t> The system accepts logs from diverse, multi-cloud sources and standardized collection platforms like </a:t>
            </a:r>
            <a:r>
              <a:rPr lang="en-IN" dirty="0" err="1"/>
              <a:t>OpenTelemetry</a:t>
            </a:r>
            <a:r>
              <a:rPr lang="en-IN" dirty="0"/>
              <a:t>, unifying heterogeneous data streams.</a:t>
            </a:r>
          </a:p>
          <a:p>
            <a:r>
              <a:rPr lang="en-US" b="1" dirty="0"/>
              <a:t>Embeddings + Parser:</a:t>
            </a:r>
            <a:r>
              <a:rPr lang="en-US" dirty="0"/>
              <a:t> Raw logs are passed through parsers to extract key entities and are converted into numerical </a:t>
            </a:r>
            <a:r>
              <a:rPr lang="en-US" b="1" dirty="0"/>
              <a:t>embeddings</a:t>
            </a:r>
            <a:r>
              <a:rPr lang="en-US" dirty="0"/>
              <a:t>. This process extracts features, structures the data, and prepares it for semantic analysis by the AI.</a:t>
            </a:r>
            <a:endParaRPr lang="en-IN" dirty="0"/>
          </a:p>
          <a:p>
            <a:endParaRPr lang="en-IN" dirty="0"/>
          </a:p>
        </p:txBody>
      </p:sp>
    </p:spTree>
    <p:extLst>
      <p:ext uri="{BB962C8B-B14F-4D97-AF65-F5344CB8AC3E}">
        <p14:creationId xmlns:p14="http://schemas.microsoft.com/office/powerpoint/2010/main" val="171388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CF639-FC3E-53BD-171A-850876D330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F8B88B-E6A9-B167-0EBC-972EB69A1C5A}"/>
              </a:ext>
            </a:extLst>
          </p:cNvPr>
          <p:cNvSpPr>
            <a:spLocks noGrp="1"/>
          </p:cNvSpPr>
          <p:nvPr>
            <p:ph type="title"/>
          </p:nvPr>
        </p:nvSpPr>
        <p:spPr>
          <a:xfrm>
            <a:off x="17206" y="180899"/>
            <a:ext cx="8952271" cy="620097"/>
          </a:xfrm>
        </p:spPr>
        <p:txBody>
          <a:bodyPr>
            <a:normAutofit fontScale="90000"/>
          </a:bodyPr>
          <a:lstStyle/>
          <a:p>
            <a:r>
              <a:rPr lang="en-US" dirty="0"/>
              <a:t>Intelligent Reasoning Engine (The Core AI)</a:t>
            </a:r>
            <a:endParaRPr lang="en-IN" dirty="0"/>
          </a:p>
        </p:txBody>
      </p:sp>
      <p:sp>
        <p:nvSpPr>
          <p:cNvPr id="3" name="Content Placeholder 2">
            <a:extLst>
              <a:ext uri="{FF2B5EF4-FFF2-40B4-BE49-F238E27FC236}">
                <a16:creationId xmlns:a16="http://schemas.microsoft.com/office/drawing/2014/main" id="{03AAAE1E-2943-17EB-2880-BB9E91F0B4ED}"/>
              </a:ext>
            </a:extLst>
          </p:cNvPr>
          <p:cNvSpPr>
            <a:spLocks noGrp="1"/>
          </p:cNvSpPr>
          <p:nvPr>
            <p:ph idx="1"/>
          </p:nvPr>
        </p:nvSpPr>
        <p:spPr>
          <a:xfrm>
            <a:off x="378542" y="1344562"/>
            <a:ext cx="8229600" cy="4525963"/>
          </a:xfrm>
        </p:spPr>
        <p:txBody>
          <a:bodyPr>
            <a:normAutofit fontScale="70000" lnSpcReduction="20000"/>
          </a:bodyPr>
          <a:lstStyle/>
          <a:p>
            <a:r>
              <a:rPr lang="en-US" dirty="0"/>
              <a:t>This is the "brain" where data is analyzed for root cause and context.</a:t>
            </a:r>
          </a:p>
          <a:p>
            <a:r>
              <a:rPr lang="en-US" b="1" dirty="0"/>
              <a:t>Local LLM (Large Language Model):</a:t>
            </a:r>
            <a:r>
              <a:rPr lang="en-US" dirty="0"/>
              <a:t> The model runs locally (in your VPC), providing </a:t>
            </a:r>
            <a:r>
              <a:rPr lang="en-US" b="1" dirty="0"/>
              <a:t>semantic understanding</a:t>
            </a:r>
            <a:r>
              <a:rPr lang="en-US" dirty="0"/>
              <a:t>—it comprehends the intent and meaning of log messages like a human.</a:t>
            </a:r>
          </a:p>
          <a:p>
            <a:r>
              <a:rPr lang="en-US" b="1" dirty="0"/>
              <a:t>Knowledge Graph Store:</a:t>
            </a:r>
            <a:r>
              <a:rPr lang="en-US" dirty="0"/>
              <a:t> This acts as the long-term memory and structural map of the infrastructure, storing </a:t>
            </a:r>
            <a:r>
              <a:rPr lang="en-US" b="1" dirty="0"/>
              <a:t>Topology, Dependencies, Events, and Context</a:t>
            </a:r>
            <a:r>
              <a:rPr lang="en-US" dirty="0"/>
              <a:t>.</a:t>
            </a:r>
          </a:p>
          <a:p>
            <a:r>
              <a:rPr lang="en-US" b="1" dirty="0"/>
              <a:t>Graph-Augmented Reasoning (</a:t>
            </a:r>
            <a:r>
              <a:rPr lang="en-US" b="1" dirty="0" err="1"/>
              <a:t>GraphRAG</a:t>
            </a:r>
            <a:r>
              <a:rPr lang="en-US" b="1" dirty="0"/>
              <a:t>):</a:t>
            </a:r>
            <a:r>
              <a:rPr lang="en-US" dirty="0"/>
              <a:t> The Local LLM queries the Knowledge Graph to ground its conclusions in reality. This allows the system to move beyond simple pattern matching to </a:t>
            </a:r>
            <a:r>
              <a:rPr lang="en-US" b="1" dirty="0"/>
              <a:t>deterministic causality</a:t>
            </a:r>
            <a:r>
              <a:rPr lang="en-US" dirty="0"/>
              <a:t>—for instance, tracing a high-latency log message back to a specific upstream service dependency stored in the Graph.</a:t>
            </a:r>
          </a:p>
          <a:p>
            <a:endParaRPr lang="en-IN" dirty="0"/>
          </a:p>
        </p:txBody>
      </p:sp>
    </p:spTree>
    <p:extLst>
      <p:ext uri="{BB962C8B-B14F-4D97-AF65-F5344CB8AC3E}">
        <p14:creationId xmlns:p14="http://schemas.microsoft.com/office/powerpoint/2010/main" val="3979984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9AA2C-CC11-A98D-3FEE-F971F5AD60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6302B2-4178-EDFB-8F31-5A214CC0EF0C}"/>
              </a:ext>
            </a:extLst>
          </p:cNvPr>
          <p:cNvSpPr>
            <a:spLocks noGrp="1"/>
          </p:cNvSpPr>
          <p:nvPr>
            <p:ph type="title"/>
          </p:nvPr>
        </p:nvSpPr>
        <p:spPr>
          <a:xfrm>
            <a:off x="457200" y="274638"/>
            <a:ext cx="8229600" cy="620097"/>
          </a:xfrm>
        </p:spPr>
        <p:txBody>
          <a:bodyPr>
            <a:normAutofit fontScale="90000"/>
          </a:bodyPr>
          <a:lstStyle/>
          <a:p>
            <a:r>
              <a:rPr lang="en-US" b="1" dirty="0"/>
              <a:t>Action &amp; Visualization</a:t>
            </a:r>
          </a:p>
        </p:txBody>
      </p:sp>
      <p:sp>
        <p:nvSpPr>
          <p:cNvPr id="3" name="Content Placeholder 2">
            <a:extLst>
              <a:ext uri="{FF2B5EF4-FFF2-40B4-BE49-F238E27FC236}">
                <a16:creationId xmlns:a16="http://schemas.microsoft.com/office/drawing/2014/main" id="{DC1640E3-EDA0-772A-7DF1-CD1E81126849}"/>
              </a:ext>
            </a:extLst>
          </p:cNvPr>
          <p:cNvSpPr>
            <a:spLocks noGrp="1"/>
          </p:cNvSpPr>
          <p:nvPr>
            <p:ph idx="1"/>
          </p:nvPr>
        </p:nvSpPr>
        <p:spPr>
          <a:xfrm>
            <a:off x="378542" y="1344562"/>
            <a:ext cx="8229600" cy="4525963"/>
          </a:xfrm>
        </p:spPr>
        <p:txBody>
          <a:bodyPr>
            <a:normAutofit fontScale="77500" lnSpcReduction="20000"/>
          </a:bodyPr>
          <a:lstStyle/>
          <a:p>
            <a:r>
              <a:rPr lang="en-US" dirty="0"/>
              <a:t>This stage ensures incidents are resolved autonomously and safely, while providing visibility to operators.</a:t>
            </a:r>
          </a:p>
          <a:p>
            <a:r>
              <a:rPr lang="en-US" b="1" dirty="0"/>
              <a:t>Policy Engine:</a:t>
            </a:r>
            <a:r>
              <a:rPr lang="en-US" dirty="0"/>
              <a:t> Acts as a critical guardrail. Based on the confidence and severity determined by the LLM/KG, the Policy Engine applies predefined </a:t>
            </a:r>
            <a:r>
              <a:rPr lang="en-US" b="1" dirty="0"/>
              <a:t>Rules, Security checks, and Approvals</a:t>
            </a:r>
            <a:r>
              <a:rPr lang="en-US" dirty="0"/>
              <a:t> before any automated action is taken.</a:t>
            </a:r>
          </a:p>
          <a:p>
            <a:r>
              <a:rPr lang="en-US" b="1" dirty="0"/>
              <a:t>Executor + Dashboard:</a:t>
            </a:r>
            <a:r>
              <a:rPr lang="en-US" dirty="0"/>
              <a:t> The final component responsible for </a:t>
            </a:r>
            <a:r>
              <a:rPr lang="en-US" b="1" dirty="0"/>
              <a:t>Remediation</a:t>
            </a:r>
            <a:r>
              <a:rPr lang="en-US" dirty="0"/>
              <a:t> (triggering self-healing scripts like restarts or rollbacks) and providing </a:t>
            </a:r>
            <a:r>
              <a:rPr lang="en-US" b="1" dirty="0"/>
              <a:t>Visualization</a:t>
            </a:r>
            <a:r>
              <a:rPr lang="en-US" dirty="0"/>
              <a:t> of the incident, analysis, and actions taken to the human team.</a:t>
            </a:r>
          </a:p>
          <a:p>
            <a:endParaRPr lang="en-IN" dirty="0"/>
          </a:p>
        </p:txBody>
      </p:sp>
    </p:spTree>
    <p:extLst>
      <p:ext uri="{BB962C8B-B14F-4D97-AF65-F5344CB8AC3E}">
        <p14:creationId xmlns:p14="http://schemas.microsoft.com/office/powerpoint/2010/main" val="1120873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Stage 1: Visibility</a:t>
            </a:r>
          </a:p>
        </p:txBody>
      </p:sp>
      <p:sp>
        <p:nvSpPr>
          <p:cNvPr id="3" name="Content Placeholder 2"/>
          <p:cNvSpPr>
            <a:spLocks noGrp="1"/>
          </p:cNvSpPr>
          <p:nvPr>
            <p:ph idx="1"/>
          </p:nvPr>
        </p:nvSpPr>
        <p:spPr/>
        <p:txBody>
          <a:bodyPr>
            <a:normAutofit fontScale="70000" lnSpcReduction="20000"/>
          </a:bodyPr>
          <a:lstStyle/>
          <a:p>
            <a:r>
              <a:rPr lang="en-US" dirty="0"/>
              <a:t>This capability revolutionizes log analysis by applying AI to the entire data lifecycle.</a:t>
            </a:r>
          </a:p>
          <a:p>
            <a:r>
              <a:rPr lang="en-US" b="1" dirty="0"/>
              <a:t>Unified Foundation:</a:t>
            </a:r>
            <a:r>
              <a:rPr lang="en-US" dirty="0"/>
              <a:t> Logs are centralized from all multi-cloud and application sources (e.g., GCP, AWS, </a:t>
            </a:r>
            <a:r>
              <a:rPr lang="en-US" dirty="0" err="1"/>
              <a:t>OpenTelemetry</a:t>
            </a:r>
            <a:r>
              <a:rPr lang="en-US" dirty="0"/>
              <a:t>) to establish a comprehensive data stream.</a:t>
            </a:r>
          </a:p>
          <a:p>
            <a:r>
              <a:rPr lang="en-US" b="1" dirty="0"/>
              <a:t>Intelligent Summarization:</a:t>
            </a:r>
            <a:r>
              <a:rPr lang="en-US" dirty="0"/>
              <a:t> Local LLMs process massive volumes of log data to generate concise, natural language executive summaries of incidents, drastically reducing cognitive load and accelerating engineer handoffs.</a:t>
            </a:r>
          </a:p>
          <a:p>
            <a:r>
              <a:rPr lang="en-US" b="1" dirty="0"/>
              <a:t>Robust Metadata Extraction:</a:t>
            </a:r>
            <a:r>
              <a:rPr lang="en-US" dirty="0"/>
              <a:t> LLMs replace fragile </a:t>
            </a:r>
            <a:r>
              <a:rPr lang="en-US" dirty="0" err="1"/>
              <a:t>RegEx</a:t>
            </a:r>
            <a:r>
              <a:rPr lang="en-US" dirty="0"/>
              <a:t> parsing to reliably extract key entities (Service IDs, Request Statuses, etc.) from unstructured text. This structured metadata is critical for accurate correlation and serves as the essential input for the Knowledge Graph.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Stage 2: Intelligence</a:t>
            </a:r>
          </a:p>
        </p:txBody>
      </p:sp>
      <p:sp>
        <p:nvSpPr>
          <p:cNvPr id="3" name="Content Placeholder 2"/>
          <p:cNvSpPr>
            <a:spLocks noGrp="1"/>
          </p:cNvSpPr>
          <p:nvPr>
            <p:ph idx="1"/>
          </p:nvPr>
        </p:nvSpPr>
        <p:spPr/>
        <p:txBody>
          <a:bodyPr>
            <a:normAutofit fontScale="70000" lnSpcReduction="20000"/>
          </a:bodyPr>
          <a:lstStyle/>
          <a:p>
            <a:r>
              <a:rPr lang="en-US" dirty="0"/>
              <a:t>This capability is the analytical core of the system, designed to enable deterministic Root Cause Analysis (RCA):</a:t>
            </a:r>
          </a:p>
          <a:p>
            <a:r>
              <a:rPr lang="en-US" b="1" dirty="0"/>
              <a:t>AIOps Correlation:</a:t>
            </a:r>
            <a:r>
              <a:rPr lang="en-US" dirty="0"/>
              <a:t> Advanced ML and LLMs are used to group disparate log, metric, and trace events semantically and temporally, defining a single, unified incident structure.</a:t>
            </a:r>
          </a:p>
          <a:p>
            <a:r>
              <a:rPr lang="en-US" b="1" dirty="0"/>
              <a:t>Knowledge Graph Mapping:</a:t>
            </a:r>
            <a:r>
              <a:rPr lang="en-US" dirty="0"/>
              <a:t> The correlated events and system entities are mapped into a dynamic </a:t>
            </a:r>
            <a:r>
              <a:rPr lang="en-US" b="1" dirty="0"/>
              <a:t>Knowledge Graph</a:t>
            </a:r>
            <a:r>
              <a:rPr lang="en-US" dirty="0"/>
              <a:t> (nodes and causal edges), linking transient failures to the static infrastructure topology.</a:t>
            </a:r>
          </a:p>
          <a:p>
            <a:r>
              <a:rPr lang="en-US" b="1" dirty="0"/>
              <a:t>Accelerated RCA:</a:t>
            </a:r>
            <a:r>
              <a:rPr lang="en-US" dirty="0"/>
              <a:t> The system executes graph traversal algorithms to instantly trace the failure chain back to the most upstream structural or behavioral change (</a:t>
            </a:r>
            <a:r>
              <a:rPr lang="en-US" b="1" dirty="0"/>
              <a:t>Patient Zero</a:t>
            </a:r>
            <a:r>
              <a:rPr lang="en-US" dirty="0"/>
              <a:t>), providing a highly confident root cause statement for autonomous self-healing.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Knowledge Graphs for Bug Origin Identification</a:t>
            </a:r>
          </a:p>
        </p:txBody>
      </p:sp>
      <p:sp>
        <p:nvSpPr>
          <p:cNvPr id="3" name="Content Placeholder 2"/>
          <p:cNvSpPr>
            <a:spLocks noGrp="1"/>
          </p:cNvSpPr>
          <p:nvPr>
            <p:ph idx="1"/>
          </p:nvPr>
        </p:nvSpPr>
        <p:spPr/>
        <p:txBody>
          <a:bodyPr>
            <a:normAutofit fontScale="70000" lnSpcReduction="20000"/>
          </a:bodyPr>
          <a:lstStyle/>
          <a:p>
            <a:r>
              <a:rPr lang="en-US" dirty="0"/>
              <a:t>The </a:t>
            </a:r>
            <a:r>
              <a:rPr lang="en-US" b="1" dirty="0"/>
              <a:t>Knowledge Graph (KG)</a:t>
            </a:r>
            <a:r>
              <a:rPr lang="en-US" dirty="0"/>
              <a:t> acts as the system's structural memory to enable deterministic Root Cause Analysis (RCA).</a:t>
            </a:r>
          </a:p>
          <a:p>
            <a:r>
              <a:rPr lang="en-US" b="1" dirty="0"/>
              <a:t>Mapping:</a:t>
            </a:r>
            <a:r>
              <a:rPr lang="en-US" dirty="0"/>
              <a:t> The KG models the infrastructure using </a:t>
            </a:r>
            <a:r>
              <a:rPr lang="en-US" b="1" dirty="0"/>
              <a:t>Nodes</a:t>
            </a:r>
            <a:r>
              <a:rPr lang="en-US" dirty="0"/>
              <a:t> (Services, Deployments, Error Types, Config Changes) and </a:t>
            </a:r>
            <a:r>
              <a:rPr lang="en-US" b="1" dirty="0"/>
              <a:t>Edges</a:t>
            </a:r>
            <a:r>
              <a:rPr lang="en-US" dirty="0"/>
              <a:t> that define their causal and topological dependencies.</a:t>
            </a:r>
          </a:p>
          <a:p>
            <a:r>
              <a:rPr lang="en-US" b="1" dirty="0"/>
              <a:t>Querying:</a:t>
            </a:r>
            <a:r>
              <a:rPr lang="en-US" dirty="0"/>
              <a:t> The system utilizes </a:t>
            </a:r>
            <a:r>
              <a:rPr lang="en-US" b="1" dirty="0"/>
              <a:t>Graph Traversal</a:t>
            </a:r>
            <a:r>
              <a:rPr lang="en-US" dirty="0"/>
              <a:t> queries to follow the </a:t>
            </a:r>
            <a:r>
              <a:rPr lang="en-US" b="1" dirty="0"/>
              <a:t>cause-effect chains</a:t>
            </a:r>
            <a:r>
              <a:rPr lang="en-US" dirty="0"/>
              <a:t> backward from the symptom.</a:t>
            </a:r>
          </a:p>
          <a:p>
            <a:r>
              <a:rPr lang="en-US" b="1" dirty="0"/>
              <a:t>RCA:</a:t>
            </a:r>
            <a:r>
              <a:rPr lang="en-US" dirty="0"/>
              <a:t> This process instantly identifies the </a:t>
            </a:r>
            <a:r>
              <a:rPr lang="en-US" b="1" dirty="0"/>
              <a:t>Bug Origin</a:t>
            </a:r>
            <a:r>
              <a:rPr lang="en-US" dirty="0"/>
              <a:t>—the specific deployment or configuration change that represents the "freshest change" immediately preceding the failure—thereby enabling highly precise, automated self-healing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Stage 3: Assistance</a:t>
            </a:r>
          </a:p>
        </p:txBody>
      </p:sp>
      <p:sp>
        <p:nvSpPr>
          <p:cNvPr id="3" name="Content Placeholder 2"/>
          <p:cNvSpPr>
            <a:spLocks noGrp="1"/>
          </p:cNvSpPr>
          <p:nvPr>
            <p:ph idx="1"/>
          </p:nvPr>
        </p:nvSpPr>
        <p:spPr/>
        <p:txBody>
          <a:bodyPr>
            <a:normAutofit fontScale="77500" lnSpcReduction="20000"/>
          </a:bodyPr>
          <a:lstStyle/>
          <a:p>
            <a:r>
              <a:rPr lang="en-US" dirty="0"/>
              <a:t>The system utilizes a </a:t>
            </a:r>
            <a:r>
              <a:rPr lang="en-US" b="1" dirty="0"/>
              <a:t>Human-in-the-Loop (HITL)</a:t>
            </a:r>
            <a:r>
              <a:rPr lang="en-US" dirty="0"/>
              <a:t> model to ensure safety and expert control over remediation.</a:t>
            </a:r>
          </a:p>
          <a:p>
            <a:r>
              <a:rPr lang="en-US" b="1" dirty="0"/>
              <a:t>AI Diagnosis &amp; Suggestion:</a:t>
            </a:r>
            <a:r>
              <a:rPr lang="en-US" dirty="0"/>
              <a:t> The </a:t>
            </a:r>
            <a:r>
              <a:rPr lang="en-US" b="1" dirty="0"/>
              <a:t>Local LLM</a:t>
            </a:r>
            <a:r>
              <a:rPr lang="en-US" dirty="0"/>
              <a:t> leverages the </a:t>
            </a:r>
            <a:r>
              <a:rPr lang="en-US" b="1" dirty="0"/>
              <a:t>Knowledge Graph's (KG)</a:t>
            </a:r>
            <a:r>
              <a:rPr lang="en-US" dirty="0"/>
              <a:t> deterministic RCA and validated </a:t>
            </a:r>
            <a:r>
              <a:rPr lang="en-US" b="1" dirty="0"/>
              <a:t>Historical Fixes</a:t>
            </a:r>
            <a:r>
              <a:rPr lang="en-US" dirty="0"/>
              <a:t> to generate a highly precise, low-blast-radius remediation plan (an executable script or command).</a:t>
            </a:r>
          </a:p>
          <a:p>
            <a:r>
              <a:rPr lang="en-US" b="1" dirty="0"/>
              <a:t>Human Oversight:</a:t>
            </a:r>
            <a:r>
              <a:rPr lang="en-US" dirty="0"/>
              <a:t> The </a:t>
            </a:r>
            <a:r>
              <a:rPr lang="en-US" b="1" dirty="0"/>
              <a:t>Policy Engine</a:t>
            </a:r>
            <a:r>
              <a:rPr lang="en-US" dirty="0"/>
              <a:t> routes the proposed fix to a Dashboard based on its risk profile.</a:t>
            </a:r>
          </a:p>
          <a:p>
            <a:r>
              <a:rPr lang="en-US" b="1" dirty="0"/>
              <a:t>Controlled Execution:</a:t>
            </a:r>
            <a:r>
              <a:rPr lang="en-US" dirty="0"/>
              <a:t> Operators are given the ability to </a:t>
            </a:r>
            <a:r>
              <a:rPr lang="en-US" b="1" dirty="0"/>
              <a:t>review</a:t>
            </a:r>
            <a:r>
              <a:rPr lang="en-US" dirty="0"/>
              <a:t> the full context of the AI's suggestion, </a:t>
            </a:r>
            <a:r>
              <a:rPr lang="en-US" b="1" dirty="0"/>
              <a:t>modify</a:t>
            </a:r>
            <a:r>
              <a:rPr lang="en-US" dirty="0"/>
              <a:t> the proposed script if necessary, and manually approve the execution, ensuring that high-stakes actions are always confirmed by expert human judgment.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Stage 4: Autonomy</a:t>
            </a:r>
          </a:p>
        </p:txBody>
      </p:sp>
      <p:sp>
        <p:nvSpPr>
          <p:cNvPr id="3" name="Content Placeholder 2"/>
          <p:cNvSpPr>
            <a:spLocks noGrp="1"/>
          </p:cNvSpPr>
          <p:nvPr>
            <p:ph idx="1"/>
          </p:nvPr>
        </p:nvSpPr>
        <p:spPr/>
        <p:txBody>
          <a:bodyPr>
            <a:normAutofit fontScale="77500" lnSpcReduction="20000"/>
          </a:bodyPr>
          <a:lstStyle/>
          <a:p>
            <a:r>
              <a:rPr lang="en-US" b="1" dirty="0"/>
              <a:t>Policy Engine:</a:t>
            </a:r>
            <a:r>
              <a:rPr lang="en-US" dirty="0"/>
              <a:t> Acts as the guardrail, assessing the risk of the LLM's suggested fix and dictating whether the action is immediately executed, denied, or routed for </a:t>
            </a:r>
            <a:r>
              <a:rPr lang="en-US" b="1" dirty="0"/>
              <a:t>Human-in-the-Loop (HITL)</a:t>
            </a:r>
            <a:r>
              <a:rPr lang="en-US" dirty="0"/>
              <a:t> review.</a:t>
            </a:r>
          </a:p>
          <a:p>
            <a:r>
              <a:rPr lang="en-US" b="1" dirty="0"/>
              <a:t>Rollback Focus:</a:t>
            </a:r>
            <a:r>
              <a:rPr lang="en-US" dirty="0"/>
              <a:t> The primary self-healing action is a surgical </a:t>
            </a:r>
            <a:r>
              <a:rPr lang="en-US" b="1" dirty="0"/>
              <a:t>Rollback</a:t>
            </a:r>
            <a:r>
              <a:rPr lang="en-US" dirty="0"/>
              <a:t> to a known-good state, targeting the exact Bug Origin identified by the Knowledge Graph to minimize the blast radius.</a:t>
            </a:r>
          </a:p>
          <a:p>
            <a:r>
              <a:rPr lang="en-US" b="1" dirty="0"/>
              <a:t>Validation:</a:t>
            </a:r>
            <a:r>
              <a:rPr lang="en-US" dirty="0"/>
              <a:t> The process is closed-loop; the system performs post-remediation checks to confirm the fix resolved the incident, feeding success or failure data back into the system for continuous learning and policy refinement.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Shift to Predictive Operations</a:t>
            </a:r>
            <a:endParaRPr dirty="0"/>
          </a:p>
        </p:txBody>
      </p:sp>
      <p:sp>
        <p:nvSpPr>
          <p:cNvPr id="3" name="Content Placeholder 2"/>
          <p:cNvSpPr>
            <a:spLocks noGrp="1"/>
          </p:cNvSpPr>
          <p:nvPr>
            <p:ph idx="1"/>
          </p:nvPr>
        </p:nvSpPr>
        <p:spPr/>
        <p:txBody>
          <a:bodyPr>
            <a:normAutofit fontScale="92500"/>
          </a:bodyPr>
          <a:lstStyle/>
          <a:p>
            <a:r>
              <a:rPr lang="en-US" dirty="0"/>
              <a:t>Predictive Ops uses the historical data and structural context accumulated in the KG to identify weak signals and emerging threats, enabling the system to act proactively.</a:t>
            </a:r>
          </a:p>
          <a:p>
            <a:r>
              <a:rPr lang="en-US" b="1" dirty="0"/>
              <a:t>Weak Signal Detection:</a:t>
            </a:r>
            <a:r>
              <a:rPr lang="en-US" dirty="0"/>
              <a:t> The </a:t>
            </a:r>
            <a:r>
              <a:rPr lang="en-US" b="1" dirty="0"/>
              <a:t>Local LLM</a:t>
            </a:r>
            <a:r>
              <a:rPr lang="en-US" dirty="0"/>
              <a:t> continuously analyzes the </a:t>
            </a:r>
            <a:r>
              <a:rPr lang="en-US" i="1" dirty="0"/>
              <a:t>rate of change</a:t>
            </a:r>
            <a:r>
              <a:rPr lang="en-US" dirty="0"/>
              <a:t> in log patterns (e.g., increasing frequency of warning messages, subtle latency spikes) that would be ignored by traditional threshold alerting.</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874C0-8543-46FB-4434-26E56FC13421}"/>
              </a:ext>
            </a:extLst>
          </p:cNvPr>
          <p:cNvSpPr>
            <a:spLocks noGrp="1"/>
          </p:cNvSpPr>
          <p:nvPr>
            <p:ph type="title"/>
          </p:nvPr>
        </p:nvSpPr>
        <p:spPr/>
        <p:txBody>
          <a:bodyPr/>
          <a:lstStyle/>
          <a:p>
            <a:r>
              <a:rPr lang="en-IN" dirty="0"/>
              <a:t>Dependency Load Forecasting:</a:t>
            </a:r>
          </a:p>
        </p:txBody>
      </p:sp>
      <p:sp>
        <p:nvSpPr>
          <p:cNvPr id="3" name="Content Placeholder 2">
            <a:extLst>
              <a:ext uri="{FF2B5EF4-FFF2-40B4-BE49-F238E27FC236}">
                <a16:creationId xmlns:a16="http://schemas.microsoft.com/office/drawing/2014/main" id="{823DAE33-FBAD-D40E-74B3-AFBA771E1278}"/>
              </a:ext>
            </a:extLst>
          </p:cNvPr>
          <p:cNvSpPr>
            <a:spLocks noGrp="1"/>
          </p:cNvSpPr>
          <p:nvPr>
            <p:ph idx="1"/>
          </p:nvPr>
        </p:nvSpPr>
        <p:spPr/>
        <p:txBody>
          <a:bodyPr/>
          <a:lstStyle/>
          <a:p>
            <a:r>
              <a:rPr lang="en-US" dirty="0"/>
              <a:t>The </a:t>
            </a:r>
            <a:r>
              <a:rPr lang="en-US" b="1" dirty="0"/>
              <a:t>Knowledge Graph</a:t>
            </a:r>
            <a:r>
              <a:rPr lang="en-US" dirty="0"/>
              <a:t> models service dependencies and current resource utilization. The system forecasts load </a:t>
            </a:r>
            <a:r>
              <a:rPr lang="en-US" i="1" dirty="0"/>
              <a:t>propagation</a:t>
            </a:r>
            <a:r>
              <a:rPr lang="en-US" dirty="0"/>
              <a:t>—if Service A is trending toward capacity limits, the KG predicts which downstream Service B will be the first to fail.</a:t>
            </a:r>
            <a:endParaRPr lang="en-IN" dirty="0"/>
          </a:p>
        </p:txBody>
      </p:sp>
    </p:spTree>
    <p:extLst>
      <p:ext uri="{BB962C8B-B14F-4D97-AF65-F5344CB8AC3E}">
        <p14:creationId xmlns:p14="http://schemas.microsoft.com/office/powerpoint/2010/main" val="2110058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55DCA-2F03-9754-623B-89E83AC37513}"/>
              </a:ext>
            </a:extLst>
          </p:cNvPr>
          <p:cNvSpPr>
            <a:spLocks noGrp="1"/>
          </p:cNvSpPr>
          <p:nvPr>
            <p:ph type="title"/>
          </p:nvPr>
        </p:nvSpPr>
        <p:spPr/>
        <p:txBody>
          <a:bodyPr/>
          <a:lstStyle/>
          <a:p>
            <a:r>
              <a:rPr lang="en-IN" dirty="0"/>
              <a:t>Proactive Remediation</a:t>
            </a:r>
          </a:p>
        </p:txBody>
      </p:sp>
      <p:sp>
        <p:nvSpPr>
          <p:cNvPr id="3" name="Content Placeholder 2">
            <a:extLst>
              <a:ext uri="{FF2B5EF4-FFF2-40B4-BE49-F238E27FC236}">
                <a16:creationId xmlns:a16="http://schemas.microsoft.com/office/drawing/2014/main" id="{7A76C351-3671-89CB-CD6D-0CB034F81763}"/>
              </a:ext>
            </a:extLst>
          </p:cNvPr>
          <p:cNvSpPr>
            <a:spLocks noGrp="1"/>
          </p:cNvSpPr>
          <p:nvPr>
            <p:ph idx="1"/>
          </p:nvPr>
        </p:nvSpPr>
        <p:spPr/>
        <p:txBody>
          <a:bodyPr/>
          <a:lstStyle/>
          <a:p>
            <a:r>
              <a:rPr lang="en-US" dirty="0"/>
              <a:t>Instead of waiting for the failure, the system triggers pre-emptive, low-risk actions:</a:t>
            </a:r>
          </a:p>
          <a:p>
            <a:r>
              <a:rPr lang="en-US" i="1" dirty="0"/>
              <a:t>Example:</a:t>
            </a:r>
            <a:r>
              <a:rPr lang="en-US" dirty="0"/>
              <a:t> Predicting resource exhaustion on a container and triggering an auto-scaling event </a:t>
            </a:r>
            <a:r>
              <a:rPr lang="en-US" b="1" dirty="0"/>
              <a:t>30 minutes before</a:t>
            </a:r>
            <a:r>
              <a:rPr lang="en-US" dirty="0"/>
              <a:t> the projected failure time.</a:t>
            </a:r>
          </a:p>
          <a:p>
            <a:r>
              <a:rPr lang="en-US" i="1" dirty="0"/>
              <a:t>Action:</a:t>
            </a:r>
            <a:r>
              <a:rPr lang="en-US" dirty="0"/>
              <a:t> Triggering a controlled resource increase or diverting traffic away from a potentially unstable service.</a:t>
            </a:r>
          </a:p>
          <a:p>
            <a:endParaRPr lang="en-IN" dirty="0"/>
          </a:p>
        </p:txBody>
      </p:sp>
    </p:spTree>
    <p:extLst>
      <p:ext uri="{BB962C8B-B14F-4D97-AF65-F5344CB8AC3E}">
        <p14:creationId xmlns:p14="http://schemas.microsoft.com/office/powerpoint/2010/main" val="3780975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A40BF-508F-3C55-470A-C332B7E8E7D3}"/>
              </a:ext>
            </a:extLst>
          </p:cNvPr>
          <p:cNvSpPr>
            <a:spLocks noGrp="1"/>
          </p:cNvSpPr>
          <p:nvPr>
            <p:ph type="title"/>
          </p:nvPr>
        </p:nvSpPr>
        <p:spPr/>
        <p:txBody>
          <a:bodyPr>
            <a:normAutofit fontScale="90000"/>
          </a:bodyPr>
          <a:lstStyle/>
          <a:p>
            <a:r>
              <a:rPr lang="en-US" dirty="0"/>
              <a:t>Full Prototype Integration: The Closed-Loop System</a:t>
            </a:r>
            <a:endParaRPr lang="en-IN" dirty="0"/>
          </a:p>
        </p:txBody>
      </p:sp>
      <p:graphicFrame>
        <p:nvGraphicFramePr>
          <p:cNvPr id="6" name="Content Placeholder 5">
            <a:extLst>
              <a:ext uri="{FF2B5EF4-FFF2-40B4-BE49-F238E27FC236}">
                <a16:creationId xmlns:a16="http://schemas.microsoft.com/office/drawing/2014/main" id="{A3989EBB-D1D2-D4CB-1C45-9875CAEC6FAB}"/>
              </a:ext>
            </a:extLst>
          </p:cNvPr>
          <p:cNvGraphicFramePr>
            <a:graphicFrameLocks noGrp="1"/>
          </p:cNvGraphicFramePr>
          <p:nvPr>
            <p:ph idx="1"/>
          </p:nvPr>
        </p:nvGraphicFramePr>
        <p:xfrm>
          <a:off x="678341" y="1524684"/>
          <a:ext cx="7787318" cy="4525963"/>
        </p:xfrm>
        <a:graphic>
          <a:graphicData uri="http://schemas.openxmlformats.org/drawingml/2006/table">
            <a:tbl>
              <a:tblPr>
                <a:tableStyleId>{5C22544A-7EE6-4342-B048-85BDC9FD1C3A}</a:tableStyleId>
              </a:tblPr>
              <a:tblGrid>
                <a:gridCol w="1708329">
                  <a:extLst>
                    <a:ext uri="{9D8B030D-6E8A-4147-A177-3AD203B41FA5}">
                      <a16:colId xmlns:a16="http://schemas.microsoft.com/office/drawing/2014/main" val="1670056311"/>
                    </a:ext>
                  </a:extLst>
                </a:gridCol>
                <a:gridCol w="3172611">
                  <a:extLst>
                    <a:ext uri="{9D8B030D-6E8A-4147-A177-3AD203B41FA5}">
                      <a16:colId xmlns:a16="http://schemas.microsoft.com/office/drawing/2014/main" val="274772138"/>
                    </a:ext>
                  </a:extLst>
                </a:gridCol>
                <a:gridCol w="2906378">
                  <a:extLst>
                    <a:ext uri="{9D8B030D-6E8A-4147-A177-3AD203B41FA5}">
                      <a16:colId xmlns:a16="http://schemas.microsoft.com/office/drawing/2014/main" val="664564151"/>
                    </a:ext>
                  </a:extLst>
                </a:gridCol>
              </a:tblGrid>
              <a:tr h="465908">
                <a:tc>
                  <a:txBody>
                    <a:bodyPr/>
                    <a:lstStyle/>
                    <a:p>
                      <a:pPr algn="l" fontAlgn="ctr">
                        <a:buNone/>
                      </a:pPr>
                      <a:r>
                        <a:rPr lang="en-IN" sz="1000" u="none" strike="noStrike">
                          <a:effectLst/>
                        </a:rPr>
                        <a:t>Component</a:t>
                      </a:r>
                      <a:endParaRPr lang="en-IN" sz="1000" b="1" i="0" u="none" strike="noStrike">
                        <a:solidFill>
                          <a:srgbClr val="000000"/>
                        </a:solidFill>
                        <a:effectLst/>
                        <a:latin typeface="Arial" panose="020B0604020202020204" pitchFamily="34" charset="0"/>
                      </a:endParaRPr>
                    </a:p>
                  </a:txBody>
                  <a:tcPr marL="6656" marR="6656" marT="6656" marB="0" anchor="ctr"/>
                </a:tc>
                <a:tc>
                  <a:txBody>
                    <a:bodyPr/>
                    <a:lstStyle/>
                    <a:p>
                      <a:pPr algn="l" fontAlgn="ctr">
                        <a:buNone/>
                      </a:pPr>
                      <a:r>
                        <a:rPr lang="en-IN" sz="1000" u="none" strike="noStrike">
                          <a:effectLst/>
                        </a:rPr>
                        <a:t>Role in the Loop</a:t>
                      </a:r>
                      <a:endParaRPr lang="en-IN" sz="1000" b="1" i="0" u="none" strike="noStrike">
                        <a:solidFill>
                          <a:srgbClr val="000000"/>
                        </a:solidFill>
                        <a:effectLst/>
                        <a:latin typeface="Arial" panose="020B0604020202020204" pitchFamily="34" charset="0"/>
                      </a:endParaRPr>
                    </a:p>
                  </a:txBody>
                  <a:tcPr marL="6656" marR="6656" marT="6656" marB="0" anchor="ctr"/>
                </a:tc>
                <a:tc>
                  <a:txBody>
                    <a:bodyPr/>
                    <a:lstStyle/>
                    <a:p>
                      <a:pPr algn="l" fontAlgn="ctr">
                        <a:buNone/>
                      </a:pPr>
                      <a:r>
                        <a:rPr lang="en-IN" sz="1000" u="none" strike="noStrike">
                          <a:effectLst/>
                        </a:rPr>
                        <a:t>Outcome</a:t>
                      </a:r>
                      <a:endParaRPr lang="en-IN" sz="1000" b="1" i="0" u="none" strike="noStrike">
                        <a:solidFill>
                          <a:srgbClr val="000000"/>
                        </a:solidFill>
                        <a:effectLst/>
                        <a:latin typeface="Arial" panose="020B0604020202020204" pitchFamily="34" charset="0"/>
                      </a:endParaRPr>
                    </a:p>
                  </a:txBody>
                  <a:tcPr marL="6656" marR="6656" marT="6656" marB="0" anchor="ctr"/>
                </a:tc>
                <a:extLst>
                  <a:ext uri="{0D108BD9-81ED-4DB2-BD59-A6C34878D82A}">
                    <a16:rowId xmlns:a16="http://schemas.microsoft.com/office/drawing/2014/main" val="1879876068"/>
                  </a:ext>
                </a:extLst>
              </a:tr>
              <a:tr h="312824">
                <a:tc>
                  <a:txBody>
                    <a:bodyPr/>
                    <a:lstStyle/>
                    <a:p>
                      <a:pPr algn="l" fontAlgn="ctr">
                        <a:buNone/>
                      </a:pPr>
                      <a:r>
                        <a:rPr lang="en-IN" sz="1000" u="none" strike="noStrike">
                          <a:effectLst/>
                        </a:rPr>
                        <a:t>LLM + KG</a:t>
                      </a:r>
                      <a:endParaRPr lang="en-IN" sz="1000" b="1" i="0" u="none" strike="noStrike">
                        <a:solidFill>
                          <a:srgbClr val="000000"/>
                        </a:solidFill>
                        <a:effectLst/>
                        <a:latin typeface="Arial" panose="020B0604020202020204" pitchFamily="34" charset="0"/>
                      </a:endParaRPr>
                    </a:p>
                  </a:txBody>
                  <a:tcPr marL="6656" marR="6656" marT="6656" marB="0" anchor="ctr"/>
                </a:tc>
                <a:tc>
                  <a:txBody>
                    <a:bodyPr/>
                    <a:lstStyle/>
                    <a:p>
                      <a:pPr algn="l" fontAlgn="ctr">
                        <a:buNone/>
                      </a:pPr>
                      <a:r>
                        <a:rPr lang="en-US" sz="1000" u="none" strike="noStrike">
                          <a:effectLst/>
                        </a:rPr>
                        <a:t>Intelligent Reasoning: Generates predictions, performs RCA, and creates the validated remediation plan.</a:t>
                      </a:r>
                      <a:endParaRPr lang="en-US" sz="1000" b="1" i="0" u="none" strike="noStrike">
                        <a:solidFill>
                          <a:srgbClr val="000000"/>
                        </a:solidFill>
                        <a:effectLst/>
                        <a:latin typeface="Arial" panose="020B0604020202020204" pitchFamily="34" charset="0"/>
                      </a:endParaRPr>
                    </a:p>
                  </a:txBody>
                  <a:tcPr marL="6656" marR="6656" marT="6656" marB="0" anchor="ctr"/>
                </a:tc>
                <a:tc>
                  <a:txBody>
                    <a:bodyPr/>
                    <a:lstStyle/>
                    <a:p>
                      <a:pPr algn="l" fontAlgn="ctr">
                        <a:buNone/>
                      </a:pPr>
                      <a:r>
                        <a:rPr lang="en-IN" sz="1000" u="none" strike="noStrike">
                          <a:effectLst/>
                        </a:rPr>
                        <a:t>Accurate Diagnosis/Prediction</a:t>
                      </a:r>
                      <a:endParaRPr lang="en-IN" sz="1000" b="1" i="0" u="none" strike="noStrike">
                        <a:solidFill>
                          <a:srgbClr val="000000"/>
                        </a:solidFill>
                        <a:effectLst/>
                        <a:latin typeface="Arial" panose="020B0604020202020204" pitchFamily="34" charset="0"/>
                      </a:endParaRPr>
                    </a:p>
                  </a:txBody>
                  <a:tcPr marL="6656" marR="6656" marT="6656" marB="0" anchor="ctr"/>
                </a:tc>
                <a:extLst>
                  <a:ext uri="{0D108BD9-81ED-4DB2-BD59-A6C34878D82A}">
                    <a16:rowId xmlns:a16="http://schemas.microsoft.com/office/drawing/2014/main" val="4141153627"/>
                  </a:ext>
                </a:extLst>
              </a:tr>
              <a:tr h="1224672">
                <a:tc>
                  <a:txBody>
                    <a:bodyPr/>
                    <a:lstStyle/>
                    <a:p>
                      <a:pPr algn="l" fontAlgn="ctr">
                        <a:buNone/>
                      </a:pPr>
                      <a:r>
                        <a:rPr lang="en-IN" sz="1000" u="none" strike="noStrike">
                          <a:effectLst/>
                        </a:rPr>
                        <a:t>Policy Engine</a:t>
                      </a:r>
                      <a:endParaRPr lang="en-IN" sz="1000" b="1" i="0" u="none" strike="noStrike">
                        <a:solidFill>
                          <a:srgbClr val="000000"/>
                        </a:solidFill>
                        <a:effectLst/>
                        <a:latin typeface="Arial" panose="020B0604020202020204" pitchFamily="34" charset="0"/>
                      </a:endParaRPr>
                    </a:p>
                  </a:txBody>
                  <a:tcPr marL="6656" marR="6656" marT="6656" marB="0" anchor="ctr"/>
                </a:tc>
                <a:tc>
                  <a:txBody>
                    <a:bodyPr/>
                    <a:lstStyle/>
                    <a:p>
                      <a:pPr algn="l" fontAlgn="ctr">
                        <a:buNone/>
                      </a:pPr>
                      <a:r>
                        <a:rPr lang="en-US" sz="1000" u="none" strike="noStrike">
                          <a:effectLst/>
                        </a:rPr>
                        <a:t>Risk Control: Assesses the risk of the proposed fix/prevention, enforces security policies, and routes the action (Auto-Execute vs. HITL).</a:t>
                      </a:r>
                      <a:endParaRPr lang="en-US" sz="1000" b="1" i="0" u="none" strike="noStrike">
                        <a:solidFill>
                          <a:srgbClr val="000000"/>
                        </a:solidFill>
                        <a:effectLst/>
                        <a:latin typeface="Arial" panose="020B0604020202020204" pitchFamily="34" charset="0"/>
                      </a:endParaRPr>
                    </a:p>
                  </a:txBody>
                  <a:tcPr marL="6656" marR="6656" marT="6656" marB="0" anchor="ctr"/>
                </a:tc>
                <a:tc>
                  <a:txBody>
                    <a:bodyPr/>
                    <a:lstStyle/>
                    <a:p>
                      <a:pPr algn="l" fontAlgn="ctr">
                        <a:buNone/>
                      </a:pPr>
                      <a:r>
                        <a:rPr lang="en-IN" sz="1000" u="none" strike="noStrike">
                          <a:effectLst/>
                        </a:rPr>
                        <a:t>Safe Governance</a:t>
                      </a:r>
                      <a:endParaRPr lang="en-IN" sz="1000" b="1" i="0" u="none" strike="noStrike">
                        <a:solidFill>
                          <a:srgbClr val="000000"/>
                        </a:solidFill>
                        <a:effectLst/>
                        <a:latin typeface="Arial" panose="020B0604020202020204" pitchFamily="34" charset="0"/>
                      </a:endParaRPr>
                    </a:p>
                  </a:txBody>
                  <a:tcPr marL="6656" marR="6656" marT="6656" marB="0" anchor="ctr"/>
                </a:tc>
                <a:extLst>
                  <a:ext uri="{0D108BD9-81ED-4DB2-BD59-A6C34878D82A}">
                    <a16:rowId xmlns:a16="http://schemas.microsoft.com/office/drawing/2014/main" val="3019289731"/>
                  </a:ext>
                </a:extLst>
              </a:tr>
              <a:tr h="1903567">
                <a:tc>
                  <a:txBody>
                    <a:bodyPr/>
                    <a:lstStyle/>
                    <a:p>
                      <a:pPr algn="l" fontAlgn="ctr">
                        <a:buNone/>
                      </a:pPr>
                      <a:r>
                        <a:rPr lang="en-IN" sz="1000" u="none" strike="noStrike">
                          <a:effectLst/>
                        </a:rPr>
                        <a:t>Dashboard</a:t>
                      </a:r>
                      <a:endParaRPr lang="en-IN" sz="1000" b="1" i="0" u="none" strike="noStrike">
                        <a:solidFill>
                          <a:srgbClr val="000000"/>
                        </a:solidFill>
                        <a:effectLst/>
                        <a:latin typeface="Arial" panose="020B0604020202020204" pitchFamily="34" charset="0"/>
                      </a:endParaRPr>
                    </a:p>
                  </a:txBody>
                  <a:tcPr marL="6656" marR="6656" marT="6656" marB="0" anchor="ctr"/>
                </a:tc>
                <a:tc>
                  <a:txBody>
                    <a:bodyPr/>
                    <a:lstStyle/>
                    <a:p>
                      <a:pPr algn="l" fontAlgn="ctr">
                        <a:buNone/>
                      </a:pPr>
                      <a:r>
                        <a:rPr lang="en-US" sz="1000" u="none" strike="noStrike">
                          <a:effectLst/>
                        </a:rPr>
                        <a:t>HITL Interface: Provides the single pane of glass for human oversight, displaying prediction/RCA context and allowing operators to review and modify the generated fix.</a:t>
                      </a:r>
                      <a:endParaRPr lang="en-US" sz="1000" b="1" i="0" u="none" strike="noStrike">
                        <a:solidFill>
                          <a:srgbClr val="000000"/>
                        </a:solidFill>
                        <a:effectLst/>
                        <a:latin typeface="Arial" panose="020B0604020202020204" pitchFamily="34" charset="0"/>
                      </a:endParaRPr>
                    </a:p>
                  </a:txBody>
                  <a:tcPr marL="6656" marR="6656" marT="6656" marB="0" anchor="ctr"/>
                </a:tc>
                <a:tc>
                  <a:txBody>
                    <a:bodyPr/>
                    <a:lstStyle/>
                    <a:p>
                      <a:pPr algn="l" fontAlgn="ctr">
                        <a:buNone/>
                      </a:pPr>
                      <a:r>
                        <a:rPr lang="en-IN" sz="1000" u="none" strike="noStrike">
                          <a:effectLst/>
                        </a:rPr>
                        <a:t>Controlled Execution</a:t>
                      </a:r>
                      <a:endParaRPr lang="en-IN" sz="1000" b="1" i="0" u="none" strike="noStrike">
                        <a:solidFill>
                          <a:srgbClr val="000000"/>
                        </a:solidFill>
                        <a:effectLst/>
                        <a:latin typeface="Arial" panose="020B0604020202020204" pitchFamily="34" charset="0"/>
                      </a:endParaRPr>
                    </a:p>
                  </a:txBody>
                  <a:tcPr marL="6656" marR="6656" marT="6656" marB="0" anchor="ctr"/>
                </a:tc>
                <a:extLst>
                  <a:ext uri="{0D108BD9-81ED-4DB2-BD59-A6C34878D82A}">
                    <a16:rowId xmlns:a16="http://schemas.microsoft.com/office/drawing/2014/main" val="3692670109"/>
                  </a:ext>
                </a:extLst>
              </a:tr>
              <a:tr h="618992">
                <a:tc>
                  <a:txBody>
                    <a:bodyPr/>
                    <a:lstStyle/>
                    <a:p>
                      <a:pPr algn="l" fontAlgn="ctr">
                        <a:buNone/>
                      </a:pPr>
                      <a:r>
                        <a:rPr lang="en-IN" sz="1000" u="none" strike="noStrike">
                          <a:effectLst/>
                        </a:rPr>
                        <a:t>Executor + Validation</a:t>
                      </a:r>
                      <a:endParaRPr lang="en-IN" sz="1000" b="1" i="0" u="none" strike="noStrike">
                        <a:solidFill>
                          <a:srgbClr val="000000"/>
                        </a:solidFill>
                        <a:effectLst/>
                        <a:latin typeface="Arial" panose="020B0604020202020204" pitchFamily="34" charset="0"/>
                      </a:endParaRPr>
                    </a:p>
                  </a:txBody>
                  <a:tcPr marL="6656" marR="6656" marT="6656" marB="0" anchor="ctr"/>
                </a:tc>
                <a:tc>
                  <a:txBody>
                    <a:bodyPr/>
                    <a:lstStyle/>
                    <a:p>
                      <a:pPr algn="l" fontAlgn="ctr">
                        <a:buNone/>
                      </a:pPr>
                      <a:r>
                        <a:rPr lang="en-US" sz="1000" u="none" strike="noStrike">
                          <a:effectLst/>
                        </a:rPr>
                        <a:t>Final Action: Executes the approved fix (rollback/proactive scale-up) and immediately validates the system's return to health, feeding the result back to the KG.</a:t>
                      </a:r>
                      <a:endParaRPr lang="en-US" sz="1000" b="1" i="0" u="none" strike="noStrike">
                        <a:solidFill>
                          <a:srgbClr val="000000"/>
                        </a:solidFill>
                        <a:effectLst/>
                        <a:latin typeface="Arial" panose="020B0604020202020204" pitchFamily="34" charset="0"/>
                      </a:endParaRPr>
                    </a:p>
                  </a:txBody>
                  <a:tcPr marL="6656" marR="6656" marT="6656" marB="0" anchor="ctr"/>
                </a:tc>
                <a:tc>
                  <a:txBody>
                    <a:bodyPr/>
                    <a:lstStyle/>
                    <a:p>
                      <a:pPr algn="l" fontAlgn="ctr">
                        <a:buNone/>
                      </a:pPr>
                      <a:r>
                        <a:rPr lang="en-IN" sz="1000" u="none" strike="noStrike" dirty="0">
                          <a:effectLst/>
                        </a:rPr>
                        <a:t>Verified Self-Healing</a:t>
                      </a:r>
                      <a:endParaRPr lang="en-IN" sz="1000" b="1" i="0" u="none" strike="noStrike" dirty="0">
                        <a:solidFill>
                          <a:srgbClr val="000000"/>
                        </a:solidFill>
                        <a:effectLst/>
                        <a:latin typeface="Arial" panose="020B0604020202020204" pitchFamily="34" charset="0"/>
                      </a:endParaRPr>
                    </a:p>
                  </a:txBody>
                  <a:tcPr marL="6656" marR="6656" marT="6656" marB="0" anchor="ctr"/>
                </a:tc>
                <a:extLst>
                  <a:ext uri="{0D108BD9-81ED-4DB2-BD59-A6C34878D82A}">
                    <a16:rowId xmlns:a16="http://schemas.microsoft.com/office/drawing/2014/main" val="2041716942"/>
                  </a:ext>
                </a:extLst>
              </a:tr>
            </a:tbl>
          </a:graphicData>
        </a:graphic>
      </p:graphicFrame>
    </p:spTree>
    <p:extLst>
      <p:ext uri="{BB962C8B-B14F-4D97-AF65-F5344CB8AC3E}">
        <p14:creationId xmlns:p14="http://schemas.microsoft.com/office/powerpoint/2010/main" val="1921094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9F51C-A549-16B8-DBE5-94A4F03147FF}"/>
              </a:ext>
            </a:extLst>
          </p:cNvPr>
          <p:cNvSpPr>
            <a:spLocks noGrp="1"/>
          </p:cNvSpPr>
          <p:nvPr>
            <p:ph type="title"/>
          </p:nvPr>
        </p:nvSpPr>
        <p:spPr/>
        <p:txBody>
          <a:bodyPr/>
          <a:lstStyle/>
          <a:p>
            <a:r>
              <a:rPr lang="en-IN" dirty="0"/>
              <a:t>Software and Deployment</a:t>
            </a:r>
          </a:p>
        </p:txBody>
      </p:sp>
      <p:sp>
        <p:nvSpPr>
          <p:cNvPr id="3" name="Content Placeholder 2">
            <a:extLst>
              <a:ext uri="{FF2B5EF4-FFF2-40B4-BE49-F238E27FC236}">
                <a16:creationId xmlns:a16="http://schemas.microsoft.com/office/drawing/2014/main" id="{F0734DF5-099B-35A1-6EF0-04F9814CA19C}"/>
              </a:ext>
            </a:extLst>
          </p:cNvPr>
          <p:cNvSpPr>
            <a:spLocks noGrp="1"/>
          </p:cNvSpPr>
          <p:nvPr>
            <p:ph idx="1"/>
          </p:nvPr>
        </p:nvSpPr>
        <p:spPr/>
        <p:txBody>
          <a:bodyPr>
            <a:normAutofit fontScale="85000" lnSpcReduction="20000"/>
          </a:bodyPr>
          <a:lstStyle/>
          <a:p>
            <a:r>
              <a:rPr lang="en-IN" dirty="0"/>
              <a:t>Full Source Code: All proprietary code for the LLM inference engine, KG modeler, and policy engine (containerized for secure deployment).</a:t>
            </a:r>
          </a:p>
          <a:p>
            <a:endParaRPr lang="en-IN" dirty="0"/>
          </a:p>
          <a:p>
            <a:r>
              <a:rPr lang="en-IN" dirty="0"/>
              <a:t>Container Images: Ready-to-deploy Docker/Kubernetes container images for all architectural components (LLM, KG, Policy Engine).</a:t>
            </a:r>
          </a:p>
          <a:p>
            <a:endParaRPr lang="en-IN" dirty="0"/>
          </a:p>
          <a:p>
            <a:r>
              <a:rPr lang="en-IN" dirty="0"/>
              <a:t>Deployment Scripts: Complete </a:t>
            </a:r>
            <a:r>
              <a:rPr lang="en-IN" dirty="0" err="1"/>
              <a:t>IaC</a:t>
            </a:r>
            <a:r>
              <a:rPr lang="en-IN" dirty="0"/>
              <a:t> (Infrastructure as Code) templates (e.g., Terraform/Helm charts) for deployment into the customer’s secure VPC/On-Premise environment.</a:t>
            </a:r>
          </a:p>
        </p:txBody>
      </p:sp>
    </p:spTree>
    <p:extLst>
      <p:ext uri="{BB962C8B-B14F-4D97-AF65-F5344CB8AC3E}">
        <p14:creationId xmlns:p14="http://schemas.microsoft.com/office/powerpoint/2010/main" val="19400915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2767D-063B-8AAE-B51B-243351E299EB}"/>
              </a:ext>
            </a:extLst>
          </p:cNvPr>
          <p:cNvSpPr>
            <a:spLocks noGrp="1"/>
          </p:cNvSpPr>
          <p:nvPr>
            <p:ph type="title"/>
          </p:nvPr>
        </p:nvSpPr>
        <p:spPr/>
        <p:txBody>
          <a:bodyPr/>
          <a:lstStyle/>
          <a:p>
            <a:r>
              <a:rPr lang="en-IN" dirty="0"/>
              <a:t>Functionality and Testing</a:t>
            </a:r>
          </a:p>
        </p:txBody>
      </p:sp>
      <p:sp>
        <p:nvSpPr>
          <p:cNvPr id="3" name="Content Placeholder 2">
            <a:extLst>
              <a:ext uri="{FF2B5EF4-FFF2-40B4-BE49-F238E27FC236}">
                <a16:creationId xmlns:a16="http://schemas.microsoft.com/office/drawing/2014/main" id="{EDB08009-BE0F-3A78-6CAF-D1CF68C3B0DA}"/>
              </a:ext>
            </a:extLst>
          </p:cNvPr>
          <p:cNvSpPr>
            <a:spLocks noGrp="1"/>
          </p:cNvSpPr>
          <p:nvPr>
            <p:ph idx="1"/>
          </p:nvPr>
        </p:nvSpPr>
        <p:spPr/>
        <p:txBody>
          <a:bodyPr/>
          <a:lstStyle/>
          <a:p>
            <a:r>
              <a:rPr lang="en-US" b="1" dirty="0"/>
              <a:t>Live Dashboard:</a:t>
            </a:r>
            <a:r>
              <a:rPr lang="en-US" dirty="0"/>
              <a:t> A fully functional UI demonstrating:</a:t>
            </a:r>
          </a:p>
          <a:p>
            <a:r>
              <a:rPr lang="en-US" dirty="0"/>
              <a:t>Real-time event streams and anomaly detection.</a:t>
            </a:r>
          </a:p>
          <a:p>
            <a:r>
              <a:rPr lang="en-US" dirty="0"/>
              <a:t>Prediction alerts with root cause likelihood.</a:t>
            </a:r>
          </a:p>
          <a:p>
            <a:r>
              <a:rPr lang="en-US" dirty="0"/>
              <a:t>The Human-in-the-Loop review queue (Review/Modify/Execute functionality).</a:t>
            </a:r>
          </a:p>
          <a:p>
            <a:endParaRPr lang="en-IN" dirty="0"/>
          </a:p>
        </p:txBody>
      </p:sp>
    </p:spTree>
    <p:extLst>
      <p:ext uri="{BB962C8B-B14F-4D97-AF65-F5344CB8AC3E}">
        <p14:creationId xmlns:p14="http://schemas.microsoft.com/office/powerpoint/2010/main" val="10165014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841C3-682D-B528-64E8-0BB4E1207728}"/>
              </a:ext>
            </a:extLst>
          </p:cNvPr>
          <p:cNvSpPr>
            <a:spLocks noGrp="1"/>
          </p:cNvSpPr>
          <p:nvPr>
            <p:ph type="title"/>
          </p:nvPr>
        </p:nvSpPr>
        <p:spPr/>
        <p:txBody>
          <a:bodyPr>
            <a:normAutofit fontScale="90000"/>
          </a:bodyPr>
          <a:lstStyle/>
          <a:p>
            <a:r>
              <a:rPr lang="en-IN" dirty="0"/>
              <a:t>Functionality and Testing  Continued</a:t>
            </a:r>
          </a:p>
        </p:txBody>
      </p:sp>
      <p:sp>
        <p:nvSpPr>
          <p:cNvPr id="3" name="Content Placeholder 2">
            <a:extLst>
              <a:ext uri="{FF2B5EF4-FFF2-40B4-BE49-F238E27FC236}">
                <a16:creationId xmlns:a16="http://schemas.microsoft.com/office/drawing/2014/main" id="{39B47900-2C52-AE87-8F47-DDF8386C7C92}"/>
              </a:ext>
            </a:extLst>
          </p:cNvPr>
          <p:cNvSpPr>
            <a:spLocks noGrp="1"/>
          </p:cNvSpPr>
          <p:nvPr>
            <p:ph idx="1"/>
          </p:nvPr>
        </p:nvSpPr>
        <p:spPr/>
        <p:txBody>
          <a:bodyPr>
            <a:normAutofit fontScale="92500" lnSpcReduction="10000"/>
          </a:bodyPr>
          <a:lstStyle/>
          <a:p>
            <a:r>
              <a:rPr lang="en-US" dirty="0"/>
              <a:t>End-to-End Simulation: A comprehensive test suite proving the system can successfully complete the entire loop.</a:t>
            </a:r>
          </a:p>
          <a:p>
            <a:r>
              <a:rPr lang="en-IN" dirty="0"/>
              <a:t>Simulated Failure </a:t>
            </a:r>
            <a:r>
              <a:rPr lang="en-IN" dirty="0">
                <a:sym typeface="Wingdings" panose="05000000000000000000" pitchFamily="2" charset="2"/>
              </a:rPr>
              <a:t> </a:t>
            </a:r>
            <a:r>
              <a:rPr lang="en-IN" dirty="0"/>
              <a:t>RCA </a:t>
            </a:r>
            <a:r>
              <a:rPr lang="en-IN" dirty="0">
                <a:sym typeface="Wingdings" panose="05000000000000000000" pitchFamily="2" charset="2"/>
              </a:rPr>
              <a:t> </a:t>
            </a:r>
            <a:r>
              <a:rPr lang="en-IN" dirty="0"/>
              <a:t>Prediction/Remediation </a:t>
            </a:r>
            <a:r>
              <a:rPr lang="en-IN" dirty="0">
                <a:sym typeface="Wingdings" panose="05000000000000000000" pitchFamily="2" charset="2"/>
              </a:rPr>
              <a:t> </a:t>
            </a:r>
            <a:r>
              <a:rPr lang="en-IN" dirty="0"/>
              <a:t>Suggestion  </a:t>
            </a:r>
            <a:r>
              <a:rPr lang="en-IN" dirty="0">
                <a:sym typeface="Wingdings" panose="05000000000000000000" pitchFamily="2" charset="2"/>
              </a:rPr>
              <a:t> </a:t>
            </a:r>
            <a:r>
              <a:rPr lang="en-IN" dirty="0"/>
              <a:t>Execution </a:t>
            </a:r>
            <a:r>
              <a:rPr lang="en-IN" dirty="0">
                <a:sym typeface="Wingdings" panose="05000000000000000000" pitchFamily="2" charset="2"/>
              </a:rPr>
              <a:t> </a:t>
            </a:r>
            <a:r>
              <a:rPr lang="en-IN" dirty="0"/>
              <a:t>Validation</a:t>
            </a:r>
            <a:endParaRPr lang="en-US" dirty="0"/>
          </a:p>
          <a:p>
            <a:r>
              <a:rPr lang="en-US" dirty="0"/>
              <a:t>Performance Metrics: Report detailing the Mean Time To Resolution (MTTR) improvement achieved during testing and the latency of the LLM/KG reasoning engine.</a:t>
            </a:r>
            <a:endParaRPr lang="en-IN" dirty="0"/>
          </a:p>
        </p:txBody>
      </p:sp>
    </p:spTree>
    <p:extLst>
      <p:ext uri="{BB962C8B-B14F-4D97-AF65-F5344CB8AC3E}">
        <p14:creationId xmlns:p14="http://schemas.microsoft.com/office/powerpoint/2010/main" val="30482888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A29AA-9903-1A90-A4E6-11F013A0B259}"/>
              </a:ext>
            </a:extLst>
          </p:cNvPr>
          <p:cNvSpPr>
            <a:spLocks noGrp="1"/>
          </p:cNvSpPr>
          <p:nvPr>
            <p:ph type="title"/>
          </p:nvPr>
        </p:nvSpPr>
        <p:spPr/>
        <p:txBody>
          <a:bodyPr/>
          <a:lstStyle/>
          <a:p>
            <a:r>
              <a:rPr lang="en-IN" dirty="0"/>
              <a:t>Documentation and Training</a:t>
            </a:r>
          </a:p>
        </p:txBody>
      </p:sp>
      <p:sp>
        <p:nvSpPr>
          <p:cNvPr id="3" name="Content Placeholder 2">
            <a:extLst>
              <a:ext uri="{FF2B5EF4-FFF2-40B4-BE49-F238E27FC236}">
                <a16:creationId xmlns:a16="http://schemas.microsoft.com/office/drawing/2014/main" id="{2AA0DC28-6A3D-FAD4-A9C9-36F974680377}"/>
              </a:ext>
            </a:extLst>
          </p:cNvPr>
          <p:cNvSpPr>
            <a:spLocks noGrp="1"/>
          </p:cNvSpPr>
          <p:nvPr>
            <p:ph idx="1"/>
          </p:nvPr>
        </p:nvSpPr>
        <p:spPr/>
        <p:txBody>
          <a:bodyPr>
            <a:normAutofit fontScale="92500" lnSpcReduction="20000"/>
          </a:bodyPr>
          <a:lstStyle/>
          <a:p>
            <a:r>
              <a:rPr lang="en-US" dirty="0"/>
              <a:t>Architecture Document: Finalized design specification for all components, including data flow, KG schema, and LLM architecture.</a:t>
            </a:r>
          </a:p>
          <a:p>
            <a:endParaRPr lang="en-US" dirty="0"/>
          </a:p>
          <a:p>
            <a:r>
              <a:rPr lang="en-US" dirty="0"/>
              <a:t>Operator Runbook: Detailed guide for operating, managing, and troubleshooting the platform.</a:t>
            </a:r>
          </a:p>
          <a:p>
            <a:endParaRPr lang="en-US" dirty="0"/>
          </a:p>
          <a:p>
            <a:r>
              <a:rPr lang="en-US" dirty="0"/>
              <a:t>Policy Template Library: A set of default, customizable policies for immediate deployment (e.g., "HITL for all production rollbacks").</a:t>
            </a:r>
            <a:endParaRPr lang="en-IN" dirty="0"/>
          </a:p>
        </p:txBody>
      </p:sp>
    </p:spTree>
    <p:extLst>
      <p:ext uri="{BB962C8B-B14F-4D97-AF65-F5344CB8AC3E}">
        <p14:creationId xmlns:p14="http://schemas.microsoft.com/office/powerpoint/2010/main" val="40142241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B56F2-D3DE-8EF6-F508-A9AC7B81B729}"/>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52A612A6-5DB5-0810-A182-ABBC560E60B6}"/>
              </a:ext>
            </a:extLst>
          </p:cNvPr>
          <p:cNvSpPr>
            <a:spLocks noGrp="1"/>
          </p:cNvSpPr>
          <p:nvPr>
            <p:ph idx="1"/>
          </p:nvPr>
        </p:nvSpPr>
        <p:spPr/>
        <p:txBody>
          <a:bodyPr>
            <a:normAutofit fontScale="70000" lnSpcReduction="20000"/>
          </a:bodyPr>
          <a:lstStyle/>
          <a:p>
            <a:r>
              <a:rPr lang="en-US" dirty="0"/>
              <a:t>Zero Privacy Risk: Achieve Full Data Sovereignty (On-Prem/VPC) by leveraging Local LLMs and Knowledge Graphs—no log data leaves your secure perimeter.</a:t>
            </a:r>
          </a:p>
          <a:p>
            <a:endParaRPr lang="en-US" dirty="0"/>
          </a:p>
          <a:p>
            <a:r>
              <a:rPr lang="en-US" dirty="0"/>
              <a:t>Decisive Intelligence: Eliminate manual toil by moving from keyword search to Contextual Reasoning. The LLM + KG provides deterministic, causality-driven RCA in seconds.</a:t>
            </a:r>
          </a:p>
          <a:p>
            <a:endParaRPr lang="en-US" dirty="0"/>
          </a:p>
          <a:p>
            <a:r>
              <a:rPr lang="en-US" dirty="0"/>
              <a:t>Unmatched Efficiency &amp; Safety: Drastically reduce MTTR via targeted self-healing (Rollbacks), while the Human-in-the-Loop model ensures expert control over high-risk actions.</a:t>
            </a:r>
          </a:p>
          <a:p>
            <a:endParaRPr lang="en-US" dirty="0"/>
          </a:p>
          <a:p>
            <a:r>
              <a:rPr lang="en-US" dirty="0"/>
              <a:t>The Future is Predictive: The integrated prototype enables Predictive Operations, allowing teams to proactively prevent failures before customer impact.</a:t>
            </a:r>
            <a:endParaRPr lang="en-IN" dirty="0"/>
          </a:p>
        </p:txBody>
      </p:sp>
    </p:spTree>
    <p:extLst>
      <p:ext uri="{BB962C8B-B14F-4D97-AF65-F5344CB8AC3E}">
        <p14:creationId xmlns:p14="http://schemas.microsoft.com/office/powerpoint/2010/main" val="28480957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71</TotalTime>
  <Words>1854</Words>
  <Application>Microsoft Office PowerPoint</Application>
  <PresentationFormat>On-screen Show (4:3)</PresentationFormat>
  <Paragraphs>102</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Wingdings</vt:lpstr>
      <vt:lpstr>Office Theme</vt:lpstr>
      <vt:lpstr>Autonomous Log Intelligence &amp; Self-Healing System Using Local LLMs + Knowledge Graphs Raja Sekhar Amirapu</vt:lpstr>
      <vt:lpstr>Problem Statement-The Observability Crisis: Data Overload and Privacy Deadlocks </vt:lpstr>
      <vt:lpstr>Solution Overview</vt:lpstr>
      <vt:lpstr>Architecture Diagram</vt:lpstr>
      <vt:lpstr>Data Ingestion &amp; Pre-Processing</vt:lpstr>
      <vt:lpstr>Intelligent Reasoning Engine (The Core AI)</vt:lpstr>
      <vt:lpstr>Action &amp; Visualization</vt:lpstr>
      <vt:lpstr>Stage 1: Visibility</vt:lpstr>
      <vt:lpstr>Stage 2: Intelligence</vt:lpstr>
      <vt:lpstr>Knowledge Graphs for Bug Origin Identification</vt:lpstr>
      <vt:lpstr>Stage 3: Assistance</vt:lpstr>
      <vt:lpstr>Stage 4: Autonomy</vt:lpstr>
      <vt:lpstr>The Shift to Predictive Operations</vt:lpstr>
      <vt:lpstr>Dependency Load Forecasting:</vt:lpstr>
      <vt:lpstr>Proactive Remediation</vt:lpstr>
      <vt:lpstr>Full Prototype Integration: The Closed-Loop System</vt:lpstr>
      <vt:lpstr>Software and Deployment</vt:lpstr>
      <vt:lpstr>Functionality and Testing</vt:lpstr>
      <vt:lpstr>Functionality and Testing  Continued</vt:lpstr>
      <vt:lpstr>Documentation and Training</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Rajasekhar Amirapu</dc:creator>
  <cp:keywords/>
  <dc:description>generated using python-pptx</dc:description>
  <cp:lastModifiedBy>Rajasekhar Amirapu</cp:lastModifiedBy>
  <cp:revision>11</cp:revision>
  <dcterms:created xsi:type="dcterms:W3CDTF">2013-01-27T09:14:16Z</dcterms:created>
  <dcterms:modified xsi:type="dcterms:W3CDTF">2025-11-18T16:14:09Z</dcterms:modified>
  <cp:category/>
</cp:coreProperties>
</file>