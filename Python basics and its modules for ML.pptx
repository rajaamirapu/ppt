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3" r:id="rId6"/>
    <p:sldId id="261" r:id="rId7"/>
    <p:sldId id="265" r:id="rId8"/>
    <p:sldId id="264" r:id="rId9"/>
    <p:sldId id="275" r:id="rId10"/>
    <p:sldId id="259" r:id="rId11"/>
    <p:sldId id="260"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68" autoAdjust="0"/>
    <p:restoredTop sz="94660"/>
  </p:normalViewPr>
  <p:slideViewPr>
    <p:cSldViewPr snapToGrid="0">
      <p:cViewPr varScale="1">
        <p:scale>
          <a:sx n="78" d="100"/>
          <a:sy n="78" d="100"/>
        </p:scale>
        <p:origin x="90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F453-D02B-51F0-C4F5-DC46E5CE9F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3F8110-0F2E-D956-DE92-1CF40EA8F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AE55EB-03AD-57AA-FBEB-CECF39687C27}"/>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1FC81CD2-7193-A5FD-5FE9-EE0BB9D294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EF1CD3-B5BB-4FC7-DB0C-43C9FAB5C1E8}"/>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3703619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62EB9-FFED-7493-F3BA-0E310895C1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2209B9-7210-2B6E-2088-6A10F16F9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7C391C-A6EC-F0CB-5B74-D78F036396EA}"/>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D1FCCCDB-84B3-018E-B737-BAD738D7C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0F9C60-2E66-8107-FC7C-28F846FA73AC}"/>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2695910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4850-49DB-C3F4-FE42-0AF53B381D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7B0E82-F0B8-C69B-B0EF-AAB6CD20DF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157D0E-6D8C-9ED5-9C07-7D46E5DDD744}"/>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67B94938-F7A4-D0CC-09B7-34DF34C575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6523DE-21FD-8383-FD2E-44D1D9676312}"/>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337599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57894-B47B-CD97-397E-866FB13A4F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5B48CC-5BA0-4DDC-43AA-F3BF35FC9E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211DA8-C21D-2095-DE4F-3DFB6FD275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FF752D-D550-4DE2-9B26-64301E790224}"/>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6" name="Footer Placeholder 5">
            <a:extLst>
              <a:ext uri="{FF2B5EF4-FFF2-40B4-BE49-F238E27FC236}">
                <a16:creationId xmlns:a16="http://schemas.microsoft.com/office/drawing/2014/main" id="{75C3A025-3B37-562D-956E-876385E405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C0B6A3-71C0-E178-F07C-91436A3C8A2E}"/>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419575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575E-C531-6327-BC40-5E5B3892E0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3A4DA4-18B9-1312-7D3B-680FC25A74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F3BE8F-18F4-4019-26BE-379E7D3CA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6AFC3B-14EB-4E76-965B-1A6CE0FE0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9C6BF6-E0CD-B8C3-F3B8-EC2B2D2B81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3C76C5-19EB-AA2C-9BD6-2D2F056F4678}"/>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8" name="Footer Placeholder 7">
            <a:extLst>
              <a:ext uri="{FF2B5EF4-FFF2-40B4-BE49-F238E27FC236}">
                <a16:creationId xmlns:a16="http://schemas.microsoft.com/office/drawing/2014/main" id="{FC5DDDEA-5F24-8527-D3D2-0CFB94AD12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35D54A-2738-E161-31E8-659194AD97DE}"/>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362610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95EC0-D108-6868-61CA-725D2D5531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DAF9F0-9DD9-D38B-2D6F-DFC02A62AD6E}"/>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4" name="Footer Placeholder 3">
            <a:extLst>
              <a:ext uri="{FF2B5EF4-FFF2-40B4-BE49-F238E27FC236}">
                <a16:creationId xmlns:a16="http://schemas.microsoft.com/office/drawing/2014/main" id="{4F3844A9-E8A7-E617-8313-9DE98EEB22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E5455C-117E-CD12-59BD-F992010AA860}"/>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2535151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B6C8D-0499-375A-66CC-4DB72EDB24C9}"/>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3" name="Footer Placeholder 2">
            <a:extLst>
              <a:ext uri="{FF2B5EF4-FFF2-40B4-BE49-F238E27FC236}">
                <a16:creationId xmlns:a16="http://schemas.microsoft.com/office/drawing/2014/main" id="{254190FA-A276-4B53-0A74-5A206492BA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34BC064-9A1E-0B05-8190-DD2F4312E877}"/>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459637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C3E9E-E8A7-28D5-1326-D6730045A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203D41-3E2D-9ED4-98A4-B3A3FC980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0CAD98-6BB3-A969-E86F-0B4381340D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C3B7A6-A59F-3633-0614-18275C792B9A}"/>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6" name="Footer Placeholder 5">
            <a:extLst>
              <a:ext uri="{FF2B5EF4-FFF2-40B4-BE49-F238E27FC236}">
                <a16:creationId xmlns:a16="http://schemas.microsoft.com/office/drawing/2014/main" id="{F5E549BD-7119-4218-859A-616BFE1F99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E4B4EE-4663-B63B-DB8D-D28EBA07E866}"/>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4082380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D232E-0BDA-6C53-B0EB-120433417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6431EA-9EBA-C574-A391-E904715D5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A2F754-D9A0-1217-7BB4-D76B77EFC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3ADAF-332E-A754-39D8-612BBD5F34D5}"/>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6" name="Footer Placeholder 5">
            <a:extLst>
              <a:ext uri="{FF2B5EF4-FFF2-40B4-BE49-F238E27FC236}">
                <a16:creationId xmlns:a16="http://schemas.microsoft.com/office/drawing/2014/main" id="{FEDF17FE-D9E6-48C5-EDF2-FD658CBCB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1D707F-CB37-75D6-5497-2B36492C30BB}"/>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2309920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2D7A-8ED7-9888-41FD-CF069E4FC0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9C8C1B-F2A9-EEEA-16BD-C874F36190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BF50B8-A80F-C848-3851-E1E80B7019B3}"/>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F0631D78-E222-E109-C46C-142B832E1E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04E65-821E-D281-A72E-B468E64706F1}"/>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2398884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7E6B4B-E5F3-F3B6-C0AD-AD2BAF94C2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CB07D8-64B1-7795-BFD8-CEF3CC164F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2B00E4-FC08-ED0E-FB20-87F7EC65AB61}"/>
              </a:ext>
            </a:extLst>
          </p:cNvPr>
          <p:cNvSpPr>
            <a:spLocks noGrp="1"/>
          </p:cNvSpPr>
          <p:nvPr>
            <p:ph type="dt" sz="half" idx="10"/>
          </p:nvPr>
        </p:nvSpPr>
        <p:spPr/>
        <p:txBody>
          <a:body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0E41EDA9-F977-8B08-582D-7C53F6D9C0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4F043-B21F-B3E2-6299-B662F98EC433}"/>
              </a:ext>
            </a:extLst>
          </p:cNvPr>
          <p:cNvSpPr>
            <a:spLocks noGrp="1"/>
          </p:cNvSpPr>
          <p:nvPr>
            <p:ph type="sldNum" sz="quarter" idx="12"/>
          </p:nvPr>
        </p:nvSpPr>
        <p:spPr/>
        <p:txBody>
          <a:bodyPr/>
          <a:lstStyle/>
          <a:p>
            <a:fld id="{8F2AA90D-9348-49EF-A44D-160B78078B4E}" type="slidenum">
              <a:rPr lang="en-IN" smtClean="0"/>
              <a:t>‹#›</a:t>
            </a:fld>
            <a:endParaRPr lang="en-IN"/>
          </a:p>
        </p:txBody>
      </p:sp>
    </p:spTree>
    <p:extLst>
      <p:ext uri="{BB962C8B-B14F-4D97-AF65-F5344CB8AC3E}">
        <p14:creationId xmlns:p14="http://schemas.microsoft.com/office/powerpoint/2010/main" val="298749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3AE58A-E5AB-6D7F-924A-6079417A1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D7B2E7-D778-03BC-9916-16738664E1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D4DFA0-E1E2-450D-23AC-9EDB962E3E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BE2699-10C1-490A-803A-2B0E6D6E40DA}" type="datetimeFigureOut">
              <a:rPr lang="en-IN" smtClean="0"/>
              <a:t>20-12-2025</a:t>
            </a:fld>
            <a:endParaRPr lang="en-IN"/>
          </a:p>
        </p:txBody>
      </p:sp>
      <p:sp>
        <p:nvSpPr>
          <p:cNvPr id="5" name="Footer Placeholder 4">
            <a:extLst>
              <a:ext uri="{FF2B5EF4-FFF2-40B4-BE49-F238E27FC236}">
                <a16:creationId xmlns:a16="http://schemas.microsoft.com/office/drawing/2014/main" id="{0E6A2F63-BC52-6707-289E-E5AE9BA99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2053E24-257A-08DE-29A5-EF9E452F3C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2AA90D-9348-49EF-A44D-160B78078B4E}" type="slidenum">
              <a:rPr lang="en-IN" smtClean="0"/>
              <a:t>‹#›</a:t>
            </a:fld>
            <a:endParaRPr lang="en-IN"/>
          </a:p>
        </p:txBody>
      </p:sp>
    </p:spTree>
    <p:extLst>
      <p:ext uri="{BB962C8B-B14F-4D97-AF65-F5344CB8AC3E}">
        <p14:creationId xmlns:p14="http://schemas.microsoft.com/office/powerpoint/2010/main" val="1466461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56F7-F559-6492-AF01-BF6BA1DB5684}"/>
              </a:ext>
            </a:extLst>
          </p:cNvPr>
          <p:cNvSpPr>
            <a:spLocks noGrp="1"/>
          </p:cNvSpPr>
          <p:nvPr>
            <p:ph type="ctrTitle"/>
          </p:nvPr>
        </p:nvSpPr>
        <p:spPr/>
        <p:txBody>
          <a:bodyPr/>
          <a:lstStyle/>
          <a:p>
            <a:r>
              <a:rPr lang="en-IN" dirty="0"/>
              <a:t>Python basics and its modules for ML</a:t>
            </a:r>
          </a:p>
        </p:txBody>
      </p:sp>
      <p:sp>
        <p:nvSpPr>
          <p:cNvPr id="3" name="Subtitle 2">
            <a:extLst>
              <a:ext uri="{FF2B5EF4-FFF2-40B4-BE49-F238E27FC236}">
                <a16:creationId xmlns:a16="http://schemas.microsoft.com/office/drawing/2014/main" id="{B7569BBF-DBAC-3261-10ED-506BD9BF687F}"/>
              </a:ext>
            </a:extLst>
          </p:cNvPr>
          <p:cNvSpPr>
            <a:spLocks noGrp="1"/>
          </p:cNvSpPr>
          <p:nvPr>
            <p:ph type="subTitle" idx="1"/>
          </p:nvPr>
        </p:nvSpPr>
        <p:spPr/>
        <p:txBody>
          <a:bodyPr/>
          <a:lstStyle/>
          <a:p>
            <a:r>
              <a:rPr lang="en-US" dirty="0"/>
              <a:t>Amirapu Raja Sekhar</a:t>
            </a:r>
            <a:endParaRPr lang="en-IN" dirty="0"/>
          </a:p>
        </p:txBody>
      </p:sp>
    </p:spTree>
    <p:extLst>
      <p:ext uri="{BB962C8B-B14F-4D97-AF65-F5344CB8AC3E}">
        <p14:creationId xmlns:p14="http://schemas.microsoft.com/office/powerpoint/2010/main" val="317850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313B0-C870-0B98-47CA-3D245D487D6F}"/>
              </a:ext>
            </a:extLst>
          </p:cNvPr>
          <p:cNvSpPr>
            <a:spLocks noGrp="1"/>
          </p:cNvSpPr>
          <p:nvPr>
            <p:ph type="title"/>
          </p:nvPr>
        </p:nvSpPr>
        <p:spPr/>
        <p:txBody>
          <a:bodyPr/>
          <a:lstStyle/>
          <a:p>
            <a:r>
              <a:rPr lang="en-IN" dirty="0"/>
              <a:t>Python Modules </a:t>
            </a:r>
          </a:p>
        </p:txBody>
      </p:sp>
      <p:sp>
        <p:nvSpPr>
          <p:cNvPr id="3" name="Content Placeholder 2">
            <a:extLst>
              <a:ext uri="{FF2B5EF4-FFF2-40B4-BE49-F238E27FC236}">
                <a16:creationId xmlns:a16="http://schemas.microsoft.com/office/drawing/2014/main" id="{E82BA563-887A-E181-F34D-D4C4EBE5A355}"/>
              </a:ext>
            </a:extLst>
          </p:cNvPr>
          <p:cNvSpPr>
            <a:spLocks noGrp="1"/>
          </p:cNvSpPr>
          <p:nvPr>
            <p:ph idx="1"/>
          </p:nvPr>
        </p:nvSpPr>
        <p:spPr/>
        <p:txBody>
          <a:bodyPr/>
          <a:lstStyle/>
          <a:p>
            <a:r>
              <a:rPr lang="en-US" b="0" i="0" dirty="0">
                <a:solidFill>
                  <a:srgbClr val="1F1F1F"/>
                </a:solidFill>
                <a:effectLst/>
                <a:highlight>
                  <a:srgbClr val="FFFFFF"/>
                </a:highlight>
                <a:latin typeface="Google Sans"/>
              </a:rPr>
              <a:t>Introduction to Python: Learn the basics of syntax, data types, variables, operators, and control flow.</a:t>
            </a:r>
          </a:p>
          <a:p>
            <a:r>
              <a:rPr lang="en-US" b="0" i="0" dirty="0">
                <a:solidFill>
                  <a:srgbClr val="1F1F1F"/>
                </a:solidFill>
                <a:effectLst/>
                <a:highlight>
                  <a:srgbClr val="FFFFFF"/>
                </a:highlight>
                <a:latin typeface="Google Sans"/>
              </a:rPr>
              <a:t>Libraries for Data Science: Get familiar with NumPy, Pandas, and Matplotlib.</a:t>
            </a:r>
          </a:p>
          <a:p>
            <a:r>
              <a:rPr lang="en-US" b="0" i="0" dirty="0">
                <a:solidFill>
                  <a:srgbClr val="1F1F1F"/>
                </a:solidFill>
                <a:effectLst/>
                <a:highlight>
                  <a:srgbClr val="FFFFFF"/>
                </a:highlight>
                <a:latin typeface="Google Sans"/>
              </a:rPr>
              <a:t>Functions and Modules: Understand how to define functions, use modules and packages, and write basic scripts.</a:t>
            </a:r>
          </a:p>
          <a:p>
            <a:r>
              <a:rPr lang="en-US" b="0" i="0" dirty="0" err="1">
                <a:solidFill>
                  <a:srgbClr val="1F1F1F"/>
                </a:solidFill>
                <a:effectLst/>
                <a:highlight>
                  <a:srgbClr val="FFFFFF"/>
                </a:highlight>
                <a:latin typeface="Google Sans"/>
              </a:rPr>
              <a:t>Jupyter</a:t>
            </a:r>
            <a:r>
              <a:rPr lang="en-US" b="0" i="0" dirty="0">
                <a:solidFill>
                  <a:srgbClr val="1F1F1F"/>
                </a:solidFill>
                <a:effectLst/>
                <a:highlight>
                  <a:srgbClr val="FFFFFF"/>
                </a:highlight>
                <a:latin typeface="Google Sans"/>
              </a:rPr>
              <a:t> Notebook: Explore this powerful interactive environment for coding, data analysis, and visualization</a:t>
            </a:r>
          </a:p>
          <a:p>
            <a:endParaRPr lang="en-IN" dirty="0"/>
          </a:p>
        </p:txBody>
      </p:sp>
    </p:spTree>
    <p:extLst>
      <p:ext uri="{BB962C8B-B14F-4D97-AF65-F5344CB8AC3E}">
        <p14:creationId xmlns:p14="http://schemas.microsoft.com/office/powerpoint/2010/main" val="1945116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4C99-5E5C-6873-34EE-9E626E62A095}"/>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4F20D30C-F1D9-7EB2-C77C-B75D6DD95DBD}"/>
              </a:ext>
            </a:extLst>
          </p:cNvPr>
          <p:cNvSpPr>
            <a:spLocks noGrp="1"/>
          </p:cNvSpPr>
          <p:nvPr>
            <p:ph idx="1"/>
          </p:nvPr>
        </p:nvSpPr>
        <p:spPr/>
        <p:txBody>
          <a:bodyPr>
            <a:normAutofit lnSpcReduction="10000"/>
          </a:bodyPr>
          <a:lstStyle/>
          <a:p>
            <a:r>
              <a:rPr lang="en-IN" dirty="0"/>
              <a:t>Learn how to Anaconda – download and install</a:t>
            </a:r>
          </a:p>
          <a:p>
            <a:r>
              <a:rPr lang="en-IN" dirty="0"/>
              <a:t>Learn how to install virtual environment</a:t>
            </a:r>
          </a:p>
          <a:p>
            <a:r>
              <a:rPr lang="en-IN" dirty="0"/>
              <a:t>Applications of python</a:t>
            </a:r>
          </a:p>
          <a:p>
            <a:r>
              <a:rPr lang="en-IN" dirty="0"/>
              <a:t>Identifiers and variables</a:t>
            </a:r>
          </a:p>
          <a:p>
            <a:r>
              <a:rPr lang="en-IN" dirty="0"/>
              <a:t>Data types in python</a:t>
            </a:r>
          </a:p>
          <a:p>
            <a:r>
              <a:rPr lang="en-IN" dirty="0"/>
              <a:t>Operators</a:t>
            </a:r>
          </a:p>
          <a:p>
            <a:r>
              <a:rPr lang="en-IN" dirty="0"/>
              <a:t>Conditional statements, loops </a:t>
            </a:r>
          </a:p>
          <a:p>
            <a:r>
              <a:rPr lang="en-IN" dirty="0"/>
              <a:t>Operations on files</a:t>
            </a:r>
          </a:p>
          <a:p>
            <a:r>
              <a:rPr lang="en-IN" dirty="0"/>
              <a:t>Types of sequences in python</a:t>
            </a:r>
          </a:p>
          <a:p>
            <a:endParaRPr lang="en-IN" dirty="0"/>
          </a:p>
        </p:txBody>
      </p:sp>
    </p:spTree>
    <p:extLst>
      <p:ext uri="{BB962C8B-B14F-4D97-AF65-F5344CB8AC3E}">
        <p14:creationId xmlns:p14="http://schemas.microsoft.com/office/powerpoint/2010/main" val="2902754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764E7-250B-F9D0-79B4-B221DB5A282D}"/>
              </a:ext>
            </a:extLst>
          </p:cNvPr>
          <p:cNvSpPr>
            <a:spLocks noGrp="1"/>
          </p:cNvSpPr>
          <p:nvPr>
            <p:ph type="title"/>
          </p:nvPr>
        </p:nvSpPr>
        <p:spPr/>
        <p:txBody>
          <a:bodyPr/>
          <a:lstStyle/>
          <a:p>
            <a:r>
              <a:rPr lang="en-IN" dirty="0"/>
              <a:t>Anaconda download</a:t>
            </a:r>
          </a:p>
        </p:txBody>
      </p:sp>
      <p:pic>
        <p:nvPicPr>
          <p:cNvPr id="5" name="Content Placeholder 4">
            <a:extLst>
              <a:ext uri="{FF2B5EF4-FFF2-40B4-BE49-F238E27FC236}">
                <a16:creationId xmlns:a16="http://schemas.microsoft.com/office/drawing/2014/main" id="{60DF8F5E-2150-1919-72C7-9C53E66D4CD3}"/>
              </a:ext>
            </a:extLst>
          </p:cNvPr>
          <p:cNvPicPr>
            <a:picLocks noGrp="1" noChangeAspect="1"/>
          </p:cNvPicPr>
          <p:nvPr>
            <p:ph idx="1"/>
          </p:nvPr>
        </p:nvPicPr>
        <p:blipFill>
          <a:blip r:embed="rId2"/>
          <a:stretch>
            <a:fillRect/>
          </a:stretch>
        </p:blipFill>
        <p:spPr>
          <a:xfrm>
            <a:off x="1161699" y="2202426"/>
            <a:ext cx="8511750" cy="2951982"/>
          </a:xfrm>
        </p:spPr>
      </p:pic>
      <p:sp>
        <p:nvSpPr>
          <p:cNvPr id="7" name="TextBox 6">
            <a:extLst>
              <a:ext uri="{FF2B5EF4-FFF2-40B4-BE49-F238E27FC236}">
                <a16:creationId xmlns:a16="http://schemas.microsoft.com/office/drawing/2014/main" id="{865EC612-D177-AE50-4882-AF3280340E27}"/>
              </a:ext>
            </a:extLst>
          </p:cNvPr>
          <p:cNvSpPr txBox="1"/>
          <p:nvPr/>
        </p:nvSpPr>
        <p:spPr>
          <a:xfrm>
            <a:off x="934064" y="1506022"/>
            <a:ext cx="6096000" cy="369332"/>
          </a:xfrm>
          <a:prstGeom prst="rect">
            <a:avLst/>
          </a:prstGeom>
          <a:noFill/>
        </p:spPr>
        <p:txBody>
          <a:bodyPr wrap="square">
            <a:spAutoFit/>
          </a:bodyPr>
          <a:lstStyle/>
          <a:p>
            <a:r>
              <a:rPr lang="en-IN" dirty="0"/>
              <a:t>Navigate to https://www.anaconda.com/download/success</a:t>
            </a:r>
          </a:p>
        </p:txBody>
      </p:sp>
    </p:spTree>
    <p:extLst>
      <p:ext uri="{BB962C8B-B14F-4D97-AF65-F5344CB8AC3E}">
        <p14:creationId xmlns:p14="http://schemas.microsoft.com/office/powerpoint/2010/main" val="2597645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E300-6771-583C-E9C3-AB764DAB2005}"/>
              </a:ext>
            </a:extLst>
          </p:cNvPr>
          <p:cNvSpPr>
            <a:spLocks noGrp="1"/>
          </p:cNvSpPr>
          <p:nvPr>
            <p:ph type="title"/>
          </p:nvPr>
        </p:nvSpPr>
        <p:spPr/>
        <p:txBody>
          <a:bodyPr/>
          <a:lstStyle/>
          <a:p>
            <a:r>
              <a:rPr lang="en-IN" dirty="0"/>
              <a:t>Download and install visual studio code</a:t>
            </a:r>
          </a:p>
        </p:txBody>
      </p:sp>
      <p:sp>
        <p:nvSpPr>
          <p:cNvPr id="3" name="Content Placeholder 2">
            <a:extLst>
              <a:ext uri="{FF2B5EF4-FFF2-40B4-BE49-F238E27FC236}">
                <a16:creationId xmlns:a16="http://schemas.microsoft.com/office/drawing/2014/main" id="{7A553313-686F-5E51-E003-2D5A140DCDA1}"/>
              </a:ext>
            </a:extLst>
          </p:cNvPr>
          <p:cNvSpPr>
            <a:spLocks noGrp="1"/>
          </p:cNvSpPr>
          <p:nvPr>
            <p:ph idx="1"/>
          </p:nvPr>
        </p:nvSpPr>
        <p:spPr/>
        <p:txBody>
          <a:bodyPr/>
          <a:lstStyle/>
          <a:p>
            <a:r>
              <a:rPr lang="en-IN" dirty="0"/>
              <a:t>Navigate to https://code.visualstudio.com/download</a:t>
            </a:r>
          </a:p>
        </p:txBody>
      </p:sp>
      <p:pic>
        <p:nvPicPr>
          <p:cNvPr id="5" name="Picture 4">
            <a:extLst>
              <a:ext uri="{FF2B5EF4-FFF2-40B4-BE49-F238E27FC236}">
                <a16:creationId xmlns:a16="http://schemas.microsoft.com/office/drawing/2014/main" id="{7914EFFC-EE29-5D11-ABC0-D6B35902F44C}"/>
              </a:ext>
            </a:extLst>
          </p:cNvPr>
          <p:cNvPicPr>
            <a:picLocks noChangeAspect="1"/>
          </p:cNvPicPr>
          <p:nvPr/>
        </p:nvPicPr>
        <p:blipFill>
          <a:blip r:embed="rId2"/>
          <a:stretch>
            <a:fillRect/>
          </a:stretch>
        </p:blipFill>
        <p:spPr>
          <a:xfrm>
            <a:off x="0" y="2203488"/>
            <a:ext cx="12192000" cy="4351339"/>
          </a:xfrm>
          <a:prstGeom prst="rect">
            <a:avLst/>
          </a:prstGeom>
        </p:spPr>
      </p:pic>
    </p:spTree>
    <p:extLst>
      <p:ext uri="{BB962C8B-B14F-4D97-AF65-F5344CB8AC3E}">
        <p14:creationId xmlns:p14="http://schemas.microsoft.com/office/powerpoint/2010/main" val="10289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B09DA-DFCF-9BD0-F542-F55349A37651}"/>
              </a:ext>
            </a:extLst>
          </p:cNvPr>
          <p:cNvSpPr>
            <a:spLocks noGrp="1"/>
          </p:cNvSpPr>
          <p:nvPr>
            <p:ph type="title"/>
          </p:nvPr>
        </p:nvSpPr>
        <p:spPr>
          <a:xfrm>
            <a:off x="838200" y="1"/>
            <a:ext cx="4431890" cy="698090"/>
          </a:xfrm>
        </p:spPr>
        <p:txBody>
          <a:bodyPr>
            <a:normAutofit/>
          </a:bodyPr>
          <a:lstStyle/>
          <a:p>
            <a:r>
              <a:rPr lang="en-IN" sz="1400" dirty="0"/>
              <a:t>Virtual environment creation and activation</a:t>
            </a:r>
          </a:p>
        </p:txBody>
      </p:sp>
      <p:pic>
        <p:nvPicPr>
          <p:cNvPr id="13" name="Picture 12">
            <a:extLst>
              <a:ext uri="{FF2B5EF4-FFF2-40B4-BE49-F238E27FC236}">
                <a16:creationId xmlns:a16="http://schemas.microsoft.com/office/drawing/2014/main" id="{39B5E07C-F225-2C6A-F64F-3A9F042C0EF3}"/>
              </a:ext>
            </a:extLst>
          </p:cNvPr>
          <p:cNvPicPr>
            <a:picLocks noChangeAspect="1"/>
          </p:cNvPicPr>
          <p:nvPr/>
        </p:nvPicPr>
        <p:blipFill>
          <a:blip r:embed="rId2"/>
          <a:stretch>
            <a:fillRect/>
          </a:stretch>
        </p:blipFill>
        <p:spPr>
          <a:xfrm>
            <a:off x="838200" y="1225546"/>
            <a:ext cx="4896325" cy="2120595"/>
          </a:xfrm>
          <a:prstGeom prst="rect">
            <a:avLst/>
          </a:prstGeom>
        </p:spPr>
      </p:pic>
      <p:pic>
        <p:nvPicPr>
          <p:cNvPr id="15" name="Picture 14">
            <a:extLst>
              <a:ext uri="{FF2B5EF4-FFF2-40B4-BE49-F238E27FC236}">
                <a16:creationId xmlns:a16="http://schemas.microsoft.com/office/drawing/2014/main" id="{72BC4B6E-D53C-C2E7-484D-65A4602E0A3E}"/>
              </a:ext>
            </a:extLst>
          </p:cNvPr>
          <p:cNvPicPr>
            <a:picLocks noChangeAspect="1"/>
          </p:cNvPicPr>
          <p:nvPr/>
        </p:nvPicPr>
        <p:blipFill>
          <a:blip r:embed="rId3"/>
          <a:stretch>
            <a:fillRect/>
          </a:stretch>
        </p:blipFill>
        <p:spPr>
          <a:xfrm>
            <a:off x="715288" y="3511859"/>
            <a:ext cx="5407741" cy="3346141"/>
          </a:xfrm>
          <a:prstGeom prst="rect">
            <a:avLst/>
          </a:prstGeom>
        </p:spPr>
      </p:pic>
      <p:pic>
        <p:nvPicPr>
          <p:cNvPr id="17" name="Picture 16">
            <a:extLst>
              <a:ext uri="{FF2B5EF4-FFF2-40B4-BE49-F238E27FC236}">
                <a16:creationId xmlns:a16="http://schemas.microsoft.com/office/drawing/2014/main" id="{273723AB-DB24-9D67-133E-A6A236C1BB41}"/>
              </a:ext>
            </a:extLst>
          </p:cNvPr>
          <p:cNvPicPr>
            <a:picLocks noChangeAspect="1"/>
          </p:cNvPicPr>
          <p:nvPr/>
        </p:nvPicPr>
        <p:blipFill>
          <a:blip r:embed="rId4"/>
          <a:stretch>
            <a:fillRect/>
          </a:stretch>
        </p:blipFill>
        <p:spPr>
          <a:xfrm>
            <a:off x="6037070" y="573523"/>
            <a:ext cx="5797286" cy="2897186"/>
          </a:xfrm>
          <a:prstGeom prst="rect">
            <a:avLst/>
          </a:prstGeom>
        </p:spPr>
      </p:pic>
      <p:pic>
        <p:nvPicPr>
          <p:cNvPr id="19" name="Picture 18">
            <a:extLst>
              <a:ext uri="{FF2B5EF4-FFF2-40B4-BE49-F238E27FC236}">
                <a16:creationId xmlns:a16="http://schemas.microsoft.com/office/drawing/2014/main" id="{B76367C6-9856-354F-FFD7-9AEC0C5A6BEE}"/>
              </a:ext>
            </a:extLst>
          </p:cNvPr>
          <p:cNvPicPr>
            <a:picLocks noChangeAspect="1"/>
          </p:cNvPicPr>
          <p:nvPr/>
        </p:nvPicPr>
        <p:blipFill>
          <a:blip r:embed="rId5"/>
          <a:stretch>
            <a:fillRect/>
          </a:stretch>
        </p:blipFill>
        <p:spPr>
          <a:xfrm>
            <a:off x="6394714" y="3511859"/>
            <a:ext cx="5081998" cy="3773844"/>
          </a:xfrm>
          <a:prstGeom prst="rect">
            <a:avLst/>
          </a:prstGeom>
        </p:spPr>
      </p:pic>
      <p:sp>
        <p:nvSpPr>
          <p:cNvPr id="20" name="TextBox 19">
            <a:extLst>
              <a:ext uri="{FF2B5EF4-FFF2-40B4-BE49-F238E27FC236}">
                <a16:creationId xmlns:a16="http://schemas.microsoft.com/office/drawing/2014/main" id="{AA92492D-3E60-96E0-FE1E-EC65B39F9EA4}"/>
              </a:ext>
            </a:extLst>
          </p:cNvPr>
          <p:cNvSpPr txBox="1"/>
          <p:nvPr/>
        </p:nvSpPr>
        <p:spPr>
          <a:xfrm>
            <a:off x="1012723" y="540643"/>
            <a:ext cx="4355690" cy="646331"/>
          </a:xfrm>
          <a:prstGeom prst="rect">
            <a:avLst/>
          </a:prstGeom>
          <a:noFill/>
        </p:spPr>
        <p:txBody>
          <a:bodyPr wrap="square" rtlCol="0">
            <a:spAutoFit/>
          </a:bodyPr>
          <a:lstStyle/>
          <a:p>
            <a:r>
              <a:rPr lang="en-IN" dirty="0"/>
              <a:t>Create a folder in explorer where your python app</a:t>
            </a:r>
          </a:p>
        </p:txBody>
      </p:sp>
    </p:spTree>
    <p:extLst>
      <p:ext uri="{BB962C8B-B14F-4D97-AF65-F5344CB8AC3E}">
        <p14:creationId xmlns:p14="http://schemas.microsoft.com/office/powerpoint/2010/main" val="37624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6B8FE-A2A3-A97B-1325-6DD27F616B48}"/>
              </a:ext>
            </a:extLst>
          </p:cNvPr>
          <p:cNvSpPr>
            <a:spLocks noGrp="1"/>
          </p:cNvSpPr>
          <p:nvPr>
            <p:ph type="title"/>
          </p:nvPr>
        </p:nvSpPr>
        <p:spPr/>
        <p:txBody>
          <a:bodyPr/>
          <a:lstStyle/>
          <a:p>
            <a:r>
              <a:rPr lang="en-IN" dirty="0"/>
              <a:t>What is pip</a:t>
            </a:r>
          </a:p>
        </p:txBody>
      </p:sp>
      <p:sp>
        <p:nvSpPr>
          <p:cNvPr id="3" name="Content Placeholder 2">
            <a:extLst>
              <a:ext uri="{FF2B5EF4-FFF2-40B4-BE49-F238E27FC236}">
                <a16:creationId xmlns:a16="http://schemas.microsoft.com/office/drawing/2014/main" id="{AC70F35E-B39F-63C4-5192-A29F7AC2B4A4}"/>
              </a:ext>
            </a:extLst>
          </p:cNvPr>
          <p:cNvSpPr>
            <a:spLocks noGrp="1"/>
          </p:cNvSpPr>
          <p:nvPr>
            <p:ph idx="1"/>
          </p:nvPr>
        </p:nvSpPr>
        <p:spPr/>
        <p:txBody>
          <a:bodyPr/>
          <a:lstStyle/>
          <a:p>
            <a:r>
              <a:rPr lang="en-US" b="0" i="0" dirty="0">
                <a:solidFill>
                  <a:srgbClr val="0D0D0D"/>
                </a:solidFill>
                <a:effectLst/>
                <a:highlight>
                  <a:srgbClr val="FFFFFF"/>
                </a:highlight>
                <a:latin typeface="Söhne"/>
              </a:rPr>
              <a:t>Pip is a powerful tool in the Python ecosystem, essential for managing packages and dependencies effortlessly. As a Python fresher, understanding Pip is crucial for installing, upgrading, and removing packages with ease. With just a few simple commands, such as 'pip install' or 'pip uninstall', you can add or remove libraries to your Python environment. Moreover, Pip simplifies the process of ensuring your projects have all the necessary dependencies, streamlining development and enhancing productivity. Embrace Pip, and you'll find navigating the Python library landscape a breeze."</a:t>
            </a:r>
            <a:endParaRPr lang="en-IN" dirty="0"/>
          </a:p>
        </p:txBody>
      </p:sp>
    </p:spTree>
    <p:extLst>
      <p:ext uri="{BB962C8B-B14F-4D97-AF65-F5344CB8AC3E}">
        <p14:creationId xmlns:p14="http://schemas.microsoft.com/office/powerpoint/2010/main" val="283701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8CB49-9CA3-BE31-3CEB-EE812F725F27}"/>
              </a:ext>
            </a:extLst>
          </p:cNvPr>
          <p:cNvSpPr>
            <a:spLocks noGrp="1"/>
          </p:cNvSpPr>
          <p:nvPr>
            <p:ph type="title"/>
          </p:nvPr>
        </p:nvSpPr>
        <p:spPr/>
        <p:txBody>
          <a:bodyPr/>
          <a:lstStyle/>
          <a:p>
            <a:r>
              <a:rPr lang="en-IN" dirty="0"/>
              <a:t>Python </a:t>
            </a:r>
            <a:r>
              <a:rPr lang="en-IN" dirty="0" err="1"/>
              <a:t>identifers</a:t>
            </a:r>
            <a:endParaRPr lang="en-IN" dirty="0"/>
          </a:p>
        </p:txBody>
      </p:sp>
      <p:sp>
        <p:nvSpPr>
          <p:cNvPr id="3" name="Content Placeholder 2">
            <a:extLst>
              <a:ext uri="{FF2B5EF4-FFF2-40B4-BE49-F238E27FC236}">
                <a16:creationId xmlns:a16="http://schemas.microsoft.com/office/drawing/2014/main" id="{3B2AD1BD-A08E-EECC-B9A0-5F95E65B8F19}"/>
              </a:ext>
            </a:extLst>
          </p:cNvPr>
          <p:cNvSpPr>
            <a:spLocks noGrp="1"/>
          </p:cNvSpPr>
          <p:nvPr>
            <p:ph idx="1"/>
          </p:nvPr>
        </p:nvSpPr>
        <p:spPr>
          <a:xfrm>
            <a:off x="838200" y="1533832"/>
            <a:ext cx="10515600" cy="4643131"/>
          </a:xfrm>
        </p:spPr>
        <p:txBody>
          <a:bodyPr>
            <a:normAutofit fontScale="92500" lnSpcReduction="20000"/>
          </a:bodyPr>
          <a:lstStyle/>
          <a:p>
            <a:pPr algn="l" rtl="0" fontAlgn="base"/>
            <a:r>
              <a:rPr lang="en-IN" b="1" i="1" dirty="0">
                <a:solidFill>
                  <a:srgbClr val="273239"/>
                </a:solidFill>
                <a:effectLst/>
                <a:latin typeface="Nunito" panose="020F0502020204030204" pitchFamily="2" charset="0"/>
              </a:rPr>
              <a:t>Valid identifiers:</a:t>
            </a:r>
            <a:endParaRPr lang="en-IN" b="0" i="1" dirty="0">
              <a:solidFill>
                <a:srgbClr val="273239"/>
              </a:solidFill>
              <a:effectLst/>
              <a:latin typeface="Nunito" panose="020F0502020204030204" pitchFamily="2" charset="0"/>
            </a:endParaRP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var1</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_var1</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_1_var</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var_1</a:t>
            </a:r>
          </a:p>
          <a:p>
            <a:pPr algn="l" rtl="0" fontAlgn="base"/>
            <a:r>
              <a:rPr lang="en-IN" b="1" i="1" dirty="0">
                <a:solidFill>
                  <a:srgbClr val="273239"/>
                </a:solidFill>
                <a:effectLst/>
                <a:latin typeface="Nunito" panose="020F0502020204030204" pitchFamily="2" charset="0"/>
              </a:rPr>
              <a:t>Invalid Identifiers</a:t>
            </a:r>
            <a:endParaRPr lang="en-IN" b="0" i="1" dirty="0">
              <a:solidFill>
                <a:srgbClr val="273239"/>
              </a:solidFill>
              <a:effectLst/>
              <a:latin typeface="Nunito" panose="020F0502020204030204" pitchFamily="2" charset="0"/>
            </a:endParaRP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!var1</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1var</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1_var</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var#1</a:t>
            </a:r>
          </a:p>
          <a:p>
            <a:pPr algn="l" fontAlgn="base">
              <a:buFont typeface="Arial" panose="020B0604020202020204" pitchFamily="34" charset="0"/>
              <a:buChar char="•"/>
            </a:pPr>
            <a:r>
              <a:rPr lang="en-IN" b="0" i="1" dirty="0">
                <a:solidFill>
                  <a:srgbClr val="273239"/>
                </a:solidFill>
                <a:effectLst/>
                <a:latin typeface="Nunito" panose="020F0502020204030204" pitchFamily="2" charset="0"/>
              </a:rPr>
              <a:t>var 1</a:t>
            </a:r>
          </a:p>
          <a:p>
            <a:endParaRPr lang="en-IN" dirty="0"/>
          </a:p>
        </p:txBody>
      </p:sp>
    </p:spTree>
    <p:extLst>
      <p:ext uri="{BB962C8B-B14F-4D97-AF65-F5344CB8AC3E}">
        <p14:creationId xmlns:p14="http://schemas.microsoft.com/office/powerpoint/2010/main" val="198602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9B28-EB44-06C5-9886-9C269727C92E}"/>
              </a:ext>
            </a:extLst>
          </p:cNvPr>
          <p:cNvSpPr>
            <a:spLocks noGrp="1"/>
          </p:cNvSpPr>
          <p:nvPr>
            <p:ph type="title"/>
          </p:nvPr>
        </p:nvSpPr>
        <p:spPr/>
        <p:txBody>
          <a:bodyPr/>
          <a:lstStyle/>
          <a:p>
            <a:r>
              <a:rPr lang="en-IN" dirty="0"/>
              <a:t>Variables</a:t>
            </a:r>
          </a:p>
        </p:txBody>
      </p:sp>
      <p:sp>
        <p:nvSpPr>
          <p:cNvPr id="3" name="Content Placeholder 2">
            <a:extLst>
              <a:ext uri="{FF2B5EF4-FFF2-40B4-BE49-F238E27FC236}">
                <a16:creationId xmlns:a16="http://schemas.microsoft.com/office/drawing/2014/main" id="{B1F87202-B4A4-53DB-F8B4-E4999F363FAD}"/>
              </a:ext>
            </a:extLst>
          </p:cNvPr>
          <p:cNvSpPr>
            <a:spLocks noGrp="1"/>
          </p:cNvSpPr>
          <p:nvPr>
            <p:ph idx="1"/>
          </p:nvPr>
        </p:nvSpPr>
        <p:spPr/>
        <p:txBody>
          <a:bodyPr/>
          <a:lstStyle/>
          <a:p>
            <a:r>
              <a:rPr lang="en-IN" dirty="0"/>
              <a:t>Variables are reserved memory locations where we store our values</a:t>
            </a:r>
          </a:p>
          <a:p>
            <a:endParaRPr lang="en-IN" dirty="0"/>
          </a:p>
        </p:txBody>
      </p:sp>
      <p:sp>
        <p:nvSpPr>
          <p:cNvPr id="4" name="Rectangle 3">
            <a:extLst>
              <a:ext uri="{FF2B5EF4-FFF2-40B4-BE49-F238E27FC236}">
                <a16:creationId xmlns:a16="http://schemas.microsoft.com/office/drawing/2014/main" id="{E7814155-8384-2FF8-CADF-6EFF93966D7D}"/>
              </a:ext>
            </a:extLst>
          </p:cNvPr>
          <p:cNvSpPr/>
          <p:nvPr/>
        </p:nvSpPr>
        <p:spPr>
          <a:xfrm>
            <a:off x="1474839" y="3193179"/>
            <a:ext cx="2546555" cy="154366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A=16</a:t>
            </a:r>
          </a:p>
          <a:p>
            <a:pPr algn="ctr"/>
            <a:r>
              <a:rPr lang="en-IN" dirty="0"/>
              <a:t>B=60</a:t>
            </a:r>
          </a:p>
          <a:p>
            <a:pPr algn="ctr"/>
            <a:r>
              <a:rPr lang="en-IN" dirty="0"/>
              <a:t>C=“RAJA”</a:t>
            </a:r>
          </a:p>
        </p:txBody>
      </p:sp>
      <p:sp>
        <p:nvSpPr>
          <p:cNvPr id="6" name="Cube 5">
            <a:extLst>
              <a:ext uri="{FF2B5EF4-FFF2-40B4-BE49-F238E27FC236}">
                <a16:creationId xmlns:a16="http://schemas.microsoft.com/office/drawing/2014/main" id="{3EA2C826-4113-87BB-7DE2-D5641EF77C01}"/>
              </a:ext>
            </a:extLst>
          </p:cNvPr>
          <p:cNvSpPr/>
          <p:nvPr/>
        </p:nvSpPr>
        <p:spPr>
          <a:xfrm>
            <a:off x="7246374" y="2563914"/>
            <a:ext cx="3293807" cy="2428568"/>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A=16</a:t>
            </a:r>
          </a:p>
          <a:p>
            <a:pPr algn="ctr"/>
            <a:r>
              <a:rPr lang="en-IN" dirty="0"/>
              <a:t>B=60</a:t>
            </a:r>
          </a:p>
          <a:p>
            <a:pPr algn="ctr"/>
            <a:r>
              <a:rPr lang="en-IN" dirty="0"/>
              <a:t>C=“Raja”</a:t>
            </a:r>
          </a:p>
        </p:txBody>
      </p:sp>
      <p:cxnSp>
        <p:nvCxnSpPr>
          <p:cNvPr id="8" name="Straight Arrow Connector 7">
            <a:extLst>
              <a:ext uri="{FF2B5EF4-FFF2-40B4-BE49-F238E27FC236}">
                <a16:creationId xmlns:a16="http://schemas.microsoft.com/office/drawing/2014/main" id="{8D462801-5416-3823-979F-1E137AEEDADB}"/>
              </a:ext>
            </a:extLst>
          </p:cNvPr>
          <p:cNvCxnSpPr>
            <a:cxnSpLocks/>
          </p:cNvCxnSpPr>
          <p:nvPr/>
        </p:nvCxnSpPr>
        <p:spPr>
          <a:xfrm>
            <a:off x="4021394" y="3619218"/>
            <a:ext cx="3224980" cy="15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52D4DA-F4AC-7099-5017-3A4A2BA3A92C}"/>
              </a:ext>
            </a:extLst>
          </p:cNvPr>
          <p:cNvCxnSpPr>
            <a:endCxn id="6" idx="2"/>
          </p:cNvCxnSpPr>
          <p:nvPr/>
        </p:nvCxnSpPr>
        <p:spPr>
          <a:xfrm flipV="1">
            <a:off x="4021394" y="4081769"/>
            <a:ext cx="3224980" cy="37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11FB8ED-E472-9D19-8CF4-7F5C7EE4B869}"/>
              </a:ext>
            </a:extLst>
          </p:cNvPr>
          <p:cNvCxnSpPr/>
          <p:nvPr/>
        </p:nvCxnSpPr>
        <p:spPr>
          <a:xfrm flipV="1">
            <a:off x="4021394" y="4254653"/>
            <a:ext cx="3224980" cy="37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172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338ED-E662-8FAB-4FFA-6CA1F199159A}"/>
              </a:ext>
            </a:extLst>
          </p:cNvPr>
          <p:cNvSpPr>
            <a:spLocks noGrp="1"/>
          </p:cNvSpPr>
          <p:nvPr>
            <p:ph type="title"/>
          </p:nvPr>
        </p:nvSpPr>
        <p:spPr/>
        <p:txBody>
          <a:bodyPr/>
          <a:lstStyle/>
          <a:p>
            <a:r>
              <a:rPr lang="en-IN" dirty="0"/>
              <a:t>Applications of python</a:t>
            </a:r>
          </a:p>
        </p:txBody>
      </p:sp>
      <p:sp>
        <p:nvSpPr>
          <p:cNvPr id="3" name="Content Placeholder 2">
            <a:extLst>
              <a:ext uri="{FF2B5EF4-FFF2-40B4-BE49-F238E27FC236}">
                <a16:creationId xmlns:a16="http://schemas.microsoft.com/office/drawing/2014/main" id="{336FD3E1-22DA-B1B5-D908-834785A11C93}"/>
              </a:ext>
            </a:extLst>
          </p:cNvPr>
          <p:cNvSpPr>
            <a:spLocks noGrp="1"/>
          </p:cNvSpPr>
          <p:nvPr>
            <p:ph idx="1"/>
          </p:nvPr>
        </p:nvSpPr>
        <p:spPr/>
        <p:txBody>
          <a:bodyPr/>
          <a:lstStyle/>
          <a:p>
            <a:r>
              <a:rPr lang="en-IN" dirty="0"/>
              <a:t>Web development</a:t>
            </a:r>
          </a:p>
          <a:p>
            <a:r>
              <a:rPr lang="en-IN" dirty="0"/>
              <a:t>Testing </a:t>
            </a:r>
          </a:p>
          <a:p>
            <a:r>
              <a:rPr lang="en-IN" dirty="0"/>
              <a:t>Web crawling </a:t>
            </a:r>
          </a:p>
          <a:p>
            <a:r>
              <a:rPr lang="en-IN" dirty="0"/>
              <a:t>Computer vision</a:t>
            </a:r>
          </a:p>
          <a:p>
            <a:r>
              <a:rPr lang="en-IN" dirty="0"/>
              <a:t>Machine learning</a:t>
            </a:r>
          </a:p>
          <a:p>
            <a:r>
              <a:rPr lang="en-IN" dirty="0"/>
              <a:t>A.I.</a:t>
            </a:r>
          </a:p>
          <a:p>
            <a:r>
              <a:rPr lang="en-IN" dirty="0"/>
              <a:t>Deep learning</a:t>
            </a:r>
          </a:p>
          <a:p>
            <a:r>
              <a:rPr lang="en-IN" dirty="0"/>
              <a:t>Natural language processing</a:t>
            </a:r>
          </a:p>
        </p:txBody>
      </p:sp>
    </p:spTree>
    <p:extLst>
      <p:ext uri="{BB962C8B-B14F-4D97-AF65-F5344CB8AC3E}">
        <p14:creationId xmlns:p14="http://schemas.microsoft.com/office/powerpoint/2010/main" val="413605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737A-5AEB-C9D0-9476-57C082CCD317}"/>
              </a:ext>
            </a:extLst>
          </p:cNvPr>
          <p:cNvSpPr>
            <a:spLocks noGrp="1"/>
          </p:cNvSpPr>
          <p:nvPr>
            <p:ph type="title"/>
          </p:nvPr>
        </p:nvSpPr>
        <p:spPr/>
        <p:txBody>
          <a:bodyPr/>
          <a:lstStyle/>
          <a:p>
            <a:r>
              <a:rPr lang="en-IN" dirty="0"/>
              <a:t>Web development</a:t>
            </a:r>
          </a:p>
        </p:txBody>
      </p:sp>
      <p:sp>
        <p:nvSpPr>
          <p:cNvPr id="3" name="Content Placeholder 2">
            <a:extLst>
              <a:ext uri="{FF2B5EF4-FFF2-40B4-BE49-F238E27FC236}">
                <a16:creationId xmlns:a16="http://schemas.microsoft.com/office/drawing/2014/main" id="{EDE76111-B40F-A20C-D6E9-668A40B7B927}"/>
              </a:ext>
            </a:extLst>
          </p:cNvPr>
          <p:cNvSpPr>
            <a:spLocks noGrp="1"/>
          </p:cNvSpPr>
          <p:nvPr>
            <p:ph idx="1"/>
          </p:nvPr>
        </p:nvSpPr>
        <p:spPr/>
        <p:txBody>
          <a:bodyPr/>
          <a:lstStyle/>
          <a:p>
            <a:pPr marL="0" indent="0">
              <a:buNone/>
            </a:pPr>
            <a:r>
              <a:rPr lang="en-IN" dirty="0"/>
              <a:t>Flask application</a:t>
            </a:r>
          </a:p>
          <a:p>
            <a:pPr marL="0" indent="0">
              <a:buNone/>
            </a:pPr>
            <a:r>
              <a:rPr lang="en-IN" dirty="0"/>
              <a:t>Create a file a called requirements.txt</a:t>
            </a:r>
          </a:p>
          <a:p>
            <a:pPr marL="0" indent="0">
              <a:buNone/>
            </a:pPr>
            <a:r>
              <a:rPr lang="en-IN" dirty="0"/>
              <a:t>Add a line called 	Pip install flask</a:t>
            </a:r>
          </a:p>
          <a:p>
            <a:pPr marL="0" indent="0">
              <a:buNone/>
            </a:pPr>
            <a:r>
              <a:rPr lang="en-IN" dirty="0"/>
              <a:t>Navigate to command prompt where we opened earlier</a:t>
            </a:r>
          </a:p>
          <a:p>
            <a:pPr marL="0" indent="0">
              <a:buNone/>
            </a:pPr>
            <a:r>
              <a:rPr lang="en-IN" dirty="0"/>
              <a:t>Pip install -r requirements.txt</a:t>
            </a:r>
          </a:p>
          <a:p>
            <a:pPr marL="0" indent="0">
              <a:buNone/>
            </a:pPr>
            <a:r>
              <a:rPr lang="en-IN" dirty="0"/>
              <a:t>Now run the app python </a:t>
            </a:r>
          </a:p>
          <a:p>
            <a:pPr marL="0" indent="0">
              <a:buNone/>
            </a:pPr>
            <a:r>
              <a:rPr lang="en-IN" dirty="0"/>
              <a:t>Python app.py</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graphicFrame>
        <p:nvGraphicFramePr>
          <p:cNvPr id="4" name="Object 3">
            <a:extLst>
              <a:ext uri="{FF2B5EF4-FFF2-40B4-BE49-F238E27FC236}">
                <a16:creationId xmlns:a16="http://schemas.microsoft.com/office/drawing/2014/main" id="{58192DCC-F61F-4673-EAE3-7149B925443C}"/>
              </a:ext>
            </a:extLst>
          </p:cNvPr>
          <p:cNvGraphicFramePr>
            <a:graphicFrameLocks noChangeAspect="1"/>
          </p:cNvGraphicFramePr>
          <p:nvPr>
            <p:extLst>
              <p:ext uri="{D42A27DB-BD31-4B8C-83A1-F6EECF244321}">
                <p14:modId xmlns:p14="http://schemas.microsoft.com/office/powerpoint/2010/main" val="1599979651"/>
              </p:ext>
            </p:extLst>
          </p:nvPr>
        </p:nvGraphicFramePr>
        <p:xfrm>
          <a:off x="3573002" y="6168824"/>
          <a:ext cx="434975" cy="517525"/>
        </p:xfrm>
        <a:graphic>
          <a:graphicData uri="http://schemas.openxmlformats.org/presentationml/2006/ole">
            <mc:AlternateContent xmlns:mc="http://schemas.openxmlformats.org/markup-compatibility/2006">
              <mc:Choice xmlns:v="urn:schemas-microsoft-com:vml" Requires="v">
                <p:oleObj name="Packager Shell Object" showAsIcon="1" r:id="rId2" imgW="434234" imgH="518081" progId="Package">
                  <p:embed/>
                </p:oleObj>
              </mc:Choice>
              <mc:Fallback>
                <p:oleObj name="Packager Shell Object" showAsIcon="1" r:id="rId2" imgW="434234" imgH="518081" progId="Package">
                  <p:embed/>
                  <p:pic>
                    <p:nvPicPr>
                      <p:cNvPr id="0" name=""/>
                      <p:cNvPicPr/>
                      <p:nvPr/>
                    </p:nvPicPr>
                    <p:blipFill>
                      <a:blip r:embed="rId3"/>
                      <a:stretch>
                        <a:fillRect/>
                      </a:stretch>
                    </p:blipFill>
                    <p:spPr>
                      <a:xfrm>
                        <a:off x="3573002" y="6168824"/>
                        <a:ext cx="434975" cy="5175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ABA9904-1F59-67E3-9AE1-60371B48F651}"/>
              </a:ext>
            </a:extLst>
          </p:cNvPr>
          <p:cNvGraphicFramePr>
            <a:graphicFrameLocks noChangeAspect="1"/>
          </p:cNvGraphicFramePr>
          <p:nvPr>
            <p:extLst>
              <p:ext uri="{D42A27DB-BD31-4B8C-83A1-F6EECF244321}">
                <p14:modId xmlns:p14="http://schemas.microsoft.com/office/powerpoint/2010/main" val="3783427535"/>
              </p:ext>
            </p:extLst>
          </p:nvPr>
        </p:nvGraphicFramePr>
        <p:xfrm>
          <a:off x="4860514" y="6165980"/>
          <a:ext cx="1028700" cy="517525"/>
        </p:xfrm>
        <a:graphic>
          <a:graphicData uri="http://schemas.openxmlformats.org/presentationml/2006/ole">
            <mc:AlternateContent xmlns:mc="http://schemas.openxmlformats.org/markup-compatibility/2006">
              <mc:Choice xmlns:v="urn:schemas-microsoft-com:vml" Requires="v">
                <p:oleObj name="Packager Shell Object" showAsIcon="1" r:id="rId4" imgW="1028806" imgH="518081" progId="Package">
                  <p:embed/>
                </p:oleObj>
              </mc:Choice>
              <mc:Fallback>
                <p:oleObj name="Packager Shell Object" showAsIcon="1" r:id="rId4" imgW="1028806" imgH="518081" progId="Package">
                  <p:embed/>
                  <p:pic>
                    <p:nvPicPr>
                      <p:cNvPr id="0" name=""/>
                      <p:cNvPicPr/>
                      <p:nvPr/>
                    </p:nvPicPr>
                    <p:blipFill>
                      <a:blip r:embed="rId5"/>
                      <a:stretch>
                        <a:fillRect/>
                      </a:stretch>
                    </p:blipFill>
                    <p:spPr>
                      <a:xfrm>
                        <a:off x="4860514" y="6165980"/>
                        <a:ext cx="1028700" cy="517525"/>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A2EA2D5F-FB5D-4BED-48C9-61AD64AFE320}"/>
              </a:ext>
            </a:extLst>
          </p:cNvPr>
          <p:cNvPicPr>
            <a:picLocks noChangeAspect="1"/>
          </p:cNvPicPr>
          <p:nvPr/>
        </p:nvPicPr>
        <p:blipFill>
          <a:blip r:embed="rId6"/>
          <a:stretch>
            <a:fillRect/>
          </a:stretch>
        </p:blipFill>
        <p:spPr>
          <a:xfrm>
            <a:off x="3234812" y="4774944"/>
            <a:ext cx="8485239" cy="1256099"/>
          </a:xfrm>
          <a:prstGeom prst="rect">
            <a:avLst/>
          </a:prstGeom>
        </p:spPr>
      </p:pic>
      <p:pic>
        <p:nvPicPr>
          <p:cNvPr id="11" name="Picture 10">
            <a:extLst>
              <a:ext uri="{FF2B5EF4-FFF2-40B4-BE49-F238E27FC236}">
                <a16:creationId xmlns:a16="http://schemas.microsoft.com/office/drawing/2014/main" id="{45D5C709-5A5E-B3BD-E041-8DBD0A5E3682}"/>
              </a:ext>
            </a:extLst>
          </p:cNvPr>
          <p:cNvPicPr>
            <a:picLocks noChangeAspect="1"/>
          </p:cNvPicPr>
          <p:nvPr/>
        </p:nvPicPr>
        <p:blipFill>
          <a:blip r:embed="rId7"/>
          <a:stretch>
            <a:fillRect/>
          </a:stretch>
        </p:blipFill>
        <p:spPr>
          <a:xfrm>
            <a:off x="7081915" y="437245"/>
            <a:ext cx="5346060" cy="2506886"/>
          </a:xfrm>
          <a:prstGeom prst="rect">
            <a:avLst/>
          </a:prstGeom>
        </p:spPr>
      </p:pic>
    </p:spTree>
    <p:extLst>
      <p:ext uri="{BB962C8B-B14F-4D97-AF65-F5344CB8AC3E}">
        <p14:creationId xmlns:p14="http://schemas.microsoft.com/office/powerpoint/2010/main" val="127158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411B-EF4D-1D76-2682-84742E21C8E1}"/>
              </a:ext>
            </a:extLst>
          </p:cNvPr>
          <p:cNvSpPr>
            <a:spLocks noGrp="1"/>
          </p:cNvSpPr>
          <p:nvPr>
            <p:ph type="title"/>
          </p:nvPr>
        </p:nvSpPr>
        <p:spPr/>
        <p:txBody>
          <a:bodyPr/>
          <a:lstStyle/>
          <a:p>
            <a:r>
              <a:rPr lang="en-IN" dirty="0"/>
              <a:t>Testing</a:t>
            </a:r>
          </a:p>
        </p:txBody>
      </p:sp>
      <p:sp>
        <p:nvSpPr>
          <p:cNvPr id="3" name="Content Placeholder 2">
            <a:extLst>
              <a:ext uri="{FF2B5EF4-FFF2-40B4-BE49-F238E27FC236}">
                <a16:creationId xmlns:a16="http://schemas.microsoft.com/office/drawing/2014/main" id="{192003F6-5F41-B092-8245-4A6C01659233}"/>
              </a:ext>
            </a:extLst>
          </p:cNvPr>
          <p:cNvSpPr>
            <a:spLocks noGrp="1"/>
          </p:cNvSpPr>
          <p:nvPr>
            <p:ph idx="1"/>
          </p:nvPr>
        </p:nvSpPr>
        <p:spPr/>
        <p:txBody>
          <a:bodyPr/>
          <a:lstStyle/>
          <a:p>
            <a:r>
              <a:rPr lang="en-IN" dirty="0"/>
              <a:t>Selenium packages are available  </a:t>
            </a:r>
          </a:p>
          <a:p>
            <a:r>
              <a:rPr lang="en-IN" dirty="0"/>
              <a:t>Performance testing</a:t>
            </a:r>
          </a:p>
          <a:p>
            <a:r>
              <a:rPr lang="en-IN" dirty="0"/>
              <a:t>Python test framework</a:t>
            </a:r>
          </a:p>
          <a:p>
            <a:r>
              <a:rPr lang="en-IN" dirty="0"/>
              <a:t>And many more</a:t>
            </a:r>
          </a:p>
        </p:txBody>
      </p:sp>
    </p:spTree>
    <p:extLst>
      <p:ext uri="{BB962C8B-B14F-4D97-AF65-F5344CB8AC3E}">
        <p14:creationId xmlns:p14="http://schemas.microsoft.com/office/powerpoint/2010/main" val="1205672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599C-1E0B-EA33-CA62-5F7665BAC144}"/>
              </a:ext>
            </a:extLst>
          </p:cNvPr>
          <p:cNvSpPr>
            <a:spLocks noGrp="1"/>
          </p:cNvSpPr>
          <p:nvPr>
            <p:ph type="title"/>
          </p:nvPr>
        </p:nvSpPr>
        <p:spPr/>
        <p:txBody>
          <a:bodyPr/>
          <a:lstStyle/>
          <a:p>
            <a:r>
              <a:rPr lang="en-IN" dirty="0"/>
              <a:t>Web crawling </a:t>
            </a:r>
            <a:br>
              <a:rPr lang="en-IN" dirty="0"/>
            </a:br>
            <a:endParaRPr lang="en-IN" dirty="0"/>
          </a:p>
        </p:txBody>
      </p:sp>
      <p:sp>
        <p:nvSpPr>
          <p:cNvPr id="3" name="Content Placeholder 2">
            <a:extLst>
              <a:ext uri="{FF2B5EF4-FFF2-40B4-BE49-F238E27FC236}">
                <a16:creationId xmlns:a16="http://schemas.microsoft.com/office/drawing/2014/main" id="{680B98E3-EC8E-F63F-CA5E-DA59E6C2BD2B}"/>
              </a:ext>
            </a:extLst>
          </p:cNvPr>
          <p:cNvSpPr>
            <a:spLocks noGrp="1"/>
          </p:cNvSpPr>
          <p:nvPr>
            <p:ph idx="1"/>
          </p:nvPr>
        </p:nvSpPr>
        <p:spPr/>
        <p:txBody>
          <a:bodyPr>
            <a:normAutofit fontScale="32500" lnSpcReduction="20000"/>
          </a:bodyPr>
          <a:lstStyle/>
          <a:p>
            <a:r>
              <a:rPr lang="en-IN" dirty="0"/>
              <a:t>Web crawling</a:t>
            </a:r>
          </a:p>
          <a:p>
            <a:r>
              <a:rPr lang="en-IN" b="0" dirty="0">
                <a:solidFill>
                  <a:srgbClr val="C586C0"/>
                </a:solidFill>
                <a:effectLst/>
                <a:highlight>
                  <a:srgbClr val="1F1F1F"/>
                </a:highlight>
                <a:latin typeface="Consolas" panose="020B0609020204030204" pitchFamily="49" charset="0"/>
              </a:rPr>
              <a:t>rom</a:t>
            </a:r>
            <a:r>
              <a:rPr lang="en-IN" b="0" dirty="0">
                <a:solidFill>
                  <a:srgbClr val="CCCCCC"/>
                </a:solidFill>
                <a:effectLst/>
                <a:highlight>
                  <a:srgbClr val="1F1F1F"/>
                </a:highlight>
                <a:latin typeface="Consolas" panose="020B0609020204030204" pitchFamily="49" charset="0"/>
              </a:rPr>
              <a:t> </a:t>
            </a:r>
            <a:r>
              <a:rPr lang="en-IN" b="0" dirty="0">
                <a:solidFill>
                  <a:srgbClr val="4EC9B0"/>
                </a:solidFill>
                <a:effectLst/>
                <a:highlight>
                  <a:srgbClr val="1F1F1F"/>
                </a:highlight>
                <a:latin typeface="Consolas" panose="020B0609020204030204" pitchFamily="49" charset="0"/>
              </a:rPr>
              <a:t>selenium</a:t>
            </a:r>
            <a:r>
              <a:rPr lang="en-IN" b="0" dirty="0">
                <a:solidFill>
                  <a:srgbClr val="CCCCCC"/>
                </a:solidFill>
                <a:effectLst/>
                <a:highlight>
                  <a:srgbClr val="1F1F1F"/>
                </a:highlight>
                <a:latin typeface="Consolas" panose="020B0609020204030204" pitchFamily="49" charset="0"/>
              </a:rPr>
              <a:t> </a:t>
            </a:r>
            <a:r>
              <a:rPr lang="en-IN" b="0" dirty="0">
                <a:solidFill>
                  <a:srgbClr val="C586C0"/>
                </a:solidFill>
                <a:effectLst/>
                <a:highlight>
                  <a:srgbClr val="1F1F1F"/>
                </a:highlight>
                <a:latin typeface="Consolas" panose="020B0609020204030204" pitchFamily="49" charset="0"/>
              </a:rPr>
              <a:t>import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webdriver</a:t>
            </a:r>
            <a:endParaRPr lang="en-IN" b="0" dirty="0">
              <a:solidFill>
                <a:srgbClr val="CCCCCC"/>
              </a:solidFill>
              <a:effectLst/>
              <a:highlight>
                <a:srgbClr val="1F1F1F"/>
              </a:highlight>
              <a:latin typeface="Consolas" panose="020B0609020204030204" pitchFamily="49" charset="0"/>
            </a:endParaRPr>
          </a:p>
          <a:p>
            <a:r>
              <a:rPr lang="en-IN" b="0" dirty="0" err="1">
                <a:solidFill>
                  <a:srgbClr val="9CDCFE"/>
                </a:solidFill>
                <a:effectLst/>
                <a:highlight>
                  <a:srgbClr val="1F1F1F"/>
                </a:highlight>
                <a:latin typeface="Consolas" panose="020B0609020204030204" pitchFamily="49" charset="0"/>
              </a:rPr>
              <a:t>chrome_options</a:t>
            </a:r>
            <a:r>
              <a:rPr lang="en-IN" b="0" dirty="0">
                <a:solidFill>
                  <a:srgbClr val="CCCCCC"/>
                </a:solidFill>
                <a:effectLst/>
                <a:highlight>
                  <a:srgbClr val="1F1F1F"/>
                </a:highlight>
                <a:latin typeface="Consolas" panose="020B0609020204030204" pitchFamily="49" charset="0"/>
              </a:rPr>
              <a:t> </a:t>
            </a:r>
            <a:r>
              <a:rPr lang="en-IN" b="0" dirty="0">
                <a:solidFill>
                  <a:srgbClr val="D4D4D4"/>
                </a:solidFill>
                <a:effectLst/>
                <a:highlight>
                  <a:srgbClr val="1F1F1F"/>
                </a:highlight>
                <a:latin typeface="Consolas" panose="020B0609020204030204" pitchFamily="49" charset="0"/>
              </a:rPr>
              <a: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ChromeOptions</a:t>
            </a:r>
            <a:r>
              <a:rPr lang="en-IN" b="0" dirty="0">
                <a:solidFill>
                  <a:srgbClr val="CCCCCC"/>
                </a:solidFill>
                <a:effectLst/>
                <a:highlight>
                  <a:srgbClr val="1F1F1F"/>
                </a:highlight>
                <a:latin typeface="Consolas" panose="020B0609020204030204" pitchFamily="49" charset="0"/>
              </a:rPr>
              <a:t>()</a:t>
            </a:r>
          </a:p>
          <a:p>
            <a:r>
              <a:rPr lang="en-IN" b="0" dirty="0" err="1">
                <a:solidFill>
                  <a:srgbClr val="9CDCFE"/>
                </a:solidFill>
                <a:effectLst/>
                <a:highlight>
                  <a:srgbClr val="1F1F1F"/>
                </a:highlight>
                <a:latin typeface="Consolas" panose="020B0609020204030204" pitchFamily="49" charset="0"/>
              </a:rPr>
              <a:t>chrome_options</a:t>
            </a:r>
            <a:r>
              <a:rPr lang="en-IN" b="0" dirty="0" err="1">
                <a:solidFill>
                  <a:srgbClr val="CCCCCC"/>
                </a:solidFill>
                <a:effectLst/>
                <a:highlight>
                  <a:srgbClr val="1F1F1F"/>
                </a:highlight>
                <a:latin typeface="Consolas" panose="020B0609020204030204" pitchFamily="49" charset="0"/>
              </a:rPr>
              <a:t>.</a:t>
            </a:r>
            <a:r>
              <a:rPr lang="en-IN" b="0" dirty="0" err="1">
                <a:solidFill>
                  <a:srgbClr val="DCDCAA"/>
                </a:solidFill>
                <a:effectLst/>
                <a:highlight>
                  <a:srgbClr val="1F1F1F"/>
                </a:highlight>
                <a:latin typeface="Consolas" panose="020B0609020204030204" pitchFamily="49" charset="0"/>
              </a:rPr>
              <a:t>add_argument</a:t>
            </a:r>
            <a:r>
              <a:rPr lang="en-IN" b="0" dirty="0">
                <a:solidFill>
                  <a:srgbClr val="CCCCCC"/>
                </a:solidFill>
                <a:effectLst/>
                <a:highlight>
                  <a:srgbClr val="1F1F1F"/>
                </a:highlight>
                <a:latin typeface="Consolas" panose="020B0609020204030204" pitchFamily="49" charset="0"/>
              </a:rPr>
              <a:t>(</a:t>
            </a:r>
            <a:r>
              <a:rPr lang="en-IN" b="0" dirty="0">
                <a:solidFill>
                  <a:srgbClr val="CE9178"/>
                </a:solidFill>
                <a:effectLst/>
                <a:highlight>
                  <a:srgbClr val="1F1F1F"/>
                </a:highlight>
                <a:latin typeface="Consolas" panose="020B0609020204030204" pitchFamily="49" charset="0"/>
              </a:rPr>
              <a:t>'--ignore-certificate-errors'</a:t>
            </a:r>
            <a:r>
              <a:rPr lang="en-IN" b="0" dirty="0">
                <a:solidFill>
                  <a:srgbClr val="CCCCCC"/>
                </a:solidFill>
                <a:effectLst/>
                <a:highlight>
                  <a:srgbClr val="1F1F1F"/>
                </a:highlight>
                <a:latin typeface="Consolas" panose="020B0609020204030204" pitchFamily="49" charset="0"/>
              </a:rPr>
              <a:t>)  </a:t>
            </a:r>
            <a:r>
              <a:rPr lang="en-IN" b="0" dirty="0">
                <a:solidFill>
                  <a:srgbClr val="6A9955"/>
                </a:solidFill>
                <a:effectLst/>
                <a:highlight>
                  <a:srgbClr val="1F1F1F"/>
                </a:highlight>
                <a:latin typeface="Consolas" panose="020B0609020204030204" pitchFamily="49" charset="0"/>
              </a:rPr>
              <a:t># Ignore SSL certificate errors</a:t>
            </a:r>
            <a:endParaRPr lang="en-IN" b="0" dirty="0">
              <a:solidFill>
                <a:srgbClr val="CCCCCC"/>
              </a:solidFill>
              <a:effectLst/>
              <a:highlight>
                <a:srgbClr val="1F1F1F"/>
              </a:highlight>
              <a:latin typeface="Consolas" panose="020B0609020204030204" pitchFamily="49" charset="0"/>
            </a:endParaRPr>
          </a:p>
          <a:p>
            <a:br>
              <a:rPr lang="en-IN" b="0" dirty="0">
                <a:solidFill>
                  <a:srgbClr val="CCCCCC"/>
                </a:solidFill>
                <a:effectLst/>
                <a:highlight>
                  <a:srgbClr val="1F1F1F"/>
                </a:highlight>
                <a:latin typeface="Consolas" panose="020B0609020204030204" pitchFamily="49" charset="0"/>
              </a:rPr>
            </a:br>
            <a:r>
              <a:rPr lang="en-IN" b="0" dirty="0">
                <a:solidFill>
                  <a:srgbClr val="6A9955"/>
                </a:solidFill>
                <a:effectLst/>
                <a:highlight>
                  <a:srgbClr val="1F1F1F"/>
                </a:highlight>
                <a:latin typeface="Consolas" panose="020B0609020204030204" pitchFamily="49" charset="0"/>
              </a:rPr>
              <a:t># Merge </a:t>
            </a:r>
            <a:r>
              <a:rPr lang="en-IN" b="0" dirty="0" err="1">
                <a:solidFill>
                  <a:srgbClr val="6A9955"/>
                </a:solidFill>
                <a:effectLst/>
                <a:highlight>
                  <a:srgbClr val="1F1F1F"/>
                </a:highlight>
                <a:latin typeface="Consolas" panose="020B0609020204030204" pitchFamily="49" charset="0"/>
              </a:rPr>
              <a:t>ChromeOptions</a:t>
            </a:r>
            <a:r>
              <a:rPr lang="en-IN" b="0" dirty="0">
                <a:solidFill>
                  <a:srgbClr val="6A9955"/>
                </a:solidFill>
                <a:effectLst/>
                <a:highlight>
                  <a:srgbClr val="1F1F1F"/>
                </a:highlight>
                <a:latin typeface="Consolas" panose="020B0609020204030204" pitchFamily="49" charset="0"/>
              </a:rPr>
              <a:t> with desired capabilities</a:t>
            </a:r>
            <a:endParaRPr lang="en-IN" b="0" dirty="0">
              <a:solidFill>
                <a:srgbClr val="CCCCCC"/>
              </a:solidFill>
              <a:effectLst/>
              <a:highlight>
                <a:srgbClr val="1F1F1F"/>
              </a:highlight>
              <a:latin typeface="Consolas" panose="020B0609020204030204" pitchFamily="49" charset="0"/>
            </a:endParaRPr>
          </a:p>
          <a:p>
            <a:r>
              <a:rPr lang="en-IN" b="0" dirty="0" err="1">
                <a:solidFill>
                  <a:srgbClr val="9CDCFE"/>
                </a:solidFill>
                <a:effectLst/>
                <a:highlight>
                  <a:srgbClr val="1F1F1F"/>
                </a:highlight>
                <a:latin typeface="Consolas" panose="020B0609020204030204" pitchFamily="49" charset="0"/>
              </a:rPr>
              <a:t>desired_capabilities</a:t>
            </a:r>
            <a:r>
              <a:rPr lang="en-IN" b="0" dirty="0">
                <a:solidFill>
                  <a:srgbClr val="CCCCCC"/>
                </a:solidFill>
                <a:effectLst/>
                <a:highlight>
                  <a:srgbClr val="1F1F1F"/>
                </a:highlight>
                <a:latin typeface="Consolas" panose="020B0609020204030204" pitchFamily="49" charset="0"/>
              </a:rPr>
              <a:t> </a:t>
            </a:r>
            <a:r>
              <a:rPr lang="en-IN" b="0" dirty="0">
                <a:solidFill>
                  <a:srgbClr val="D4D4D4"/>
                </a:solidFill>
                <a:effectLst/>
                <a:highlight>
                  <a:srgbClr val="1F1F1F"/>
                </a:highlight>
                <a:latin typeface="Consolas" panose="020B0609020204030204" pitchFamily="49" charset="0"/>
              </a:rPr>
              <a: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DesiredCapabilities</a:t>
            </a:r>
            <a:r>
              <a:rPr lang="en-IN" b="0" dirty="0" err="1">
                <a:solidFill>
                  <a:srgbClr val="CCCCCC"/>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CHROME</a:t>
            </a:r>
            <a:r>
              <a:rPr lang="en-IN" b="0" dirty="0" err="1">
                <a:solidFill>
                  <a:srgbClr val="CCCCCC"/>
                </a:solidFill>
                <a:effectLst/>
                <a:highlight>
                  <a:srgbClr val="1F1F1F"/>
                </a:highlight>
                <a:latin typeface="Consolas" panose="020B0609020204030204" pitchFamily="49" charset="0"/>
              </a:rPr>
              <a:t>.</a:t>
            </a:r>
            <a:r>
              <a:rPr lang="en-IN" b="0" dirty="0" err="1">
                <a:solidFill>
                  <a:srgbClr val="DCDCAA"/>
                </a:solidFill>
                <a:effectLst/>
                <a:highlight>
                  <a:srgbClr val="1F1F1F"/>
                </a:highlight>
                <a:latin typeface="Consolas" panose="020B0609020204030204" pitchFamily="49" charset="0"/>
              </a:rPr>
              <a:t>copy</a:t>
            </a:r>
            <a:r>
              <a:rPr lang="en-IN" b="0" dirty="0">
                <a:solidFill>
                  <a:srgbClr val="CCCCCC"/>
                </a:solidFill>
                <a:effectLst/>
                <a:highlight>
                  <a:srgbClr val="1F1F1F"/>
                </a:highlight>
                <a:latin typeface="Consolas" panose="020B0609020204030204" pitchFamily="49" charset="0"/>
              </a:rPr>
              <a:t>()</a:t>
            </a:r>
          </a:p>
          <a:p>
            <a:r>
              <a:rPr lang="en-IN" b="0" dirty="0" err="1">
                <a:solidFill>
                  <a:srgbClr val="9CDCFE"/>
                </a:solidFill>
                <a:effectLst/>
                <a:highlight>
                  <a:srgbClr val="1F1F1F"/>
                </a:highlight>
                <a:latin typeface="Consolas" panose="020B0609020204030204" pitchFamily="49" charset="0"/>
              </a:rPr>
              <a:t>desired_capabilities</a:t>
            </a:r>
            <a:r>
              <a:rPr lang="en-IN" b="0" dirty="0" err="1">
                <a:solidFill>
                  <a:srgbClr val="CCCCCC"/>
                </a:solidFill>
                <a:effectLst/>
                <a:highlight>
                  <a:srgbClr val="1F1F1F"/>
                </a:highlight>
                <a:latin typeface="Consolas" panose="020B0609020204030204" pitchFamily="49" charset="0"/>
              </a:rPr>
              <a:t>.</a:t>
            </a:r>
            <a:r>
              <a:rPr lang="en-IN" b="0" dirty="0" err="1">
                <a:solidFill>
                  <a:srgbClr val="DCDCAA"/>
                </a:solidFill>
                <a:effectLst/>
                <a:highlight>
                  <a:srgbClr val="1F1F1F"/>
                </a:highlight>
                <a:latin typeface="Consolas" panose="020B0609020204030204" pitchFamily="49" charset="0"/>
              </a:rPr>
              <a:t>update</a:t>
            </a:r>
            <a:r>
              <a:rPr lang="en-IN" b="0" dirty="0">
                <a:solidFill>
                  <a:srgbClr val="CCCCCC"/>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chrome_options</a:t>
            </a:r>
            <a:r>
              <a:rPr lang="en-IN" b="0" dirty="0" err="1">
                <a:solidFill>
                  <a:srgbClr val="CCCCCC"/>
                </a:solidFill>
                <a:effectLst/>
                <a:highlight>
                  <a:srgbClr val="1F1F1F"/>
                </a:highlight>
                <a:latin typeface="Consolas" panose="020B0609020204030204" pitchFamily="49" charset="0"/>
              </a:rPr>
              <a:t>.</a:t>
            </a:r>
            <a:r>
              <a:rPr lang="en-IN" b="0" dirty="0" err="1">
                <a:solidFill>
                  <a:srgbClr val="DCDCAA"/>
                </a:solidFill>
                <a:effectLst/>
                <a:highlight>
                  <a:srgbClr val="1F1F1F"/>
                </a:highlight>
                <a:latin typeface="Consolas" panose="020B0609020204030204" pitchFamily="49" charset="0"/>
              </a:rPr>
              <a:t>to_capabilities</a:t>
            </a:r>
            <a:r>
              <a:rPr lang="en-IN" b="0" dirty="0">
                <a:solidFill>
                  <a:srgbClr val="CCCCCC"/>
                </a:solidFill>
                <a:effectLst/>
                <a:highlight>
                  <a:srgbClr val="1F1F1F"/>
                </a:highlight>
                <a:latin typeface="Consolas" panose="020B0609020204030204" pitchFamily="49" charset="0"/>
              </a:rPr>
              <a:t>())</a:t>
            </a:r>
          </a:p>
          <a:p>
            <a:br>
              <a:rPr lang="en-IN" b="0" dirty="0">
                <a:solidFill>
                  <a:srgbClr val="CCCCCC"/>
                </a:solidFill>
                <a:effectLst/>
                <a:highlight>
                  <a:srgbClr val="1F1F1F"/>
                </a:highlight>
                <a:latin typeface="Consolas" panose="020B0609020204030204" pitchFamily="49" charset="0"/>
              </a:rPr>
            </a:br>
            <a:r>
              <a:rPr lang="en-IN" b="0" dirty="0">
                <a:solidFill>
                  <a:srgbClr val="6A9955"/>
                </a:solidFill>
                <a:effectLst/>
                <a:highlight>
                  <a:srgbClr val="1F1F1F"/>
                </a:highlight>
                <a:latin typeface="Consolas" panose="020B0609020204030204" pitchFamily="49" charset="0"/>
              </a:rPr>
              <a:t># Initialize Chrome WebDriver with desired capabilities</a:t>
            </a:r>
            <a:endParaRPr lang="en-IN" b="0" dirty="0">
              <a:solidFill>
                <a:srgbClr val="CCCCCC"/>
              </a:solidFill>
              <a:effectLst/>
              <a:highlight>
                <a:srgbClr val="1F1F1F"/>
              </a:highlight>
              <a:latin typeface="Consolas" panose="020B0609020204030204" pitchFamily="49" charset="0"/>
            </a:endParaRPr>
          </a:p>
          <a:p>
            <a:r>
              <a:rPr lang="en-IN" b="0" dirty="0">
                <a:solidFill>
                  <a:srgbClr val="9CDCFE"/>
                </a:solidFill>
                <a:effectLst/>
                <a:highlight>
                  <a:srgbClr val="1F1F1F"/>
                </a:highlight>
                <a:latin typeface="Consolas" panose="020B0609020204030204" pitchFamily="49" charset="0"/>
              </a:rPr>
              <a:t>driver</a:t>
            </a:r>
            <a:r>
              <a:rPr lang="en-IN" b="0" dirty="0">
                <a:solidFill>
                  <a:srgbClr val="CCCCCC"/>
                </a:solidFill>
                <a:effectLst/>
                <a:highlight>
                  <a:srgbClr val="1F1F1F"/>
                </a:highlight>
                <a:latin typeface="Consolas" panose="020B0609020204030204" pitchFamily="49" charset="0"/>
              </a:rPr>
              <a:t> </a:t>
            </a:r>
            <a:r>
              <a:rPr lang="en-IN" b="0" dirty="0">
                <a:solidFill>
                  <a:srgbClr val="D4D4D4"/>
                </a:solidFill>
                <a:effectLst/>
                <a:highlight>
                  <a:srgbClr val="1F1F1F"/>
                </a:highlight>
                <a:latin typeface="Consolas" panose="020B0609020204030204" pitchFamily="49" charset="0"/>
              </a:rPr>
              <a: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webdriver</a:t>
            </a:r>
            <a:r>
              <a:rPr lang="en-IN" b="0" dirty="0" err="1">
                <a:solidFill>
                  <a:srgbClr val="CCCCCC"/>
                </a:solidFill>
                <a:effectLst/>
                <a:highlight>
                  <a:srgbClr val="1F1F1F"/>
                </a:highlight>
                <a:latin typeface="Consolas" panose="020B0609020204030204" pitchFamily="49" charset="0"/>
              </a:rPr>
              <a:t>.</a:t>
            </a:r>
            <a:r>
              <a:rPr lang="en-IN" b="0" dirty="0" err="1">
                <a:solidFill>
                  <a:srgbClr val="4EC9B0"/>
                </a:solidFill>
                <a:effectLst/>
                <a:highlight>
                  <a:srgbClr val="1F1F1F"/>
                </a:highlight>
                <a:latin typeface="Consolas" panose="020B0609020204030204" pitchFamily="49" charset="0"/>
              </a:rPr>
              <a:t>Chrome</a:t>
            </a:r>
            <a:r>
              <a:rPr lang="en-IN" b="0" dirty="0">
                <a:solidFill>
                  <a:srgbClr val="CCCCCC"/>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desired_capabilities</a:t>
            </a:r>
            <a:r>
              <a:rPr lang="en-IN" b="0" dirty="0">
                <a:solidFill>
                  <a:srgbClr val="D4D4D4"/>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desired_capabilities</a:t>
            </a:r>
            <a:r>
              <a:rPr lang="en-IN" b="0" dirty="0">
                <a:solidFill>
                  <a:srgbClr val="CCCCCC"/>
                </a:solidFill>
                <a:effectLst/>
                <a:highlight>
                  <a:srgbClr val="1F1F1F"/>
                </a:highlight>
                <a:latin typeface="Consolas" panose="020B0609020204030204" pitchFamily="49" charset="0"/>
              </a:rPr>
              <a:t>)</a:t>
            </a:r>
          </a:p>
          <a:p>
            <a:br>
              <a:rPr lang="en-IN" b="0" dirty="0">
                <a:solidFill>
                  <a:srgbClr val="CCCCCC"/>
                </a:solidFill>
                <a:effectLst/>
                <a:highlight>
                  <a:srgbClr val="1F1F1F"/>
                </a:highlight>
                <a:latin typeface="Consolas" panose="020B0609020204030204" pitchFamily="49" charset="0"/>
              </a:rPr>
            </a:br>
            <a:r>
              <a:rPr lang="en-IN" b="0" dirty="0">
                <a:solidFill>
                  <a:srgbClr val="9CDCFE"/>
                </a:solidFill>
                <a:effectLst/>
                <a:highlight>
                  <a:srgbClr val="1F1F1F"/>
                </a:highlight>
                <a:latin typeface="Consolas" panose="020B0609020204030204" pitchFamily="49" charset="0"/>
              </a:rPr>
              <a:t>browser</a:t>
            </a:r>
            <a:r>
              <a:rPr lang="en-IN" b="0" dirty="0">
                <a:solidFill>
                  <a:srgbClr val="CCCCCC"/>
                </a:solidFill>
                <a:effectLst/>
                <a:highlight>
                  <a:srgbClr val="1F1F1F"/>
                </a:highlight>
                <a:latin typeface="Consolas" panose="020B0609020204030204" pitchFamily="49" charset="0"/>
              </a:rPr>
              <a:t> </a:t>
            </a:r>
            <a:r>
              <a:rPr lang="en-IN" b="0" dirty="0">
                <a:solidFill>
                  <a:srgbClr val="D4D4D4"/>
                </a:solidFill>
                <a:effectLst/>
                <a:highlight>
                  <a:srgbClr val="1F1F1F"/>
                </a:highlight>
                <a:latin typeface="Consolas" panose="020B0609020204030204" pitchFamily="49" charset="0"/>
              </a:rPr>
              <a: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webdriver</a:t>
            </a:r>
            <a:r>
              <a:rPr lang="en-IN" b="0" dirty="0" err="1">
                <a:solidFill>
                  <a:srgbClr val="CCCCCC"/>
                </a:solidFill>
                <a:effectLst/>
                <a:highlight>
                  <a:srgbClr val="1F1F1F"/>
                </a:highlight>
                <a:latin typeface="Consolas" panose="020B0609020204030204" pitchFamily="49" charset="0"/>
              </a:rPr>
              <a:t>.</a:t>
            </a:r>
            <a:r>
              <a:rPr lang="en-IN" b="0" dirty="0" err="1">
                <a:solidFill>
                  <a:srgbClr val="4EC9B0"/>
                </a:solidFill>
                <a:effectLst/>
                <a:highlight>
                  <a:srgbClr val="1F1F1F"/>
                </a:highlight>
                <a:latin typeface="Consolas" panose="020B0609020204030204" pitchFamily="49" charset="0"/>
              </a:rPr>
              <a:t>Chrome</a:t>
            </a:r>
            <a:r>
              <a:rPr lang="en-IN" b="0" dirty="0">
                <a:solidFill>
                  <a:srgbClr val="CCCCCC"/>
                </a:solidFill>
                <a:effectLst/>
                <a:highlight>
                  <a:srgbClr val="1F1F1F"/>
                </a:highlight>
                <a:latin typeface="Consolas" panose="020B0609020204030204" pitchFamily="49" charset="0"/>
              </a:rPr>
              <a:t>()</a:t>
            </a:r>
          </a:p>
          <a:p>
            <a:r>
              <a:rPr lang="en-IN" b="0" dirty="0">
                <a:solidFill>
                  <a:srgbClr val="9CDCFE"/>
                </a:solidFill>
                <a:effectLst/>
                <a:highlight>
                  <a:srgbClr val="1F1F1F"/>
                </a:highlight>
                <a:latin typeface="Consolas" panose="020B0609020204030204" pitchFamily="49" charset="0"/>
              </a:rPr>
              <a:t>river</a:t>
            </a:r>
            <a:r>
              <a:rPr lang="en-IN" b="0" dirty="0">
                <a:solidFill>
                  <a:srgbClr val="CCCCCC"/>
                </a:solidFill>
                <a:effectLst/>
                <a:highlight>
                  <a:srgbClr val="1F1F1F"/>
                </a:highlight>
                <a:latin typeface="Consolas" panose="020B0609020204030204" pitchFamily="49" charset="0"/>
              </a:rPr>
              <a:t> </a:t>
            </a:r>
            <a:r>
              <a:rPr lang="en-IN" b="0" dirty="0">
                <a:solidFill>
                  <a:srgbClr val="D4D4D4"/>
                </a:solidFill>
                <a:effectLst/>
                <a:highlight>
                  <a:srgbClr val="1F1F1F"/>
                </a:highlight>
                <a:latin typeface="Consolas" panose="020B0609020204030204" pitchFamily="49" charset="0"/>
              </a:rPr>
              <a:t>=</a:t>
            </a:r>
            <a:r>
              <a:rPr lang="en-IN" b="0" dirty="0">
                <a:solidFill>
                  <a:srgbClr val="CCCCCC"/>
                </a:solidFill>
                <a:effectLst/>
                <a:highlight>
                  <a:srgbClr val="1F1F1F"/>
                </a:highlight>
                <a:latin typeface="Consolas" panose="020B0609020204030204" pitchFamily="49" charset="0"/>
              </a:rPr>
              <a:t> </a:t>
            </a:r>
            <a:r>
              <a:rPr lang="en-IN" b="0" dirty="0" err="1">
                <a:solidFill>
                  <a:srgbClr val="4EC9B0"/>
                </a:solidFill>
                <a:effectLst/>
                <a:highlight>
                  <a:srgbClr val="1F1F1F"/>
                </a:highlight>
                <a:latin typeface="Consolas" panose="020B0609020204030204" pitchFamily="49" charset="0"/>
              </a:rPr>
              <a:t>webdriver</a:t>
            </a:r>
            <a:r>
              <a:rPr lang="en-IN" b="0" dirty="0" err="1">
                <a:solidFill>
                  <a:srgbClr val="CCCCCC"/>
                </a:solidFill>
                <a:effectLst/>
                <a:highlight>
                  <a:srgbClr val="1F1F1F"/>
                </a:highlight>
                <a:latin typeface="Consolas" panose="020B0609020204030204" pitchFamily="49" charset="0"/>
              </a:rPr>
              <a:t>.</a:t>
            </a:r>
            <a:r>
              <a:rPr lang="en-IN" b="0" dirty="0" err="1">
                <a:solidFill>
                  <a:srgbClr val="4EC9B0"/>
                </a:solidFill>
                <a:effectLst/>
                <a:highlight>
                  <a:srgbClr val="1F1F1F"/>
                </a:highlight>
                <a:latin typeface="Consolas" panose="020B0609020204030204" pitchFamily="49" charset="0"/>
              </a:rPr>
              <a:t>Chrome</a:t>
            </a:r>
            <a:r>
              <a:rPr lang="en-IN" b="0" dirty="0">
                <a:solidFill>
                  <a:srgbClr val="CCCCCC"/>
                </a:solidFill>
                <a:effectLst/>
                <a:highlight>
                  <a:srgbClr val="1F1F1F"/>
                </a:highlight>
                <a:latin typeface="Consolas" panose="020B0609020204030204" pitchFamily="49" charset="0"/>
              </a:rPr>
              <a:t>(</a:t>
            </a:r>
            <a:r>
              <a:rPr lang="en-IN" b="0" dirty="0">
                <a:solidFill>
                  <a:srgbClr val="9CDCFE"/>
                </a:solidFill>
                <a:effectLst/>
                <a:highlight>
                  <a:srgbClr val="1F1F1F"/>
                </a:highlight>
                <a:latin typeface="Consolas" panose="020B0609020204030204" pitchFamily="49" charset="0"/>
              </a:rPr>
              <a:t>options</a:t>
            </a:r>
            <a:r>
              <a:rPr lang="en-IN" b="0" dirty="0">
                <a:solidFill>
                  <a:srgbClr val="D4D4D4"/>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chrome_options</a:t>
            </a:r>
            <a:r>
              <a:rPr lang="en-IN" b="0" dirty="0">
                <a:solidFill>
                  <a:srgbClr val="CCCCCC"/>
                </a:solidFill>
                <a:effectLst/>
                <a:highlight>
                  <a:srgbClr val="1F1F1F"/>
                </a:highlight>
                <a:latin typeface="Consolas" panose="020B0609020204030204" pitchFamily="49" charset="0"/>
              </a:rPr>
              <a:t>)</a:t>
            </a:r>
          </a:p>
          <a:p>
            <a:r>
              <a:rPr lang="en-US" b="0" dirty="0" err="1">
                <a:solidFill>
                  <a:srgbClr val="9CDCFE"/>
                </a:solidFill>
                <a:effectLst/>
                <a:highlight>
                  <a:srgbClr val="1F1F1F"/>
                </a:highlight>
                <a:latin typeface="Consolas" panose="020B0609020204030204" pitchFamily="49" charset="0"/>
              </a:rPr>
              <a:t>browser</a:t>
            </a:r>
            <a:r>
              <a:rPr lang="en-US" b="0" dirty="0" err="1">
                <a:solidFill>
                  <a:srgbClr val="CCCCCC"/>
                </a:solidFill>
                <a:effectLst/>
                <a:highlight>
                  <a:srgbClr val="1F1F1F"/>
                </a:highlight>
                <a:latin typeface="Consolas" panose="020B0609020204030204" pitchFamily="49" charset="0"/>
              </a:rPr>
              <a:t>.</a:t>
            </a:r>
            <a:r>
              <a:rPr lang="en-US" b="0" dirty="0" err="1">
                <a:solidFill>
                  <a:srgbClr val="DCDCAA"/>
                </a:solidFill>
                <a:effectLst/>
                <a:highlight>
                  <a:srgbClr val="1F1F1F"/>
                </a:highlight>
                <a:latin typeface="Consolas" panose="020B0609020204030204" pitchFamily="49" charset="0"/>
              </a:rPr>
              <a:t>get</a:t>
            </a:r>
            <a:r>
              <a:rPr lang="en-US" b="0" dirty="0">
                <a:solidFill>
                  <a:srgbClr val="CCCCCC"/>
                </a:solidFill>
                <a:effectLst/>
                <a:highlight>
                  <a:srgbClr val="1F1F1F"/>
                </a:highlight>
                <a:latin typeface="Consolas" panose="020B0609020204030204" pitchFamily="49" charset="0"/>
              </a:rPr>
              <a:t>(</a:t>
            </a:r>
            <a:r>
              <a:rPr lang="en-US" b="0" dirty="0" err="1">
                <a:solidFill>
                  <a:srgbClr val="9CDCFE"/>
                </a:solidFill>
                <a:effectLst/>
                <a:highlight>
                  <a:srgbClr val="1F1F1F"/>
                </a:highlight>
                <a:latin typeface="Consolas" panose="020B0609020204030204" pitchFamily="49" charset="0"/>
              </a:rPr>
              <a:t>line</a:t>
            </a:r>
            <a:r>
              <a:rPr lang="en-US" b="0" dirty="0" err="1">
                <a:solidFill>
                  <a:srgbClr val="CCCCCC"/>
                </a:solidFill>
                <a:effectLst/>
                <a:highlight>
                  <a:srgbClr val="1F1F1F"/>
                </a:highlight>
                <a:latin typeface="Consolas" panose="020B0609020204030204" pitchFamily="49" charset="0"/>
              </a:rPr>
              <a:t>.</a:t>
            </a:r>
            <a:r>
              <a:rPr lang="en-US" b="0" dirty="0" err="1">
                <a:solidFill>
                  <a:srgbClr val="DCDCAA"/>
                </a:solidFill>
                <a:effectLst/>
                <a:highlight>
                  <a:srgbClr val="1F1F1F"/>
                </a:highlight>
                <a:latin typeface="Consolas" panose="020B0609020204030204" pitchFamily="49" charset="0"/>
              </a:rPr>
              <a:t>replace</a:t>
            </a:r>
            <a:r>
              <a:rPr lang="en-US" b="0" dirty="0">
                <a:solidFill>
                  <a:srgbClr val="CCCCCC"/>
                </a:solidFill>
                <a:effectLst/>
                <a:highlight>
                  <a:srgbClr val="1F1F1F"/>
                </a:highlight>
                <a:latin typeface="Consolas" panose="020B0609020204030204" pitchFamily="49" charset="0"/>
              </a:rPr>
              <a:t>(</a:t>
            </a:r>
            <a:r>
              <a:rPr lang="en-US" b="0" dirty="0">
                <a:solidFill>
                  <a:srgbClr val="CE9178"/>
                </a:solidFill>
                <a:effectLst/>
                <a:highlight>
                  <a:srgbClr val="1F1F1F"/>
                </a:highlight>
                <a:latin typeface="Consolas" panose="020B0609020204030204" pitchFamily="49" charset="0"/>
              </a:rPr>
              <a:t>"</a:t>
            </a:r>
            <a:r>
              <a:rPr lang="en-US" b="0" dirty="0">
                <a:solidFill>
                  <a:srgbClr val="D7BA7D"/>
                </a:solidFill>
                <a:effectLst/>
                <a:highlight>
                  <a:srgbClr val="1F1F1F"/>
                </a:highlight>
                <a:latin typeface="Consolas" panose="020B0609020204030204" pitchFamily="49" charset="0"/>
              </a:rPr>
              <a:t>\n</a:t>
            </a:r>
            <a:r>
              <a:rPr lang="en-US" b="0" dirty="0">
                <a:solidFill>
                  <a:srgbClr val="CE9178"/>
                </a:solidFill>
                <a:effectLst/>
                <a:highlight>
                  <a:srgbClr val="1F1F1F"/>
                </a:highlight>
                <a:latin typeface="Consolas" panose="020B0609020204030204" pitchFamily="49" charset="0"/>
              </a:rPr>
              <a:t>"</a:t>
            </a:r>
            <a:r>
              <a:rPr lang="en-US" b="0" dirty="0">
                <a:solidFill>
                  <a:srgbClr val="CCCCCC"/>
                </a:solidFill>
                <a:effectLst/>
                <a:highlight>
                  <a:srgbClr val="1F1F1F"/>
                </a:highlight>
                <a:latin typeface="Consolas" panose="020B0609020204030204" pitchFamily="49" charset="0"/>
              </a:rPr>
              <a:t>,</a:t>
            </a:r>
            <a:r>
              <a:rPr lang="en-US" b="0" dirty="0">
                <a:solidFill>
                  <a:srgbClr val="CE9178"/>
                </a:solidFill>
                <a:effectLst/>
                <a:highlight>
                  <a:srgbClr val="1F1F1F"/>
                </a:highlight>
                <a:latin typeface="Consolas" panose="020B0609020204030204" pitchFamily="49" charset="0"/>
              </a:rPr>
              <a:t>""</a:t>
            </a:r>
            <a:r>
              <a:rPr lang="en-US" b="0" dirty="0">
                <a:solidFill>
                  <a:srgbClr val="CCCCCC"/>
                </a:solidFill>
                <a:effectLst/>
                <a:highlight>
                  <a:srgbClr val="1F1F1F"/>
                </a:highlight>
                <a:latin typeface="Consolas" panose="020B0609020204030204" pitchFamily="49" charset="0"/>
              </a:rPr>
              <a:t>))</a:t>
            </a:r>
          </a:p>
          <a:p>
            <a:r>
              <a:rPr lang="fr-FR" b="0" dirty="0" err="1">
                <a:solidFill>
                  <a:srgbClr val="9CDCFE"/>
                </a:solidFill>
                <a:effectLst/>
                <a:highlight>
                  <a:srgbClr val="1F1F1F"/>
                </a:highlight>
                <a:latin typeface="Consolas" panose="020B0609020204030204" pitchFamily="49" charset="0"/>
              </a:rPr>
              <a:t>html_source</a:t>
            </a:r>
            <a:r>
              <a:rPr lang="fr-FR" b="0" dirty="0">
                <a:solidFill>
                  <a:srgbClr val="CCCCCC"/>
                </a:solidFill>
                <a:effectLst/>
                <a:highlight>
                  <a:srgbClr val="1F1F1F"/>
                </a:highlight>
                <a:latin typeface="Consolas" panose="020B0609020204030204" pitchFamily="49" charset="0"/>
              </a:rPr>
              <a:t> </a:t>
            </a:r>
            <a:r>
              <a:rPr lang="fr-FR" b="0" dirty="0">
                <a:solidFill>
                  <a:srgbClr val="D4D4D4"/>
                </a:solidFill>
                <a:effectLst/>
                <a:highlight>
                  <a:srgbClr val="1F1F1F"/>
                </a:highlight>
                <a:latin typeface="Consolas" panose="020B0609020204030204" pitchFamily="49" charset="0"/>
              </a:rPr>
              <a:t>=</a:t>
            </a:r>
            <a:r>
              <a:rPr lang="fr-FR" b="0" dirty="0">
                <a:solidFill>
                  <a:srgbClr val="CCCCCC"/>
                </a:solidFill>
                <a:effectLst/>
                <a:highlight>
                  <a:srgbClr val="1F1F1F"/>
                </a:highlight>
                <a:latin typeface="Consolas" panose="020B0609020204030204" pitchFamily="49" charset="0"/>
              </a:rPr>
              <a:t> </a:t>
            </a:r>
            <a:r>
              <a:rPr lang="fr-FR" b="0" dirty="0" err="1">
                <a:solidFill>
                  <a:srgbClr val="9CDCFE"/>
                </a:solidFill>
                <a:effectLst/>
                <a:highlight>
                  <a:srgbClr val="1F1F1F"/>
                </a:highlight>
                <a:latin typeface="Consolas" panose="020B0609020204030204" pitchFamily="49" charset="0"/>
              </a:rPr>
              <a:t>browser</a:t>
            </a:r>
            <a:r>
              <a:rPr lang="fr-FR" b="0" dirty="0" err="1">
                <a:solidFill>
                  <a:srgbClr val="CCCCCC"/>
                </a:solidFill>
                <a:effectLst/>
                <a:highlight>
                  <a:srgbClr val="1F1F1F"/>
                </a:highlight>
                <a:latin typeface="Consolas" panose="020B0609020204030204" pitchFamily="49" charset="0"/>
              </a:rPr>
              <a:t>.</a:t>
            </a:r>
            <a:r>
              <a:rPr lang="fr-FR" b="0" dirty="0" err="1">
                <a:solidFill>
                  <a:srgbClr val="9CDCFE"/>
                </a:solidFill>
                <a:effectLst/>
                <a:highlight>
                  <a:srgbClr val="1F1F1F"/>
                </a:highlight>
                <a:latin typeface="Consolas" panose="020B0609020204030204" pitchFamily="49" charset="0"/>
              </a:rPr>
              <a:t>page_source</a:t>
            </a:r>
            <a:endParaRPr lang="fr-FR" b="0" dirty="0">
              <a:solidFill>
                <a:srgbClr val="CCCCCC"/>
              </a:solidFill>
              <a:effectLst/>
              <a:highlight>
                <a:srgbClr val="1F1F1F"/>
              </a:highlight>
              <a:latin typeface="Consolas" panose="020B0609020204030204" pitchFamily="49" charset="0"/>
            </a:endParaRPr>
          </a:p>
          <a:p>
            <a:r>
              <a:rPr lang="fr-FR" b="0" dirty="0" err="1">
                <a:solidFill>
                  <a:srgbClr val="9CDCFE"/>
                </a:solidFill>
                <a:effectLst/>
                <a:highlight>
                  <a:srgbClr val="1F1F1F"/>
                </a:highlight>
                <a:latin typeface="Consolas" panose="020B0609020204030204" pitchFamily="49" charset="0"/>
              </a:rPr>
              <a:t>html_source</a:t>
            </a:r>
            <a:r>
              <a:rPr lang="fr-FR" b="0" dirty="0">
                <a:solidFill>
                  <a:srgbClr val="CCCCCC"/>
                </a:solidFill>
                <a:effectLst/>
                <a:highlight>
                  <a:srgbClr val="1F1F1F"/>
                </a:highlight>
                <a:latin typeface="Consolas" panose="020B0609020204030204" pitchFamily="49" charset="0"/>
              </a:rPr>
              <a:t> </a:t>
            </a:r>
            <a:r>
              <a:rPr lang="fr-FR" b="0" dirty="0">
                <a:solidFill>
                  <a:srgbClr val="D4D4D4"/>
                </a:solidFill>
                <a:effectLst/>
                <a:highlight>
                  <a:srgbClr val="1F1F1F"/>
                </a:highlight>
                <a:latin typeface="Consolas" panose="020B0609020204030204" pitchFamily="49" charset="0"/>
              </a:rPr>
              <a:t>=</a:t>
            </a:r>
            <a:r>
              <a:rPr lang="fr-FR" b="0" dirty="0">
                <a:solidFill>
                  <a:srgbClr val="CCCCCC"/>
                </a:solidFill>
                <a:effectLst/>
                <a:highlight>
                  <a:srgbClr val="1F1F1F"/>
                </a:highlight>
                <a:latin typeface="Consolas" panose="020B0609020204030204" pitchFamily="49" charset="0"/>
              </a:rPr>
              <a:t> </a:t>
            </a:r>
            <a:r>
              <a:rPr lang="fr-FR" b="0" dirty="0" err="1">
                <a:solidFill>
                  <a:srgbClr val="9CDCFE"/>
                </a:solidFill>
                <a:effectLst/>
                <a:highlight>
                  <a:srgbClr val="1F1F1F"/>
                </a:highlight>
                <a:latin typeface="Consolas" panose="020B0609020204030204" pitchFamily="49" charset="0"/>
              </a:rPr>
              <a:t>browser</a:t>
            </a:r>
            <a:r>
              <a:rPr lang="fr-FR" b="0" dirty="0" err="1">
                <a:solidFill>
                  <a:srgbClr val="CCCCCC"/>
                </a:solidFill>
                <a:effectLst/>
                <a:highlight>
                  <a:srgbClr val="1F1F1F"/>
                </a:highlight>
                <a:latin typeface="Consolas" panose="020B0609020204030204" pitchFamily="49" charset="0"/>
              </a:rPr>
              <a:t>.</a:t>
            </a:r>
            <a:r>
              <a:rPr lang="fr-FR" b="0" dirty="0" err="1">
                <a:solidFill>
                  <a:srgbClr val="9CDCFE"/>
                </a:solidFill>
                <a:effectLst/>
                <a:highlight>
                  <a:srgbClr val="1F1F1F"/>
                </a:highlight>
                <a:latin typeface="Consolas" panose="020B0609020204030204" pitchFamily="49" charset="0"/>
              </a:rPr>
              <a:t>page_source</a:t>
            </a:r>
            <a:endParaRPr lang="fr-FR" b="0" dirty="0">
              <a:solidFill>
                <a:srgbClr val="CCCCCC"/>
              </a:solidFill>
              <a:effectLst/>
              <a:highlight>
                <a:srgbClr val="1F1F1F"/>
              </a:highlight>
              <a:latin typeface="Consolas" panose="020B0609020204030204" pitchFamily="49" charset="0"/>
            </a:endParaRPr>
          </a:p>
          <a:p>
            <a:r>
              <a:rPr lang="en-IN" b="0" dirty="0">
                <a:solidFill>
                  <a:srgbClr val="CCCCCC"/>
                </a:solidFill>
                <a:effectLst/>
                <a:highlight>
                  <a:srgbClr val="1F1F1F"/>
                </a:highlight>
                <a:latin typeface="Consolas" panose="020B0609020204030204" pitchFamily="49" charset="0"/>
              </a:rPr>
              <a:t>\</a:t>
            </a:r>
          </a:p>
          <a:p>
            <a:endParaRPr lang="en-IN" b="0" dirty="0">
              <a:solidFill>
                <a:srgbClr val="CCCCCC"/>
              </a:solidFill>
              <a:effectLst/>
              <a:highlight>
                <a:srgbClr val="1F1F1F"/>
              </a:highlight>
              <a:latin typeface="Consolas" panose="020B0609020204030204" pitchFamily="49" charset="0"/>
            </a:endParaRPr>
          </a:p>
          <a:p>
            <a:br>
              <a:rPr lang="en-IN" b="0" dirty="0">
                <a:solidFill>
                  <a:srgbClr val="CCCCCC"/>
                </a:solidFill>
                <a:effectLst/>
                <a:highlight>
                  <a:srgbClr val="1F1F1F"/>
                </a:highlight>
                <a:latin typeface="Consolas" panose="020B0609020204030204" pitchFamily="49" charset="0"/>
              </a:rPr>
            </a:br>
            <a:endParaRPr lang="en-IN" b="0" dirty="0">
              <a:solidFill>
                <a:srgbClr val="CCCCCC"/>
              </a:solidFill>
              <a:effectLst/>
              <a:highlight>
                <a:srgbClr val="1F1F1F"/>
              </a:highlight>
              <a:latin typeface="Consolas" panose="020B0609020204030204" pitchFamily="49" charset="0"/>
            </a:endParaRPr>
          </a:p>
          <a:p>
            <a:pPr lvl="1"/>
            <a:r>
              <a:rPr lang="en-IN" dirty="0"/>
              <a:t> </a:t>
            </a:r>
          </a:p>
          <a:p>
            <a:pPr lvl="1"/>
            <a:endParaRPr lang="en-IN" dirty="0"/>
          </a:p>
        </p:txBody>
      </p:sp>
      <p:graphicFrame>
        <p:nvGraphicFramePr>
          <p:cNvPr id="4" name="Object 3">
            <a:extLst>
              <a:ext uri="{FF2B5EF4-FFF2-40B4-BE49-F238E27FC236}">
                <a16:creationId xmlns:a16="http://schemas.microsoft.com/office/drawing/2014/main" id="{78931A2C-5E72-A9C4-FB64-8E409011FA13}"/>
              </a:ext>
            </a:extLst>
          </p:cNvPr>
          <p:cNvGraphicFramePr>
            <a:graphicFrameLocks noChangeAspect="1"/>
          </p:cNvGraphicFramePr>
          <p:nvPr>
            <p:extLst>
              <p:ext uri="{D42A27DB-BD31-4B8C-83A1-F6EECF244321}">
                <p14:modId xmlns:p14="http://schemas.microsoft.com/office/powerpoint/2010/main" val="175902573"/>
              </p:ext>
            </p:extLst>
          </p:nvPr>
        </p:nvGraphicFramePr>
        <p:xfrm>
          <a:off x="6886779" y="5047738"/>
          <a:ext cx="854075" cy="517525"/>
        </p:xfrm>
        <a:graphic>
          <a:graphicData uri="http://schemas.openxmlformats.org/presentationml/2006/ole">
            <mc:AlternateContent xmlns:mc="http://schemas.openxmlformats.org/markup-compatibility/2006">
              <mc:Choice xmlns:v="urn:schemas-microsoft-com:vml" Requires="v">
                <p:oleObj name="Packager Shell Object" showAsIcon="1" r:id="rId2" imgW="853582" imgH="518081" progId="Package">
                  <p:embed/>
                </p:oleObj>
              </mc:Choice>
              <mc:Fallback>
                <p:oleObj name="Packager Shell Object" showAsIcon="1" r:id="rId2" imgW="853582" imgH="518081" progId="Package">
                  <p:embed/>
                  <p:pic>
                    <p:nvPicPr>
                      <p:cNvPr id="0" name=""/>
                      <p:cNvPicPr/>
                      <p:nvPr/>
                    </p:nvPicPr>
                    <p:blipFill>
                      <a:blip r:embed="rId3"/>
                      <a:stretch>
                        <a:fillRect/>
                      </a:stretch>
                    </p:blipFill>
                    <p:spPr>
                      <a:xfrm>
                        <a:off x="6886779" y="5047738"/>
                        <a:ext cx="854075" cy="517525"/>
                      </a:xfrm>
                      <a:prstGeom prst="rect">
                        <a:avLst/>
                      </a:prstGeom>
                    </p:spPr>
                  </p:pic>
                </p:oleObj>
              </mc:Fallback>
            </mc:AlternateContent>
          </a:graphicData>
        </a:graphic>
      </p:graphicFrame>
    </p:spTree>
    <p:extLst>
      <p:ext uri="{BB962C8B-B14F-4D97-AF65-F5344CB8AC3E}">
        <p14:creationId xmlns:p14="http://schemas.microsoft.com/office/powerpoint/2010/main" val="324310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58931-24CD-B26A-B063-1EA969651735}"/>
              </a:ext>
            </a:extLst>
          </p:cNvPr>
          <p:cNvSpPr>
            <a:spLocks noGrp="1"/>
          </p:cNvSpPr>
          <p:nvPr>
            <p:ph type="title"/>
          </p:nvPr>
        </p:nvSpPr>
        <p:spPr/>
        <p:txBody>
          <a:bodyPr/>
          <a:lstStyle/>
          <a:p>
            <a:r>
              <a:rPr lang="en-IN" dirty="0"/>
              <a:t>Computer vision</a:t>
            </a:r>
            <a:br>
              <a:rPr lang="en-IN" dirty="0"/>
            </a:br>
            <a:endParaRPr lang="en-IN" dirty="0"/>
          </a:p>
        </p:txBody>
      </p:sp>
      <p:sp>
        <p:nvSpPr>
          <p:cNvPr id="3" name="Content Placeholder 2">
            <a:extLst>
              <a:ext uri="{FF2B5EF4-FFF2-40B4-BE49-F238E27FC236}">
                <a16:creationId xmlns:a16="http://schemas.microsoft.com/office/drawing/2014/main" id="{74869D12-9F29-9A4A-D097-53A361C60683}"/>
              </a:ext>
            </a:extLst>
          </p:cNvPr>
          <p:cNvSpPr>
            <a:spLocks noGrp="1"/>
          </p:cNvSpPr>
          <p:nvPr>
            <p:ph idx="1"/>
          </p:nvPr>
        </p:nvSpPr>
        <p:spPr/>
        <p:txBody>
          <a:bodyPr/>
          <a:lstStyle/>
          <a:p>
            <a:r>
              <a:rPr lang="en-IN" dirty="0"/>
              <a:t>Face recognition  using computer vision</a:t>
            </a:r>
          </a:p>
        </p:txBody>
      </p:sp>
      <p:pic>
        <p:nvPicPr>
          <p:cNvPr id="1026" name="Picture 2" descr="face recognition output">
            <a:extLst>
              <a:ext uri="{FF2B5EF4-FFF2-40B4-BE49-F238E27FC236}">
                <a16:creationId xmlns:a16="http://schemas.microsoft.com/office/drawing/2014/main" id="{53862041-F239-89CF-B629-63AF18451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5617" y="2729706"/>
            <a:ext cx="1800225"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767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C359-FFF5-7CEA-EB65-A2DC93454938}"/>
              </a:ext>
            </a:extLst>
          </p:cNvPr>
          <p:cNvSpPr>
            <a:spLocks noGrp="1"/>
          </p:cNvSpPr>
          <p:nvPr>
            <p:ph type="title"/>
          </p:nvPr>
        </p:nvSpPr>
        <p:spPr/>
        <p:txBody>
          <a:bodyPr/>
          <a:lstStyle/>
          <a:p>
            <a:r>
              <a:rPr lang="en-IN" dirty="0"/>
              <a:t>Machine Learning Overview </a:t>
            </a:r>
          </a:p>
        </p:txBody>
      </p:sp>
      <p:pic>
        <p:nvPicPr>
          <p:cNvPr id="10" name="Picture 9">
            <a:extLst>
              <a:ext uri="{FF2B5EF4-FFF2-40B4-BE49-F238E27FC236}">
                <a16:creationId xmlns:a16="http://schemas.microsoft.com/office/drawing/2014/main" id="{5F665FE8-0326-EC4D-855F-058D9D054A4E}"/>
              </a:ext>
            </a:extLst>
          </p:cNvPr>
          <p:cNvPicPr>
            <a:picLocks noChangeAspect="1"/>
          </p:cNvPicPr>
          <p:nvPr/>
        </p:nvPicPr>
        <p:blipFill>
          <a:blip r:embed="rId2"/>
          <a:stretch>
            <a:fillRect/>
          </a:stretch>
        </p:blipFill>
        <p:spPr>
          <a:xfrm>
            <a:off x="1035726" y="1183012"/>
            <a:ext cx="9392961" cy="4844161"/>
          </a:xfrm>
          <a:prstGeom prst="rect">
            <a:avLst/>
          </a:prstGeom>
        </p:spPr>
      </p:pic>
    </p:spTree>
    <p:extLst>
      <p:ext uri="{BB962C8B-B14F-4D97-AF65-F5344CB8AC3E}">
        <p14:creationId xmlns:p14="http://schemas.microsoft.com/office/powerpoint/2010/main" val="3218114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6036-6245-9042-4D23-D397517182D1}"/>
              </a:ext>
            </a:extLst>
          </p:cNvPr>
          <p:cNvSpPr>
            <a:spLocks noGrp="1"/>
          </p:cNvSpPr>
          <p:nvPr>
            <p:ph type="title"/>
          </p:nvPr>
        </p:nvSpPr>
        <p:spPr/>
        <p:txBody>
          <a:bodyPr/>
          <a:lstStyle/>
          <a:p>
            <a:r>
              <a:rPr lang="en-IN" dirty="0"/>
              <a:t>Machine learning </a:t>
            </a:r>
            <a:r>
              <a:rPr lang="en-IN" dirty="0" err="1"/>
              <a:t>libaries</a:t>
            </a:r>
            <a:endParaRPr lang="en-IN" dirty="0"/>
          </a:p>
        </p:txBody>
      </p:sp>
      <p:sp>
        <p:nvSpPr>
          <p:cNvPr id="3" name="Content Placeholder 2">
            <a:extLst>
              <a:ext uri="{FF2B5EF4-FFF2-40B4-BE49-F238E27FC236}">
                <a16:creationId xmlns:a16="http://schemas.microsoft.com/office/drawing/2014/main" id="{BE14C2A1-69EB-BEC7-57BD-5883A81ADC97}"/>
              </a:ext>
            </a:extLst>
          </p:cNvPr>
          <p:cNvSpPr>
            <a:spLocks noGrp="1"/>
          </p:cNvSpPr>
          <p:nvPr>
            <p:ph idx="1"/>
          </p:nvPr>
        </p:nvSpPr>
        <p:spPr/>
        <p:txBody>
          <a:bodyPr>
            <a:normAutofit fontScale="70000" lnSpcReduction="20000"/>
          </a:bodyPr>
          <a:lstStyle/>
          <a:p>
            <a:r>
              <a:rPr lang="en-US" sz="1900" kern="100" dirty="0">
                <a:latin typeface="Courier New" panose="02070309020205020404" pitchFamily="49" charset="0"/>
                <a:ea typeface="Calibri" panose="020F0502020204030204" pitchFamily="34" charset="0"/>
                <a:cs typeface="Times New Roman" panose="02020603050405020304" pitchFamily="18" charset="0"/>
              </a:rPr>
              <a:t>SciPy:</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SciPy is a Python library that builds on NumPy and provides a wide range of scientific computing functions, including signal processing, image processing, optimization, and statistics. SciPy is a valuable library for machine learning practitioners, as it provides many of the tools needed to prepare and process data for machine learning models.</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Scikit-learn:</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Scikit-learn is a Python library that provides a wide range of machine learning algorithms, including classification, regression, clustering, and dimensionality reduction. Scikit-learn is a popular library for machine learning beginners, as it provides a user-friendly interface and a well-documented API.</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TensorFlow:</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TensorFlow is a Python library developed by Google for numerical computation using data flow graphs. TensorFlow is a popular library for deep learning, as it provides a flexible and powerful framework for building and training deep neural networks.</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PyTorch:</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PyTorch is a Python library developed by Facebook for deep learning. PyTorch is a popular library for deep learning research, as it provides a dynamic and flexible programming environment for developing and experimenting with deep neural networks.</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Keras:</a:t>
            </a:r>
          </a:p>
          <a:p>
            <a:r>
              <a:rPr lang="en-US" sz="1900" kern="100" dirty="0">
                <a:latin typeface="Courier New" panose="02070309020205020404" pitchFamily="49" charset="0"/>
                <a:ea typeface="Calibri" panose="020F0502020204030204" pitchFamily="34" charset="0"/>
                <a:cs typeface="Times New Roman" panose="02020603050405020304" pitchFamily="18" charset="0"/>
              </a:rPr>
              <a:t>Keras is a Python library that provides a high-level API for building and training deep learning models. Keras is a popular library for deep learning beginners, as it provides a user-friendly interface and makes it easy to experiment with different deep learning architectures.</a:t>
            </a:r>
          </a:p>
          <a:p>
            <a:endParaRPr lang="en-IN" sz="1900" kern="100" dirty="0">
              <a:latin typeface="Courier New" panose="02070309020205020404" pitchFamily="49"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94816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E040-6F71-5109-2E95-6CE73BC3EC3A}"/>
              </a:ext>
            </a:extLst>
          </p:cNvPr>
          <p:cNvSpPr>
            <a:spLocks noGrp="1"/>
          </p:cNvSpPr>
          <p:nvPr>
            <p:ph type="title"/>
          </p:nvPr>
        </p:nvSpPr>
        <p:spPr/>
        <p:txBody>
          <a:bodyPr/>
          <a:lstStyle/>
          <a:p>
            <a:r>
              <a:rPr lang="en-IN" dirty="0"/>
              <a:t>Pandas library</a:t>
            </a:r>
          </a:p>
        </p:txBody>
      </p:sp>
      <p:pic>
        <p:nvPicPr>
          <p:cNvPr id="3074" name="Picture 2" descr="Python Pandas Tutorial - Learn Pandas For Data Science in 7 Mins - DataFlair">
            <a:extLst>
              <a:ext uri="{FF2B5EF4-FFF2-40B4-BE49-F238E27FC236}">
                <a16:creationId xmlns:a16="http://schemas.microsoft.com/office/drawing/2014/main" id="{3316302E-59BD-F51A-87D8-A628C49664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5413" y="1786553"/>
            <a:ext cx="4809511" cy="32631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5 Easy Ways of Customizing Pandas Plots and Charts | by Alan Jones |  Towards Data Science">
            <a:extLst>
              <a:ext uri="{FF2B5EF4-FFF2-40B4-BE49-F238E27FC236}">
                <a16:creationId xmlns:a16="http://schemas.microsoft.com/office/drawing/2014/main" id="{C30F3771-8DBD-57CB-846A-4AFAEB3AE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2073" y="138983"/>
            <a:ext cx="8010525"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629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E0737-5125-31D0-38C6-489AB3472A04}"/>
              </a:ext>
            </a:extLst>
          </p:cNvPr>
          <p:cNvSpPr>
            <a:spLocks noGrp="1"/>
          </p:cNvSpPr>
          <p:nvPr>
            <p:ph type="title"/>
          </p:nvPr>
        </p:nvSpPr>
        <p:spPr/>
        <p:txBody>
          <a:bodyPr/>
          <a:lstStyle/>
          <a:p>
            <a:r>
              <a:rPr lang="en-IN" dirty="0"/>
              <a:t>A.I and GPT</a:t>
            </a:r>
          </a:p>
        </p:txBody>
      </p:sp>
      <p:pic>
        <p:nvPicPr>
          <p:cNvPr id="4098" name="Picture 2" descr="Artificial intelligence AI overview">
            <a:extLst>
              <a:ext uri="{FF2B5EF4-FFF2-40B4-BE49-F238E27FC236}">
                <a16:creationId xmlns:a16="http://schemas.microsoft.com/office/drawing/2014/main" id="{721B6AA0-9219-07E1-0B53-FC95CE9049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00814"/>
            <a:ext cx="9397181" cy="5295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2453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DE43A-D6A6-28A4-10D1-A994CDB641FA}"/>
              </a:ext>
            </a:extLst>
          </p:cNvPr>
          <p:cNvSpPr>
            <a:spLocks noGrp="1"/>
          </p:cNvSpPr>
          <p:nvPr>
            <p:ph type="title"/>
          </p:nvPr>
        </p:nvSpPr>
        <p:spPr/>
        <p:txBody>
          <a:bodyPr/>
          <a:lstStyle/>
          <a:p>
            <a:r>
              <a:rPr lang="en-IN" dirty="0"/>
              <a:t>Python data types</a:t>
            </a:r>
          </a:p>
        </p:txBody>
      </p:sp>
      <p:graphicFrame>
        <p:nvGraphicFramePr>
          <p:cNvPr id="4" name="Content Placeholder 3">
            <a:extLst>
              <a:ext uri="{FF2B5EF4-FFF2-40B4-BE49-F238E27FC236}">
                <a16:creationId xmlns:a16="http://schemas.microsoft.com/office/drawing/2014/main" id="{E233BD0C-EE46-CD72-9AC7-981008433B35}"/>
              </a:ext>
            </a:extLst>
          </p:cNvPr>
          <p:cNvGraphicFramePr>
            <a:graphicFrameLocks noGrp="1"/>
          </p:cNvGraphicFramePr>
          <p:nvPr>
            <p:ph idx="1"/>
            <p:extLst>
              <p:ext uri="{D42A27DB-BD31-4B8C-83A1-F6EECF244321}">
                <p14:modId xmlns:p14="http://schemas.microsoft.com/office/powerpoint/2010/main" val="1072686070"/>
              </p:ext>
            </p:extLst>
          </p:nvPr>
        </p:nvGraphicFramePr>
        <p:xfrm>
          <a:off x="1202150" y="1465555"/>
          <a:ext cx="7565608" cy="2377440"/>
        </p:xfrm>
        <a:graphic>
          <a:graphicData uri="http://schemas.openxmlformats.org/drawingml/2006/table">
            <a:tbl>
              <a:tblPr/>
              <a:tblGrid>
                <a:gridCol w="3782804">
                  <a:extLst>
                    <a:ext uri="{9D8B030D-6E8A-4147-A177-3AD203B41FA5}">
                      <a16:colId xmlns:a16="http://schemas.microsoft.com/office/drawing/2014/main" val="114435144"/>
                    </a:ext>
                  </a:extLst>
                </a:gridCol>
                <a:gridCol w="3782804">
                  <a:extLst>
                    <a:ext uri="{9D8B030D-6E8A-4147-A177-3AD203B41FA5}">
                      <a16:colId xmlns:a16="http://schemas.microsoft.com/office/drawing/2014/main" val="989910298"/>
                    </a:ext>
                  </a:extLst>
                </a:gridCol>
              </a:tblGrid>
              <a:tr h="0">
                <a:tc>
                  <a:txBody>
                    <a:bodyPr/>
                    <a:lstStyle/>
                    <a:p>
                      <a:pPr algn="l" fontAlgn="t"/>
                      <a:r>
                        <a:rPr lang="en-IN">
                          <a:effectLst/>
                        </a:rPr>
                        <a:t>Numeric Types:</a:t>
                      </a:r>
                    </a:p>
                  </a:txBody>
                  <a:tcPr marL="121920" marR="60960" marT="60960" marB="60960">
                    <a:lnL>
                      <a:noFill/>
                    </a:lnL>
                    <a:lnR>
                      <a:noFill/>
                    </a:lnR>
                    <a:lnT>
                      <a:noFill/>
                    </a:lnT>
                    <a:lnB>
                      <a:noFill/>
                    </a:lnB>
                    <a:solidFill>
                      <a:srgbClr val="FFFFFF"/>
                    </a:solidFill>
                  </a:tcPr>
                </a:tc>
                <a:tc>
                  <a:txBody>
                    <a:bodyPr/>
                    <a:lstStyle/>
                    <a:p>
                      <a:pPr algn="l" fontAlgn="t"/>
                      <a:r>
                        <a:rPr lang="en-IN" dirty="0">
                          <a:effectLst/>
                        </a:rPr>
                        <a:t>int, float, complex</a:t>
                      </a: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2752928655"/>
                  </a:ext>
                </a:extLst>
              </a:tr>
              <a:tr h="0">
                <a:tc>
                  <a:txBody>
                    <a:bodyPr/>
                    <a:lstStyle/>
                    <a:p>
                      <a:pPr algn="l" fontAlgn="t"/>
                      <a:r>
                        <a:rPr lang="en-IN">
                          <a:effectLst/>
                        </a:rPr>
                        <a:t>Sequence Types:</a:t>
                      </a:r>
                    </a:p>
                  </a:txBody>
                  <a:tcPr marL="121920" marR="60960" marT="60960" marB="60960">
                    <a:lnL>
                      <a:noFill/>
                    </a:lnL>
                    <a:lnR>
                      <a:noFill/>
                    </a:lnR>
                    <a:lnT>
                      <a:noFill/>
                    </a:lnT>
                    <a:lnB>
                      <a:noFill/>
                    </a:lnB>
                    <a:solidFill>
                      <a:srgbClr val="FFFFFF"/>
                    </a:solidFill>
                  </a:tcPr>
                </a:tc>
                <a:tc>
                  <a:txBody>
                    <a:bodyPr/>
                    <a:lstStyle/>
                    <a:p>
                      <a:pPr algn="l" fontAlgn="t"/>
                      <a:r>
                        <a:rPr lang="en-IN">
                          <a:effectLst/>
                        </a:rPr>
                        <a:t>list, tuple, range</a:t>
                      </a: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345437424"/>
                  </a:ext>
                </a:extLst>
              </a:tr>
              <a:tr h="0">
                <a:tc>
                  <a:txBody>
                    <a:bodyPr/>
                    <a:lstStyle/>
                    <a:p>
                      <a:pPr algn="l" fontAlgn="t"/>
                      <a:r>
                        <a:rPr lang="en-IN">
                          <a:effectLst/>
                        </a:rPr>
                        <a:t>Mapping Type:</a:t>
                      </a:r>
                    </a:p>
                  </a:txBody>
                  <a:tcPr marL="121920" marR="60960" marT="60960" marB="60960">
                    <a:lnL>
                      <a:noFill/>
                    </a:lnL>
                    <a:lnR>
                      <a:noFill/>
                    </a:lnR>
                    <a:lnT>
                      <a:noFill/>
                    </a:lnT>
                    <a:lnB>
                      <a:noFill/>
                    </a:lnB>
                    <a:solidFill>
                      <a:srgbClr val="FFFFFF"/>
                    </a:solidFill>
                  </a:tcPr>
                </a:tc>
                <a:tc>
                  <a:txBody>
                    <a:bodyPr/>
                    <a:lstStyle/>
                    <a:p>
                      <a:pPr algn="l" fontAlgn="t"/>
                      <a:r>
                        <a:rPr lang="en-IN">
                          <a:effectLst/>
                        </a:rPr>
                        <a:t>dict</a:t>
                      </a: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497640042"/>
                  </a:ext>
                </a:extLst>
              </a:tr>
              <a:tr h="0">
                <a:tc>
                  <a:txBody>
                    <a:bodyPr/>
                    <a:lstStyle/>
                    <a:p>
                      <a:pPr algn="l" fontAlgn="t"/>
                      <a:r>
                        <a:rPr lang="en-IN">
                          <a:effectLst/>
                        </a:rPr>
                        <a:t>Set Types:</a:t>
                      </a:r>
                    </a:p>
                  </a:txBody>
                  <a:tcPr marL="121920" marR="60960" marT="60960" marB="60960">
                    <a:lnL>
                      <a:noFill/>
                    </a:lnL>
                    <a:lnR>
                      <a:noFill/>
                    </a:lnR>
                    <a:lnT>
                      <a:noFill/>
                    </a:lnT>
                    <a:lnB>
                      <a:noFill/>
                    </a:lnB>
                    <a:solidFill>
                      <a:srgbClr val="FFFFFF"/>
                    </a:solidFill>
                  </a:tcPr>
                </a:tc>
                <a:tc>
                  <a:txBody>
                    <a:bodyPr/>
                    <a:lstStyle/>
                    <a:p>
                      <a:pPr algn="l" fontAlgn="t"/>
                      <a:r>
                        <a:rPr lang="en-IN">
                          <a:effectLst/>
                        </a:rPr>
                        <a:t>set, frozenset</a:t>
                      </a: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1129119965"/>
                  </a:ext>
                </a:extLst>
              </a:tr>
              <a:tr h="0">
                <a:tc>
                  <a:txBody>
                    <a:bodyPr/>
                    <a:lstStyle/>
                    <a:p>
                      <a:pPr algn="l" fontAlgn="t"/>
                      <a:r>
                        <a:rPr lang="en-IN">
                          <a:effectLst/>
                        </a:rPr>
                        <a:t>Boolean Type:</a:t>
                      </a:r>
                    </a:p>
                  </a:txBody>
                  <a:tcPr marL="121920" marR="60960" marT="60960" marB="60960">
                    <a:lnL>
                      <a:noFill/>
                    </a:lnL>
                    <a:lnR>
                      <a:noFill/>
                    </a:lnR>
                    <a:lnT>
                      <a:noFill/>
                    </a:lnT>
                    <a:lnB>
                      <a:noFill/>
                    </a:lnB>
                    <a:solidFill>
                      <a:srgbClr val="FFFFFF"/>
                    </a:solidFill>
                  </a:tcPr>
                </a:tc>
                <a:tc>
                  <a:txBody>
                    <a:bodyPr/>
                    <a:lstStyle/>
                    <a:p>
                      <a:pPr algn="l" fontAlgn="t"/>
                      <a:r>
                        <a:rPr lang="en-IN">
                          <a:effectLst/>
                        </a:rPr>
                        <a:t>bool</a:t>
                      </a: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1227341602"/>
                  </a:ext>
                </a:extLst>
              </a:tr>
              <a:tr h="0">
                <a:tc>
                  <a:txBody>
                    <a:bodyPr/>
                    <a:lstStyle/>
                    <a:p>
                      <a:pPr algn="l" fontAlgn="t"/>
                      <a:r>
                        <a:rPr lang="en-IN" dirty="0">
                          <a:effectLst/>
                        </a:rPr>
                        <a:t>Binary Types:</a:t>
                      </a:r>
                    </a:p>
                  </a:txBody>
                  <a:tcPr marL="121920" marR="60960" marT="60960" marB="60960">
                    <a:lnL>
                      <a:noFill/>
                    </a:lnL>
                    <a:lnR>
                      <a:noFill/>
                    </a:lnR>
                    <a:lnT>
                      <a:noFill/>
                    </a:lnT>
                    <a:lnB>
                      <a:noFill/>
                    </a:lnB>
                    <a:solidFill>
                      <a:srgbClr val="FFFFFF"/>
                    </a:solidFill>
                  </a:tcPr>
                </a:tc>
                <a:tc>
                  <a:txBody>
                    <a:bodyPr/>
                    <a:lstStyle/>
                    <a:p>
                      <a:pPr algn="l" fontAlgn="t"/>
                      <a:r>
                        <a:rPr lang="en-IN" dirty="0">
                          <a:effectLst/>
                        </a:rPr>
                        <a:t>bytes, </a:t>
                      </a:r>
                      <a:r>
                        <a:rPr lang="en-IN" dirty="0" err="1">
                          <a:effectLst/>
                        </a:rPr>
                        <a:t>bytearray</a:t>
                      </a:r>
                      <a:r>
                        <a:rPr lang="en-IN" dirty="0">
                          <a:effectLst/>
                        </a:rPr>
                        <a:t>, </a:t>
                      </a:r>
                      <a:r>
                        <a:rPr lang="en-IN" dirty="0" err="1">
                          <a:effectLst/>
                        </a:rPr>
                        <a:t>memoryview</a:t>
                      </a:r>
                      <a:endParaRPr lang="en-IN" dirty="0">
                        <a:effectLst/>
                      </a:endParaRPr>
                    </a:p>
                  </a:txBody>
                  <a:tcPr marL="60960" marR="60960" marT="60960" marB="60960">
                    <a:lnL>
                      <a:noFill/>
                    </a:lnL>
                    <a:lnR>
                      <a:noFill/>
                    </a:lnR>
                    <a:lnT>
                      <a:noFill/>
                    </a:lnT>
                    <a:lnB>
                      <a:noFill/>
                    </a:lnB>
                    <a:solidFill>
                      <a:srgbClr val="FFFFFF"/>
                    </a:solidFill>
                  </a:tcPr>
                </a:tc>
                <a:extLst>
                  <a:ext uri="{0D108BD9-81ED-4DB2-BD59-A6C34878D82A}">
                    <a16:rowId xmlns:a16="http://schemas.microsoft.com/office/drawing/2014/main" val="3668516152"/>
                  </a:ext>
                </a:extLst>
              </a:tr>
            </a:tbl>
          </a:graphicData>
        </a:graphic>
      </p:graphicFrame>
      <p:sp>
        <p:nvSpPr>
          <p:cNvPr id="6" name="TextBox 5">
            <a:extLst>
              <a:ext uri="{FF2B5EF4-FFF2-40B4-BE49-F238E27FC236}">
                <a16:creationId xmlns:a16="http://schemas.microsoft.com/office/drawing/2014/main" id="{FF03C47C-0065-7848-4955-99AF93DA0A51}"/>
              </a:ext>
            </a:extLst>
          </p:cNvPr>
          <p:cNvSpPr txBox="1"/>
          <p:nvPr/>
        </p:nvSpPr>
        <p:spPr>
          <a:xfrm>
            <a:off x="1202150" y="4366822"/>
            <a:ext cx="6096000" cy="1754326"/>
          </a:xfrm>
          <a:prstGeom prst="rect">
            <a:avLst/>
          </a:prstGeom>
          <a:noFill/>
        </p:spPr>
        <p:txBody>
          <a:bodyPr wrap="square">
            <a:spAutoFit/>
          </a:bodyPr>
          <a:lstStyle/>
          <a:p>
            <a:r>
              <a:rPr lang="nb-NO" b="0" i="0" dirty="0">
                <a:solidFill>
                  <a:srgbClr val="000000"/>
                </a:solidFill>
                <a:effectLst/>
                <a:highlight>
                  <a:srgbClr val="FFFFFF"/>
                </a:highlight>
                <a:latin typeface="Consolas" panose="020B0609020204030204" pitchFamily="49" charset="0"/>
              </a:rPr>
              <a:t>x = </a:t>
            </a:r>
            <a:r>
              <a:rPr lang="nb-NO" b="0" i="0" dirty="0">
                <a:solidFill>
                  <a:srgbClr val="FF0000"/>
                </a:solidFill>
                <a:effectLst/>
                <a:highlight>
                  <a:srgbClr val="FFFFFF"/>
                </a:highlight>
                <a:latin typeface="Consolas" panose="020B0609020204030204" pitchFamily="49" charset="0"/>
              </a:rPr>
              <a:t>5</a:t>
            </a:r>
            <a:br>
              <a:rPr lang="nb-NO" dirty="0"/>
            </a:br>
            <a:r>
              <a:rPr lang="nb-NO" b="0" i="0" dirty="0">
                <a:solidFill>
                  <a:srgbClr val="0000CD"/>
                </a:solidFill>
                <a:effectLst/>
                <a:highlight>
                  <a:srgbClr val="FFFFFF"/>
                </a:highlight>
                <a:latin typeface="Consolas" panose="020B0609020204030204" pitchFamily="49" charset="0"/>
              </a:rPr>
              <a:t>print</a:t>
            </a:r>
            <a:r>
              <a:rPr lang="nb-NO" b="0" i="0" dirty="0">
                <a:solidFill>
                  <a:srgbClr val="000000"/>
                </a:solidFill>
                <a:effectLst/>
                <a:highlight>
                  <a:srgbClr val="FFFFFF"/>
                </a:highlight>
                <a:latin typeface="Consolas" panose="020B0609020204030204" pitchFamily="49" charset="0"/>
              </a:rPr>
              <a:t>(</a:t>
            </a:r>
            <a:r>
              <a:rPr lang="nb-NO" b="0" i="0" dirty="0">
                <a:solidFill>
                  <a:srgbClr val="0000CD"/>
                </a:solidFill>
                <a:effectLst/>
                <a:highlight>
                  <a:srgbClr val="FFFFFF"/>
                </a:highlight>
                <a:latin typeface="Consolas" panose="020B0609020204030204" pitchFamily="49" charset="0"/>
              </a:rPr>
              <a:t>type</a:t>
            </a:r>
            <a:r>
              <a:rPr lang="nb-NO" b="0" i="0" dirty="0">
                <a:solidFill>
                  <a:srgbClr val="000000"/>
                </a:solidFill>
                <a:effectLst/>
                <a:highlight>
                  <a:srgbClr val="FFFFFF"/>
                </a:highlight>
                <a:latin typeface="Consolas" panose="020B0609020204030204" pitchFamily="49" charset="0"/>
              </a:rPr>
              <a:t>(x))</a:t>
            </a:r>
          </a:p>
          <a:p>
            <a:r>
              <a:rPr lang="nb-NO" dirty="0">
                <a:solidFill>
                  <a:srgbClr val="000000"/>
                </a:solidFill>
                <a:highlight>
                  <a:srgbClr val="FFFFFF"/>
                </a:highlight>
                <a:latin typeface="Consolas" panose="020B0609020204030204" pitchFamily="49" charset="0"/>
              </a:rPr>
              <a:t>Varaibles names should be taken care we cannot have variable names as list/set etc. If we declare list as variable name we cannot use the list as datatype</a:t>
            </a:r>
            <a:endParaRPr lang="en-IN" dirty="0"/>
          </a:p>
        </p:txBody>
      </p:sp>
      <p:sp>
        <p:nvSpPr>
          <p:cNvPr id="8" name="TextBox 7">
            <a:extLst>
              <a:ext uri="{FF2B5EF4-FFF2-40B4-BE49-F238E27FC236}">
                <a16:creationId xmlns:a16="http://schemas.microsoft.com/office/drawing/2014/main" id="{FD1BE43D-1DBC-F5ED-6E53-6901A08E2FB7}"/>
              </a:ext>
            </a:extLst>
          </p:cNvPr>
          <p:cNvSpPr txBox="1"/>
          <p:nvPr/>
        </p:nvSpPr>
        <p:spPr>
          <a:xfrm>
            <a:off x="8868697" y="1327355"/>
            <a:ext cx="2849053" cy="646331"/>
          </a:xfrm>
          <a:prstGeom prst="rect">
            <a:avLst/>
          </a:prstGeom>
          <a:noFill/>
        </p:spPr>
        <p:txBody>
          <a:bodyPr wrap="square" rtlCol="0">
            <a:spAutoFit/>
          </a:bodyPr>
          <a:lstStyle/>
          <a:p>
            <a:r>
              <a:rPr lang="en-IN" dirty="0"/>
              <a:t>Show some examples of datatype</a:t>
            </a:r>
          </a:p>
        </p:txBody>
      </p:sp>
    </p:spTree>
    <p:extLst>
      <p:ext uri="{BB962C8B-B14F-4D97-AF65-F5344CB8AC3E}">
        <p14:creationId xmlns:p14="http://schemas.microsoft.com/office/powerpoint/2010/main" val="1625707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75E57B-A053-9480-A761-68BA7368463F}"/>
              </a:ext>
            </a:extLst>
          </p:cNvPr>
          <p:cNvPicPr>
            <a:picLocks noChangeAspect="1"/>
          </p:cNvPicPr>
          <p:nvPr/>
        </p:nvPicPr>
        <p:blipFill>
          <a:blip r:embed="rId2"/>
          <a:stretch>
            <a:fillRect/>
          </a:stretch>
        </p:blipFill>
        <p:spPr>
          <a:xfrm>
            <a:off x="629896" y="526920"/>
            <a:ext cx="10755226" cy="4801270"/>
          </a:xfrm>
          <a:prstGeom prst="rect">
            <a:avLst/>
          </a:prstGeom>
        </p:spPr>
      </p:pic>
    </p:spTree>
    <p:extLst>
      <p:ext uri="{BB962C8B-B14F-4D97-AF65-F5344CB8AC3E}">
        <p14:creationId xmlns:p14="http://schemas.microsoft.com/office/powerpoint/2010/main" val="18350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74585-D05F-E907-65EA-124E88464E4B}"/>
              </a:ext>
            </a:extLst>
          </p:cNvPr>
          <p:cNvSpPr>
            <a:spLocks noGrp="1"/>
          </p:cNvSpPr>
          <p:nvPr>
            <p:ph type="title"/>
          </p:nvPr>
        </p:nvSpPr>
        <p:spPr/>
        <p:txBody>
          <a:bodyPr/>
          <a:lstStyle/>
          <a:p>
            <a:r>
              <a:rPr lang="en-IN" dirty="0"/>
              <a:t>Data types</a:t>
            </a:r>
          </a:p>
        </p:txBody>
      </p:sp>
      <p:pic>
        <p:nvPicPr>
          <p:cNvPr id="5" name="Content Placeholder 4">
            <a:extLst>
              <a:ext uri="{FF2B5EF4-FFF2-40B4-BE49-F238E27FC236}">
                <a16:creationId xmlns:a16="http://schemas.microsoft.com/office/drawing/2014/main" id="{7ED9A452-67FB-EB52-DADC-EDB0157782DB}"/>
              </a:ext>
            </a:extLst>
          </p:cNvPr>
          <p:cNvPicPr>
            <a:picLocks noGrp="1" noChangeAspect="1"/>
          </p:cNvPicPr>
          <p:nvPr>
            <p:ph idx="1"/>
          </p:nvPr>
        </p:nvPicPr>
        <p:blipFill>
          <a:blip r:embed="rId2"/>
          <a:stretch>
            <a:fillRect/>
          </a:stretch>
        </p:blipFill>
        <p:spPr>
          <a:xfrm>
            <a:off x="1032162" y="1825625"/>
            <a:ext cx="10127675" cy="4351338"/>
          </a:xfrm>
        </p:spPr>
      </p:pic>
    </p:spTree>
    <p:extLst>
      <p:ext uri="{BB962C8B-B14F-4D97-AF65-F5344CB8AC3E}">
        <p14:creationId xmlns:p14="http://schemas.microsoft.com/office/powerpoint/2010/main" val="4106129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F7C6F-A518-2EDA-0311-4CD56157FBAB}"/>
              </a:ext>
            </a:extLst>
          </p:cNvPr>
          <p:cNvSpPr>
            <a:spLocks noGrp="1"/>
          </p:cNvSpPr>
          <p:nvPr>
            <p:ph type="title"/>
          </p:nvPr>
        </p:nvSpPr>
        <p:spPr/>
        <p:txBody>
          <a:bodyPr/>
          <a:lstStyle/>
          <a:p>
            <a:r>
              <a:rPr lang="en-IN" dirty="0"/>
              <a:t>Mutable/Immutable datatype</a:t>
            </a:r>
          </a:p>
        </p:txBody>
      </p:sp>
      <p:sp>
        <p:nvSpPr>
          <p:cNvPr id="3" name="Content Placeholder 2">
            <a:extLst>
              <a:ext uri="{FF2B5EF4-FFF2-40B4-BE49-F238E27FC236}">
                <a16:creationId xmlns:a16="http://schemas.microsoft.com/office/drawing/2014/main" id="{A8FF8CC4-845A-C763-2FC9-182A011ED179}"/>
              </a:ext>
            </a:extLst>
          </p:cNvPr>
          <p:cNvSpPr>
            <a:spLocks noGrp="1"/>
          </p:cNvSpPr>
          <p:nvPr>
            <p:ph idx="1"/>
          </p:nvPr>
        </p:nvSpPr>
        <p:spPr>
          <a:xfrm>
            <a:off x="582562" y="1687513"/>
            <a:ext cx="10515600" cy="4351338"/>
          </a:xfrm>
        </p:spPr>
        <p:txBody>
          <a:bodyPr>
            <a:normAutofit lnSpcReduction="10000"/>
          </a:bodyPr>
          <a:lstStyle/>
          <a:p>
            <a:pPr algn="l"/>
            <a:r>
              <a:rPr lang="en-US" b="0" i="0" dirty="0">
                <a:solidFill>
                  <a:schemeClr val="bg1"/>
                </a:solidFill>
                <a:effectLst/>
                <a:latin typeface="Google Sans"/>
              </a:rPr>
              <a:t>In Python, data types are categorized as mutable and immutable </a:t>
            </a:r>
            <a:r>
              <a:rPr lang="en-US" b="0" i="0" dirty="0">
                <a:effectLst/>
                <a:latin typeface="Google Sans"/>
              </a:rPr>
              <a:t>based on whether their values can be changed after creation.</a:t>
            </a:r>
          </a:p>
          <a:p>
            <a:pPr algn="l"/>
            <a:r>
              <a:rPr lang="en-US" b="0" i="0" dirty="0">
                <a:effectLst/>
                <a:latin typeface="Google Sans"/>
              </a:rPr>
              <a:t>Mutable objects can be modified in place, while immutable objects cannot be altered once they are created.</a:t>
            </a:r>
          </a:p>
          <a:p>
            <a:pPr algn="l"/>
            <a:r>
              <a:rPr lang="en-US" b="1" i="0" dirty="0">
                <a:effectLst/>
                <a:latin typeface="Google Sans"/>
              </a:rPr>
              <a:t>Examples of mutable objects:</a:t>
            </a:r>
          </a:p>
          <a:p>
            <a:pPr algn="l"/>
            <a:r>
              <a:rPr lang="en-US" b="0" i="0" dirty="0">
                <a:effectLst/>
                <a:latin typeface="Google Sans"/>
              </a:rPr>
              <a:t>Lists, Dictionaries, Sets, and User-defined classes.</a:t>
            </a:r>
          </a:p>
          <a:p>
            <a:pPr algn="l"/>
            <a:r>
              <a:rPr lang="en-US" b="1" i="0" dirty="0">
                <a:effectLst/>
                <a:latin typeface="Google Sans"/>
              </a:rPr>
              <a:t>Examples of immutable objects:</a:t>
            </a:r>
          </a:p>
          <a:p>
            <a:pPr algn="l"/>
            <a:r>
              <a:rPr lang="en-US" b="0" i="0" dirty="0">
                <a:effectLst/>
                <a:latin typeface="Google Sans"/>
              </a:rPr>
              <a:t>Integers, Floats, Strings, and Tuples.</a:t>
            </a:r>
          </a:p>
          <a:p>
            <a:pPr algn="l"/>
            <a:r>
              <a:rPr lang="en-US" b="0" i="0" dirty="0">
                <a:effectLst/>
                <a:latin typeface="Google Sans"/>
              </a:rPr>
              <a:t>Here is an example of how mutable and immutable objects behave differently</a:t>
            </a:r>
          </a:p>
          <a:p>
            <a:endParaRPr lang="en-IN" dirty="0"/>
          </a:p>
        </p:txBody>
      </p:sp>
    </p:spTree>
    <p:extLst>
      <p:ext uri="{BB962C8B-B14F-4D97-AF65-F5344CB8AC3E}">
        <p14:creationId xmlns:p14="http://schemas.microsoft.com/office/powerpoint/2010/main" val="177739902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80EDD-6B8A-50FF-2CED-CF415A06A3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E8942E-7CBB-8D10-9493-3A8517FF3F34}"/>
              </a:ext>
            </a:extLst>
          </p:cNvPr>
          <p:cNvSpPr>
            <a:spLocks noGrp="1"/>
          </p:cNvSpPr>
          <p:nvPr>
            <p:ph idx="1"/>
          </p:nvPr>
        </p:nvSpPr>
        <p:spPr/>
        <p:txBody>
          <a:bodyPr>
            <a:normAutofit fontScale="77500" lnSpcReduction="20000"/>
          </a:bodyPr>
          <a:lstStyle/>
          <a:p>
            <a:r>
              <a:rPr lang="en-US" dirty="0">
                <a:latin typeface="Google Sans"/>
              </a:rPr>
              <a:t># Create a mutable list</a:t>
            </a:r>
            <a:br>
              <a:rPr lang="en-US" dirty="0">
                <a:latin typeface="Google Sans"/>
              </a:rPr>
            </a:br>
            <a:r>
              <a:rPr lang="en-US" dirty="0" err="1">
                <a:latin typeface="Google Sans"/>
              </a:rPr>
              <a:t>my_list</a:t>
            </a:r>
            <a:r>
              <a:rPr lang="en-US" dirty="0">
                <a:latin typeface="Google Sans"/>
              </a:rPr>
              <a:t> = [1, 2, 3]</a:t>
            </a:r>
            <a:br>
              <a:rPr lang="en-US" dirty="0">
                <a:latin typeface="Google Sans"/>
              </a:rPr>
            </a:br>
            <a:br>
              <a:rPr lang="en-US" dirty="0">
                <a:latin typeface="Google Sans"/>
              </a:rPr>
            </a:br>
            <a:r>
              <a:rPr lang="en-US" dirty="0">
                <a:latin typeface="Google Sans"/>
              </a:rPr>
              <a:t># Change the value of an element in the list</a:t>
            </a:r>
            <a:br>
              <a:rPr lang="en-US" dirty="0">
                <a:latin typeface="Google Sans"/>
              </a:rPr>
            </a:br>
            <a:r>
              <a:rPr lang="en-US" dirty="0" err="1">
                <a:latin typeface="Google Sans"/>
              </a:rPr>
              <a:t>my_list</a:t>
            </a:r>
            <a:r>
              <a:rPr lang="en-US" dirty="0">
                <a:latin typeface="Google Sans"/>
              </a:rPr>
              <a:t>[0] = 4</a:t>
            </a:r>
            <a:br>
              <a:rPr lang="en-US" dirty="0">
                <a:latin typeface="Google Sans"/>
              </a:rPr>
            </a:br>
            <a:br>
              <a:rPr lang="en-US" dirty="0">
                <a:latin typeface="Google Sans"/>
              </a:rPr>
            </a:br>
            <a:r>
              <a:rPr lang="en-US" dirty="0">
                <a:latin typeface="Google Sans"/>
              </a:rPr>
              <a:t># Print the list</a:t>
            </a:r>
            <a:br>
              <a:rPr lang="en-US" dirty="0">
                <a:latin typeface="Google Sans"/>
              </a:rPr>
            </a:br>
            <a:r>
              <a:rPr lang="en-US" dirty="0">
                <a:latin typeface="Google Sans"/>
              </a:rPr>
              <a:t>print(</a:t>
            </a:r>
            <a:r>
              <a:rPr lang="en-US" dirty="0" err="1">
                <a:latin typeface="Google Sans"/>
              </a:rPr>
              <a:t>my_list</a:t>
            </a:r>
            <a:r>
              <a:rPr lang="en-US" dirty="0">
                <a:latin typeface="Google Sans"/>
              </a:rPr>
              <a:t>)</a:t>
            </a:r>
            <a:br>
              <a:rPr lang="en-US" dirty="0">
                <a:latin typeface="Google Sans"/>
              </a:rPr>
            </a:br>
            <a:br>
              <a:rPr lang="en-US" dirty="0">
                <a:latin typeface="Google Sans"/>
              </a:rPr>
            </a:br>
            <a:r>
              <a:rPr lang="en-US" dirty="0">
                <a:latin typeface="Google Sans"/>
              </a:rPr>
              <a:t># Create an immutable tuple</a:t>
            </a:r>
            <a:br>
              <a:rPr lang="en-US" dirty="0">
                <a:latin typeface="Google Sans"/>
              </a:rPr>
            </a:br>
            <a:r>
              <a:rPr lang="en-US" dirty="0" err="1">
                <a:latin typeface="Google Sans"/>
              </a:rPr>
              <a:t>my_tuple</a:t>
            </a:r>
            <a:r>
              <a:rPr lang="en-US" dirty="0">
                <a:latin typeface="Google Sans"/>
              </a:rPr>
              <a:t> = (1, 2, 3)</a:t>
            </a:r>
            <a:br>
              <a:rPr lang="en-US" dirty="0">
                <a:latin typeface="Google Sans"/>
              </a:rPr>
            </a:br>
            <a:br>
              <a:rPr lang="en-US" dirty="0">
                <a:latin typeface="Google Sans"/>
              </a:rPr>
            </a:br>
            <a:r>
              <a:rPr lang="en-US" dirty="0">
                <a:latin typeface="Google Sans"/>
              </a:rPr>
              <a:t># Try to change the value of an element in the tuple</a:t>
            </a:r>
            <a:br>
              <a:rPr lang="en-US" dirty="0">
                <a:latin typeface="Google Sans"/>
              </a:rPr>
            </a:br>
            <a:r>
              <a:rPr lang="en-US" dirty="0">
                <a:latin typeface="Google Sans"/>
              </a:rPr>
              <a:t># This will result in a </a:t>
            </a:r>
            <a:r>
              <a:rPr lang="en-US" dirty="0" err="1">
                <a:latin typeface="Google Sans"/>
              </a:rPr>
              <a:t>TypeError</a:t>
            </a:r>
            <a:br>
              <a:rPr lang="en-US" dirty="0">
                <a:latin typeface="Google Sans"/>
              </a:rPr>
            </a:br>
            <a:r>
              <a:rPr lang="en-US" dirty="0" err="1">
                <a:latin typeface="Google Sans"/>
              </a:rPr>
              <a:t>my_tuple</a:t>
            </a:r>
            <a:r>
              <a:rPr lang="en-US" dirty="0">
                <a:latin typeface="Google Sans"/>
              </a:rPr>
              <a:t>[0] = 4</a:t>
            </a:r>
            <a:br>
              <a:rPr lang="en-US" dirty="0">
                <a:latin typeface="Google Sans"/>
              </a:rPr>
            </a:br>
            <a:br>
              <a:rPr lang="en-US" dirty="0">
                <a:latin typeface="Google Sans"/>
              </a:rPr>
            </a:br>
            <a:r>
              <a:rPr lang="en-US" dirty="0">
                <a:latin typeface="Google Sans"/>
              </a:rPr>
              <a:t># Print the tuple</a:t>
            </a:r>
            <a:br>
              <a:rPr lang="en-US" dirty="0">
                <a:latin typeface="Google Sans"/>
              </a:rPr>
            </a:br>
            <a:r>
              <a:rPr lang="en-US" dirty="0">
                <a:latin typeface="Google Sans"/>
              </a:rPr>
              <a:t>print(</a:t>
            </a:r>
            <a:r>
              <a:rPr lang="en-US" dirty="0" err="1">
                <a:latin typeface="Google Sans"/>
              </a:rPr>
              <a:t>my_tuple</a:t>
            </a:r>
            <a:r>
              <a:rPr lang="en-US" dirty="0">
                <a:latin typeface="Google Sans"/>
              </a:rPr>
              <a:t>)</a:t>
            </a:r>
            <a:endParaRPr lang="en-IN" dirty="0">
              <a:latin typeface="Google Sans"/>
            </a:endParaRPr>
          </a:p>
        </p:txBody>
      </p:sp>
    </p:spTree>
    <p:extLst>
      <p:ext uri="{BB962C8B-B14F-4D97-AF65-F5344CB8AC3E}">
        <p14:creationId xmlns:p14="http://schemas.microsoft.com/office/powerpoint/2010/main" val="1836862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E113-13D0-40F8-528D-1883714828BE}"/>
              </a:ext>
            </a:extLst>
          </p:cNvPr>
          <p:cNvSpPr>
            <a:spLocks noGrp="1"/>
          </p:cNvSpPr>
          <p:nvPr>
            <p:ph type="title"/>
          </p:nvPr>
        </p:nvSpPr>
        <p:spPr/>
        <p:txBody>
          <a:bodyPr/>
          <a:lstStyle/>
          <a:p>
            <a:r>
              <a:rPr lang="en-IN" dirty="0"/>
              <a:t>Python operators</a:t>
            </a:r>
          </a:p>
        </p:txBody>
      </p:sp>
      <p:sp>
        <p:nvSpPr>
          <p:cNvPr id="3" name="Content Placeholder 2">
            <a:extLst>
              <a:ext uri="{FF2B5EF4-FFF2-40B4-BE49-F238E27FC236}">
                <a16:creationId xmlns:a16="http://schemas.microsoft.com/office/drawing/2014/main" id="{68D4C65D-DC50-C942-52DF-394FCB5A24F8}"/>
              </a:ext>
            </a:extLst>
          </p:cNvPr>
          <p:cNvSpPr>
            <a:spLocks noGrp="1"/>
          </p:cNvSpPr>
          <p:nvPr>
            <p:ph idx="1"/>
          </p:nvPr>
        </p:nvSpPr>
        <p:spPr/>
        <p:txBody>
          <a:bodyPr/>
          <a:lstStyle/>
          <a:p>
            <a:r>
              <a:rPr lang="en-IN" dirty="0"/>
              <a:t>Arithmetic </a:t>
            </a:r>
            <a:r>
              <a:rPr lang="en-IN" dirty="0">
                <a:sym typeface="Wingdings" panose="05000000000000000000" pitchFamily="2" charset="2"/>
              </a:rPr>
              <a:t> +,- *,/ **,//,%</a:t>
            </a:r>
            <a:endParaRPr lang="en-IN" dirty="0"/>
          </a:p>
          <a:p>
            <a:r>
              <a:rPr lang="en-IN" dirty="0"/>
              <a:t>Comparison </a:t>
            </a:r>
            <a:r>
              <a:rPr lang="en-IN" dirty="0">
                <a:sym typeface="Wingdings" panose="05000000000000000000" pitchFamily="2" charset="2"/>
              </a:rPr>
              <a:t> = !=,&gt;,&lt;,&gt;=,&lt;= etc</a:t>
            </a:r>
            <a:endParaRPr lang="en-IN" dirty="0"/>
          </a:p>
          <a:p>
            <a:r>
              <a:rPr lang="en-IN" dirty="0"/>
              <a:t>Bitwise </a:t>
            </a:r>
            <a:r>
              <a:rPr lang="en-IN" dirty="0">
                <a:sym typeface="Wingdings" panose="05000000000000000000" pitchFamily="2" charset="2"/>
              </a:rPr>
              <a:t> Binary and, binary or, binary </a:t>
            </a:r>
            <a:r>
              <a:rPr lang="en-IN" dirty="0" err="1">
                <a:sym typeface="Wingdings" panose="05000000000000000000" pitchFamily="2" charset="2"/>
              </a:rPr>
              <a:t>xor,binary</a:t>
            </a:r>
            <a:r>
              <a:rPr lang="en-IN" dirty="0">
                <a:sym typeface="Wingdings" panose="05000000000000000000" pitchFamily="2" charset="2"/>
              </a:rPr>
              <a:t> not</a:t>
            </a:r>
            <a:endParaRPr lang="en-IN" dirty="0"/>
          </a:p>
          <a:p>
            <a:r>
              <a:rPr lang="en-IN" dirty="0"/>
              <a:t>Membership</a:t>
            </a:r>
          </a:p>
          <a:p>
            <a:r>
              <a:rPr lang="en-IN" dirty="0"/>
              <a:t>Assignment </a:t>
            </a:r>
          </a:p>
          <a:p>
            <a:r>
              <a:rPr lang="en-IN" dirty="0"/>
              <a:t>Logical </a:t>
            </a:r>
            <a:r>
              <a:rPr lang="en-IN" dirty="0">
                <a:sym typeface="Wingdings" panose="05000000000000000000" pitchFamily="2" charset="2"/>
              </a:rPr>
              <a:t> and ,</a:t>
            </a:r>
            <a:r>
              <a:rPr lang="en-IN" dirty="0" err="1">
                <a:sym typeface="Wingdings" panose="05000000000000000000" pitchFamily="2" charset="2"/>
              </a:rPr>
              <a:t>or,not</a:t>
            </a:r>
            <a:endParaRPr lang="en-IN" dirty="0"/>
          </a:p>
          <a:p>
            <a:r>
              <a:rPr lang="en-IN" dirty="0"/>
              <a:t>Identity </a:t>
            </a:r>
            <a:r>
              <a:rPr lang="en-IN" dirty="0">
                <a:sym typeface="Wingdings" panose="05000000000000000000" pitchFamily="2" charset="2"/>
              </a:rPr>
              <a:t> is ,is not</a:t>
            </a:r>
          </a:p>
          <a:p>
            <a:r>
              <a:rPr lang="en-IN" dirty="0">
                <a:sym typeface="Wingdings" panose="05000000000000000000" pitchFamily="2" charset="2"/>
              </a:rPr>
              <a:t>Membership </a:t>
            </a:r>
            <a:r>
              <a:rPr lang="en-IN" dirty="0" err="1">
                <a:sym typeface="Wingdings" panose="05000000000000000000" pitchFamily="2" charset="2"/>
              </a:rPr>
              <a:t>in,not</a:t>
            </a:r>
            <a:r>
              <a:rPr lang="en-IN" dirty="0">
                <a:sym typeface="Wingdings" panose="05000000000000000000" pitchFamily="2" charset="2"/>
              </a:rPr>
              <a:t> in</a:t>
            </a:r>
            <a:endParaRPr lang="en-IN" dirty="0"/>
          </a:p>
        </p:txBody>
      </p:sp>
    </p:spTree>
    <p:extLst>
      <p:ext uri="{BB962C8B-B14F-4D97-AF65-F5344CB8AC3E}">
        <p14:creationId xmlns:p14="http://schemas.microsoft.com/office/powerpoint/2010/main" val="1778594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ED05F-BFB2-50AA-B1AE-20309EB9A1F1}"/>
              </a:ext>
            </a:extLst>
          </p:cNvPr>
          <p:cNvSpPr>
            <a:spLocks noGrp="1"/>
          </p:cNvSpPr>
          <p:nvPr>
            <p:ph type="title"/>
          </p:nvPr>
        </p:nvSpPr>
        <p:spPr/>
        <p:txBody>
          <a:bodyPr/>
          <a:lstStyle/>
          <a:p>
            <a:r>
              <a:rPr lang="en-IN" dirty="0"/>
              <a:t>Conditional statements</a:t>
            </a:r>
          </a:p>
        </p:txBody>
      </p:sp>
      <p:sp>
        <p:nvSpPr>
          <p:cNvPr id="10" name="TextBox 9">
            <a:extLst>
              <a:ext uri="{FF2B5EF4-FFF2-40B4-BE49-F238E27FC236}">
                <a16:creationId xmlns:a16="http://schemas.microsoft.com/office/drawing/2014/main" id="{D2A6D0F7-D130-5E0D-8269-183A005D2287}"/>
              </a:ext>
            </a:extLst>
          </p:cNvPr>
          <p:cNvSpPr txBox="1"/>
          <p:nvPr/>
        </p:nvSpPr>
        <p:spPr>
          <a:xfrm>
            <a:off x="838200" y="1402731"/>
            <a:ext cx="6096000" cy="5355312"/>
          </a:xfrm>
          <a:prstGeom prst="rect">
            <a:avLst/>
          </a:prstGeom>
          <a:noFill/>
        </p:spPr>
        <p:txBody>
          <a:bodyPr wrap="square">
            <a:spAutoFit/>
          </a:bodyPr>
          <a:lstStyle/>
          <a:p>
            <a:r>
              <a:rPr lang="en-IN" dirty="0"/>
              <a:t>def maximum(a, b, c): </a:t>
            </a:r>
          </a:p>
          <a:p>
            <a:r>
              <a:rPr lang="en-IN" dirty="0"/>
              <a:t> </a:t>
            </a:r>
          </a:p>
          <a:p>
            <a:r>
              <a:rPr lang="en-IN" dirty="0"/>
              <a:t>    if (a &gt;= b) and (a &gt;= c): </a:t>
            </a:r>
          </a:p>
          <a:p>
            <a:r>
              <a:rPr lang="en-IN" dirty="0"/>
              <a:t>        largest = a </a:t>
            </a:r>
          </a:p>
          <a:p>
            <a:r>
              <a:rPr lang="en-IN" dirty="0"/>
              <a:t> </a:t>
            </a:r>
          </a:p>
          <a:p>
            <a:r>
              <a:rPr lang="en-IN" dirty="0"/>
              <a:t>    </a:t>
            </a:r>
            <a:r>
              <a:rPr lang="en-IN" dirty="0" err="1"/>
              <a:t>elif</a:t>
            </a:r>
            <a:r>
              <a:rPr lang="en-IN" dirty="0"/>
              <a:t> (b &gt;= a) and (b &gt;= c): </a:t>
            </a:r>
          </a:p>
          <a:p>
            <a:r>
              <a:rPr lang="en-IN" dirty="0"/>
              <a:t>        largest = b </a:t>
            </a:r>
          </a:p>
          <a:p>
            <a:r>
              <a:rPr lang="en-IN" dirty="0"/>
              <a:t>    else: </a:t>
            </a:r>
          </a:p>
          <a:p>
            <a:r>
              <a:rPr lang="en-IN" dirty="0"/>
              <a:t>        largest = c </a:t>
            </a:r>
          </a:p>
          <a:p>
            <a:r>
              <a:rPr lang="en-IN" dirty="0"/>
              <a:t>         </a:t>
            </a:r>
          </a:p>
          <a:p>
            <a:r>
              <a:rPr lang="en-IN" dirty="0"/>
              <a:t>    return largest </a:t>
            </a:r>
          </a:p>
          <a:p>
            <a:r>
              <a:rPr lang="en-IN" dirty="0"/>
              <a:t> </a:t>
            </a:r>
          </a:p>
          <a:p>
            <a:r>
              <a:rPr lang="en-IN" dirty="0"/>
              <a:t> </a:t>
            </a:r>
          </a:p>
          <a:p>
            <a:r>
              <a:rPr lang="en-IN" dirty="0"/>
              <a:t># Driven code </a:t>
            </a:r>
          </a:p>
          <a:p>
            <a:r>
              <a:rPr lang="en-IN" dirty="0"/>
              <a:t>a = 10</a:t>
            </a:r>
          </a:p>
          <a:p>
            <a:r>
              <a:rPr lang="en-IN" dirty="0"/>
              <a:t>b = 14</a:t>
            </a:r>
          </a:p>
          <a:p>
            <a:r>
              <a:rPr lang="en-IN" dirty="0"/>
              <a:t>c = 12</a:t>
            </a:r>
          </a:p>
          <a:p>
            <a:r>
              <a:rPr lang="en-IN" dirty="0"/>
              <a:t>print(maximum(a, b, c)) </a:t>
            </a:r>
          </a:p>
          <a:p>
            <a:r>
              <a:rPr lang="en-IN" dirty="0"/>
              <a:t>print(</a:t>
            </a:r>
            <a:r>
              <a:rPr lang="en-IN" dirty="0" err="1"/>
              <a:t>a|b</a:t>
            </a:r>
            <a:r>
              <a:rPr lang="en-IN" dirty="0"/>
              <a:t>)</a:t>
            </a:r>
          </a:p>
        </p:txBody>
      </p:sp>
    </p:spTree>
    <p:extLst>
      <p:ext uri="{BB962C8B-B14F-4D97-AF65-F5344CB8AC3E}">
        <p14:creationId xmlns:p14="http://schemas.microsoft.com/office/powerpoint/2010/main" val="3005160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98169-D984-CD45-9AFE-67F3469BF809}"/>
              </a:ext>
            </a:extLst>
          </p:cNvPr>
          <p:cNvSpPr>
            <a:spLocks noGrp="1"/>
          </p:cNvSpPr>
          <p:nvPr>
            <p:ph type="title"/>
          </p:nvPr>
        </p:nvSpPr>
        <p:spPr/>
        <p:txBody>
          <a:bodyPr/>
          <a:lstStyle/>
          <a:p>
            <a:r>
              <a:rPr lang="en-IN" dirty="0"/>
              <a:t>Loops in Python </a:t>
            </a:r>
          </a:p>
        </p:txBody>
      </p:sp>
      <p:sp>
        <p:nvSpPr>
          <p:cNvPr id="3" name="Content Placeholder 2">
            <a:extLst>
              <a:ext uri="{FF2B5EF4-FFF2-40B4-BE49-F238E27FC236}">
                <a16:creationId xmlns:a16="http://schemas.microsoft.com/office/drawing/2014/main" id="{EF6FE78E-BC4B-CF50-89B8-B90A14CB5B2A}"/>
              </a:ext>
            </a:extLst>
          </p:cNvPr>
          <p:cNvSpPr>
            <a:spLocks noGrp="1"/>
          </p:cNvSpPr>
          <p:nvPr>
            <p:ph idx="1"/>
          </p:nvPr>
        </p:nvSpPr>
        <p:spPr/>
        <p:txBody>
          <a:bodyPr/>
          <a:lstStyle/>
          <a:p>
            <a:r>
              <a:rPr lang="en-IN" dirty="0"/>
              <a:t>While</a:t>
            </a:r>
          </a:p>
          <a:p>
            <a:r>
              <a:rPr lang="en-IN" dirty="0"/>
              <a:t>While else.</a:t>
            </a:r>
          </a:p>
          <a:p>
            <a:pPr lvl="1"/>
            <a:r>
              <a:rPr lang="en-IN" dirty="0" err="1"/>
              <a:t>i</a:t>
            </a:r>
            <a:r>
              <a:rPr lang="en-IN" dirty="0"/>
              <a:t> = 5 while </a:t>
            </a:r>
            <a:r>
              <a:rPr lang="en-IN" dirty="0" err="1"/>
              <a:t>i</a:t>
            </a:r>
            <a:r>
              <a:rPr lang="en-IN" dirty="0"/>
              <a:t> &gt; 0: print(</a:t>
            </a:r>
            <a:r>
              <a:rPr lang="en-IN" dirty="0" err="1"/>
              <a:t>i</a:t>
            </a:r>
            <a:r>
              <a:rPr lang="en-IN" dirty="0"/>
              <a:t>) </a:t>
            </a:r>
            <a:r>
              <a:rPr lang="en-IN" dirty="0" err="1"/>
              <a:t>i</a:t>
            </a:r>
            <a:r>
              <a:rPr lang="en-IN" dirty="0"/>
              <a:t> -= 1 else: print("Liftoff!")</a:t>
            </a:r>
          </a:p>
          <a:p>
            <a:r>
              <a:rPr lang="en-IN" dirty="0"/>
              <a:t>For Loop</a:t>
            </a:r>
          </a:p>
          <a:p>
            <a:r>
              <a:rPr lang="en-IN" dirty="0" err="1"/>
              <a:t>Tqdm</a:t>
            </a:r>
            <a:r>
              <a:rPr lang="en-IN" dirty="0"/>
              <a:t> –package </a:t>
            </a:r>
          </a:p>
          <a:p>
            <a:endParaRPr lang="en-IN" dirty="0"/>
          </a:p>
        </p:txBody>
      </p:sp>
    </p:spTree>
    <p:extLst>
      <p:ext uri="{BB962C8B-B14F-4D97-AF65-F5344CB8AC3E}">
        <p14:creationId xmlns:p14="http://schemas.microsoft.com/office/powerpoint/2010/main" val="1523922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B34AF-4527-5CD1-72E8-7C1EADB7D03F}"/>
              </a:ext>
            </a:extLst>
          </p:cNvPr>
          <p:cNvSpPr>
            <a:spLocks noGrp="1"/>
          </p:cNvSpPr>
          <p:nvPr>
            <p:ph type="title"/>
          </p:nvPr>
        </p:nvSpPr>
        <p:spPr/>
        <p:txBody>
          <a:bodyPr/>
          <a:lstStyle/>
          <a:p>
            <a:r>
              <a:rPr lang="en-IN" dirty="0"/>
              <a:t>More on conditional statements</a:t>
            </a:r>
          </a:p>
        </p:txBody>
      </p:sp>
      <p:sp>
        <p:nvSpPr>
          <p:cNvPr id="3" name="Content Placeholder 2">
            <a:extLst>
              <a:ext uri="{FF2B5EF4-FFF2-40B4-BE49-F238E27FC236}">
                <a16:creationId xmlns:a16="http://schemas.microsoft.com/office/drawing/2014/main" id="{FABB317B-8C73-C1F3-8C42-CBE1CAD73EDD}"/>
              </a:ext>
            </a:extLst>
          </p:cNvPr>
          <p:cNvSpPr>
            <a:spLocks noGrp="1"/>
          </p:cNvSpPr>
          <p:nvPr>
            <p:ph idx="1"/>
          </p:nvPr>
        </p:nvSpPr>
        <p:spPr/>
        <p:txBody>
          <a:bodyPr/>
          <a:lstStyle/>
          <a:p>
            <a:pPr algn="l">
              <a:buFont typeface="Arial" panose="020B0604020202020204" pitchFamily="34" charset="0"/>
              <a:buChar char="•"/>
            </a:pPr>
            <a:r>
              <a:rPr lang="en-US" b="0" i="0" dirty="0">
                <a:solidFill>
                  <a:srgbClr val="0D0D0D"/>
                </a:solidFill>
                <a:effectLst/>
                <a:highlight>
                  <a:srgbClr val="FFFFFF"/>
                </a:highlight>
                <a:latin typeface="Söhne"/>
              </a:rPr>
              <a:t>Conditional statements (if, </a:t>
            </a:r>
            <a:r>
              <a:rPr lang="en-US" b="0" i="0" dirty="0" err="1">
                <a:solidFill>
                  <a:srgbClr val="0D0D0D"/>
                </a:solidFill>
                <a:effectLst/>
                <a:highlight>
                  <a:srgbClr val="FFFFFF"/>
                </a:highlight>
                <a:latin typeface="Söhne"/>
              </a:rPr>
              <a:t>elif</a:t>
            </a:r>
            <a:r>
              <a:rPr lang="en-US" b="0" i="0" dirty="0">
                <a:solidFill>
                  <a:srgbClr val="0D0D0D"/>
                </a:solidFill>
                <a:effectLst/>
                <a:highlight>
                  <a:srgbClr val="FFFFFF"/>
                </a:highlight>
                <a:latin typeface="Söhne"/>
              </a:rPr>
              <a:t>, else)</a:t>
            </a:r>
          </a:p>
          <a:p>
            <a:pPr algn="l">
              <a:buFont typeface="Arial" panose="020B0604020202020204" pitchFamily="34" charset="0"/>
              <a:buChar char="•"/>
            </a:pPr>
            <a:r>
              <a:rPr lang="en-US" b="0" i="0" dirty="0">
                <a:solidFill>
                  <a:srgbClr val="0D0D0D"/>
                </a:solidFill>
                <a:effectLst/>
                <a:highlight>
                  <a:srgbClr val="FFFFFF"/>
                </a:highlight>
                <a:latin typeface="Söhne"/>
              </a:rPr>
              <a:t>Loops (for loops, while loops)</a:t>
            </a:r>
          </a:p>
          <a:p>
            <a:pPr algn="l">
              <a:buFont typeface="Arial" panose="020B0604020202020204" pitchFamily="34" charset="0"/>
              <a:buChar char="•"/>
            </a:pPr>
            <a:r>
              <a:rPr lang="en-US" b="0" i="0" dirty="0">
                <a:solidFill>
                  <a:srgbClr val="0D0D0D"/>
                </a:solidFill>
                <a:effectLst/>
                <a:highlight>
                  <a:srgbClr val="FFFFFF"/>
                </a:highlight>
                <a:latin typeface="Söhne"/>
              </a:rPr>
              <a:t>Control flow with break, continue, and pass statements</a:t>
            </a:r>
          </a:p>
          <a:p>
            <a:pPr algn="l">
              <a:buFont typeface="Arial" panose="020B0604020202020204" pitchFamily="34" charset="0"/>
              <a:buChar char="•"/>
            </a:pPr>
            <a:endParaRPr lang="en-US" b="0" i="0" dirty="0">
              <a:solidFill>
                <a:srgbClr val="0D0D0D"/>
              </a:solidFill>
              <a:effectLst/>
              <a:highlight>
                <a:srgbClr val="FFFFFF"/>
              </a:highlight>
              <a:latin typeface="Söhne"/>
            </a:endParaRPr>
          </a:p>
          <a:p>
            <a:endParaRPr lang="en-IN" dirty="0"/>
          </a:p>
        </p:txBody>
      </p:sp>
    </p:spTree>
    <p:extLst>
      <p:ext uri="{BB962C8B-B14F-4D97-AF65-F5344CB8AC3E}">
        <p14:creationId xmlns:p14="http://schemas.microsoft.com/office/powerpoint/2010/main" val="4258532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4EB9-DC38-B548-BC2C-A4F06D44F0E7}"/>
              </a:ext>
            </a:extLst>
          </p:cNvPr>
          <p:cNvSpPr>
            <a:spLocks noGrp="1"/>
          </p:cNvSpPr>
          <p:nvPr>
            <p:ph type="title"/>
          </p:nvPr>
        </p:nvSpPr>
        <p:spPr/>
        <p:txBody>
          <a:bodyPr/>
          <a:lstStyle/>
          <a:p>
            <a:r>
              <a:rPr lang="en-IN" dirty="0" err="1"/>
              <a:t>If,Else</a:t>
            </a:r>
            <a:r>
              <a:rPr lang="en-IN" dirty="0"/>
              <a:t>, and Else Statements</a:t>
            </a:r>
          </a:p>
        </p:txBody>
      </p:sp>
      <p:sp>
        <p:nvSpPr>
          <p:cNvPr id="3" name="Content Placeholder 2">
            <a:extLst>
              <a:ext uri="{FF2B5EF4-FFF2-40B4-BE49-F238E27FC236}">
                <a16:creationId xmlns:a16="http://schemas.microsoft.com/office/drawing/2014/main" id="{5DDC796F-7922-819A-F3C5-C0570410854F}"/>
              </a:ext>
            </a:extLst>
          </p:cNvPr>
          <p:cNvSpPr>
            <a:spLocks noGrp="1"/>
          </p:cNvSpPr>
          <p:nvPr>
            <p:ph idx="1"/>
          </p:nvPr>
        </p:nvSpPr>
        <p:spPr/>
        <p:txBody>
          <a:bodyPr/>
          <a:lstStyle/>
          <a:p>
            <a:pPr marL="0" indent="0">
              <a:buNone/>
            </a:pPr>
            <a:r>
              <a:rPr lang="en-IN" dirty="0"/>
              <a:t>if condition:</a:t>
            </a:r>
          </a:p>
          <a:p>
            <a:pPr marL="0" indent="0">
              <a:buNone/>
            </a:pPr>
            <a:r>
              <a:rPr lang="en-IN" dirty="0"/>
              <a:t>      statements                </a:t>
            </a:r>
          </a:p>
          <a:p>
            <a:pPr marL="0" indent="0">
              <a:buNone/>
            </a:pPr>
            <a:r>
              <a:rPr lang="en-IN" dirty="0" err="1"/>
              <a:t>elif</a:t>
            </a:r>
            <a:r>
              <a:rPr lang="en-IN" dirty="0"/>
              <a:t> condition2:</a:t>
            </a:r>
          </a:p>
          <a:p>
            <a:pPr marL="0" indent="0">
              <a:buNone/>
            </a:pPr>
            <a:r>
              <a:rPr lang="en-IN" dirty="0"/>
              <a:t>      statements</a:t>
            </a:r>
          </a:p>
          <a:p>
            <a:pPr marL="0" indent="0">
              <a:buNone/>
            </a:pPr>
            <a:r>
              <a:rPr lang="en-IN" dirty="0"/>
              <a:t>else:</a:t>
            </a:r>
          </a:p>
          <a:p>
            <a:pPr marL="0" indent="0">
              <a:buNone/>
            </a:pPr>
            <a:r>
              <a:rPr lang="en-IN" dirty="0"/>
              <a:t>     statements </a:t>
            </a:r>
          </a:p>
          <a:p>
            <a:pPr marL="0" indent="0">
              <a:buNone/>
            </a:pPr>
            <a:endParaRPr lang="en-IN" dirty="0"/>
          </a:p>
        </p:txBody>
      </p:sp>
      <p:sp>
        <p:nvSpPr>
          <p:cNvPr id="5" name="TextBox 4">
            <a:extLst>
              <a:ext uri="{FF2B5EF4-FFF2-40B4-BE49-F238E27FC236}">
                <a16:creationId xmlns:a16="http://schemas.microsoft.com/office/drawing/2014/main" id="{210C5826-E307-C618-5C15-9F388EDF1128}"/>
              </a:ext>
            </a:extLst>
          </p:cNvPr>
          <p:cNvSpPr txBox="1"/>
          <p:nvPr/>
        </p:nvSpPr>
        <p:spPr>
          <a:xfrm>
            <a:off x="5923935" y="1419478"/>
            <a:ext cx="3868994" cy="5078313"/>
          </a:xfrm>
          <a:prstGeom prst="rect">
            <a:avLst/>
          </a:prstGeom>
          <a:noFill/>
        </p:spPr>
        <p:txBody>
          <a:bodyPr wrap="square" rtlCol="0">
            <a:spAutoFit/>
          </a:bodyPr>
          <a:lstStyle/>
          <a:p>
            <a:r>
              <a:rPr lang="en-US"/>
              <a:t>def maximum(a, b, c): </a:t>
            </a:r>
          </a:p>
          <a:p>
            <a:r>
              <a:rPr lang="en-US"/>
              <a:t> </a:t>
            </a:r>
          </a:p>
          <a:p>
            <a:r>
              <a:rPr lang="en-US"/>
              <a:t>    if (a &gt;= b) and (a &gt;= c): </a:t>
            </a:r>
          </a:p>
          <a:p>
            <a:r>
              <a:rPr lang="en-US"/>
              <a:t>        largest = a </a:t>
            </a:r>
          </a:p>
          <a:p>
            <a:r>
              <a:rPr lang="en-US"/>
              <a:t> </a:t>
            </a:r>
          </a:p>
          <a:p>
            <a:r>
              <a:rPr lang="en-US"/>
              <a:t>    elif (b &gt;= a) and (b &gt;= c): </a:t>
            </a:r>
          </a:p>
          <a:p>
            <a:r>
              <a:rPr lang="en-US"/>
              <a:t>        largest = b </a:t>
            </a:r>
          </a:p>
          <a:p>
            <a:r>
              <a:rPr lang="en-US"/>
              <a:t>    else: </a:t>
            </a:r>
          </a:p>
          <a:p>
            <a:r>
              <a:rPr lang="en-US"/>
              <a:t>        largest = c </a:t>
            </a:r>
          </a:p>
          <a:p>
            <a:r>
              <a:rPr lang="en-US"/>
              <a:t>         </a:t>
            </a:r>
          </a:p>
          <a:p>
            <a:r>
              <a:rPr lang="en-US"/>
              <a:t>    return largest </a:t>
            </a:r>
          </a:p>
          <a:p>
            <a:r>
              <a:rPr lang="en-US"/>
              <a:t> </a:t>
            </a:r>
          </a:p>
          <a:p>
            <a:r>
              <a:rPr lang="en-US"/>
              <a:t> </a:t>
            </a:r>
          </a:p>
          <a:p>
            <a:r>
              <a:rPr lang="en-US"/>
              <a:t># Driven code </a:t>
            </a:r>
          </a:p>
          <a:p>
            <a:r>
              <a:rPr lang="en-US"/>
              <a:t>a = 10</a:t>
            </a:r>
          </a:p>
          <a:p>
            <a:r>
              <a:rPr lang="en-US"/>
              <a:t>b = 14</a:t>
            </a:r>
          </a:p>
          <a:p>
            <a:r>
              <a:rPr lang="en-US"/>
              <a:t>c = 12</a:t>
            </a:r>
          </a:p>
          <a:p>
            <a:r>
              <a:rPr lang="en-US"/>
              <a:t>print(maximum(a, b, c)) </a:t>
            </a:r>
            <a:endParaRPr lang="en-US" dirty="0"/>
          </a:p>
        </p:txBody>
      </p:sp>
    </p:spTree>
    <p:extLst>
      <p:ext uri="{BB962C8B-B14F-4D97-AF65-F5344CB8AC3E}">
        <p14:creationId xmlns:p14="http://schemas.microsoft.com/office/powerpoint/2010/main" val="3703140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D77-79EC-D043-246D-2E6694A9D324}"/>
              </a:ext>
            </a:extLst>
          </p:cNvPr>
          <p:cNvSpPr>
            <a:spLocks noGrp="1"/>
          </p:cNvSpPr>
          <p:nvPr>
            <p:ph type="title"/>
          </p:nvPr>
        </p:nvSpPr>
        <p:spPr/>
        <p:txBody>
          <a:bodyPr/>
          <a:lstStyle/>
          <a:p>
            <a:r>
              <a:rPr lang="en-IN" dirty="0"/>
              <a:t>Loops</a:t>
            </a:r>
          </a:p>
        </p:txBody>
      </p:sp>
      <p:sp>
        <p:nvSpPr>
          <p:cNvPr id="4" name="Rectangle 3">
            <a:extLst>
              <a:ext uri="{FF2B5EF4-FFF2-40B4-BE49-F238E27FC236}">
                <a16:creationId xmlns:a16="http://schemas.microsoft.com/office/drawing/2014/main" id="{CAAF006B-DFE0-D1AD-B9B9-EB14352BFD13}"/>
              </a:ext>
            </a:extLst>
          </p:cNvPr>
          <p:cNvSpPr/>
          <p:nvPr/>
        </p:nvSpPr>
        <p:spPr>
          <a:xfrm>
            <a:off x="1366685" y="2281084"/>
            <a:ext cx="2684206" cy="1071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Types of Loop</a:t>
            </a:r>
          </a:p>
        </p:txBody>
      </p:sp>
      <p:sp>
        <p:nvSpPr>
          <p:cNvPr id="5" name="Rectangle 4">
            <a:extLst>
              <a:ext uri="{FF2B5EF4-FFF2-40B4-BE49-F238E27FC236}">
                <a16:creationId xmlns:a16="http://schemas.microsoft.com/office/drawing/2014/main" id="{4CF5B8D0-7016-93E7-83EA-AE1EB1CE88D9}"/>
              </a:ext>
            </a:extLst>
          </p:cNvPr>
          <p:cNvSpPr/>
          <p:nvPr/>
        </p:nvSpPr>
        <p:spPr>
          <a:xfrm>
            <a:off x="634181" y="3943196"/>
            <a:ext cx="1465007" cy="7865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While</a:t>
            </a:r>
          </a:p>
        </p:txBody>
      </p:sp>
      <p:sp>
        <p:nvSpPr>
          <p:cNvPr id="6" name="Rectangle 5">
            <a:extLst>
              <a:ext uri="{FF2B5EF4-FFF2-40B4-BE49-F238E27FC236}">
                <a16:creationId xmlns:a16="http://schemas.microsoft.com/office/drawing/2014/main" id="{38515949-43B5-485D-1BA3-F1122307997F}"/>
              </a:ext>
            </a:extLst>
          </p:cNvPr>
          <p:cNvSpPr/>
          <p:nvPr/>
        </p:nvSpPr>
        <p:spPr>
          <a:xfrm>
            <a:off x="3033252" y="3943196"/>
            <a:ext cx="1465007" cy="7865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Loop</a:t>
            </a:r>
          </a:p>
        </p:txBody>
      </p:sp>
      <p:cxnSp>
        <p:nvCxnSpPr>
          <p:cNvPr id="10" name="Connector: Elbow 9">
            <a:extLst>
              <a:ext uri="{FF2B5EF4-FFF2-40B4-BE49-F238E27FC236}">
                <a16:creationId xmlns:a16="http://schemas.microsoft.com/office/drawing/2014/main" id="{E57F34AC-5E4E-56FE-8823-513537CC31D7}"/>
              </a:ext>
            </a:extLst>
          </p:cNvPr>
          <p:cNvCxnSpPr>
            <a:stCxn id="4" idx="2"/>
            <a:endCxn id="5" idx="0"/>
          </p:cNvCxnSpPr>
          <p:nvPr/>
        </p:nvCxnSpPr>
        <p:spPr>
          <a:xfrm rot="5400000">
            <a:off x="1742539" y="2976947"/>
            <a:ext cx="590396" cy="13421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7FF123A5-85EB-BD9B-311B-059A1FBE8808}"/>
              </a:ext>
            </a:extLst>
          </p:cNvPr>
          <p:cNvCxnSpPr>
            <a:stCxn id="4" idx="2"/>
            <a:endCxn id="6" idx="0"/>
          </p:cNvCxnSpPr>
          <p:nvPr/>
        </p:nvCxnSpPr>
        <p:spPr>
          <a:xfrm rot="16200000" flipH="1">
            <a:off x="2942074" y="3119514"/>
            <a:ext cx="590396" cy="10569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Flowchart: Decision 14">
            <a:extLst>
              <a:ext uri="{FF2B5EF4-FFF2-40B4-BE49-F238E27FC236}">
                <a16:creationId xmlns:a16="http://schemas.microsoft.com/office/drawing/2014/main" id="{CC080F48-8047-FB5F-3D2B-D2C409019836}"/>
              </a:ext>
            </a:extLst>
          </p:cNvPr>
          <p:cNvSpPr/>
          <p:nvPr/>
        </p:nvSpPr>
        <p:spPr>
          <a:xfrm>
            <a:off x="7231625" y="3712138"/>
            <a:ext cx="2251587" cy="124869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Condition</a:t>
            </a:r>
          </a:p>
        </p:txBody>
      </p:sp>
      <p:sp>
        <p:nvSpPr>
          <p:cNvPr id="16" name="Flowchart: Connector 15">
            <a:extLst>
              <a:ext uri="{FF2B5EF4-FFF2-40B4-BE49-F238E27FC236}">
                <a16:creationId xmlns:a16="http://schemas.microsoft.com/office/drawing/2014/main" id="{7C03888F-4FC1-4B92-2BBB-97BF83145D33}"/>
              </a:ext>
            </a:extLst>
          </p:cNvPr>
          <p:cNvSpPr/>
          <p:nvPr/>
        </p:nvSpPr>
        <p:spPr>
          <a:xfrm>
            <a:off x="7983792" y="1027906"/>
            <a:ext cx="747251" cy="66859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3704FDD1-D7ED-5F18-965D-A6C83505C766}"/>
              </a:ext>
            </a:extLst>
          </p:cNvPr>
          <p:cNvCxnSpPr>
            <a:cxnSpLocks/>
            <a:stCxn id="16" idx="4"/>
            <a:endCxn id="15" idx="0"/>
          </p:cNvCxnSpPr>
          <p:nvPr/>
        </p:nvCxnSpPr>
        <p:spPr>
          <a:xfrm>
            <a:off x="8357418" y="1696499"/>
            <a:ext cx="1" cy="2015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Flowchart: Process 20">
            <a:extLst>
              <a:ext uri="{FF2B5EF4-FFF2-40B4-BE49-F238E27FC236}">
                <a16:creationId xmlns:a16="http://schemas.microsoft.com/office/drawing/2014/main" id="{5770F155-A403-FDF1-F401-A20635B52707}"/>
              </a:ext>
            </a:extLst>
          </p:cNvPr>
          <p:cNvSpPr/>
          <p:nvPr/>
        </p:nvSpPr>
        <p:spPr>
          <a:xfrm>
            <a:off x="9910915" y="2389238"/>
            <a:ext cx="1828800" cy="85540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Conditional code</a:t>
            </a:r>
          </a:p>
        </p:txBody>
      </p:sp>
      <p:cxnSp>
        <p:nvCxnSpPr>
          <p:cNvPr id="26" name="Connector: Elbow 25">
            <a:extLst>
              <a:ext uri="{FF2B5EF4-FFF2-40B4-BE49-F238E27FC236}">
                <a16:creationId xmlns:a16="http://schemas.microsoft.com/office/drawing/2014/main" id="{B7191610-B1FC-7823-BB2F-BD9596622FAD}"/>
              </a:ext>
            </a:extLst>
          </p:cNvPr>
          <p:cNvCxnSpPr>
            <a:stCxn id="15" idx="3"/>
            <a:endCxn id="21" idx="2"/>
          </p:cNvCxnSpPr>
          <p:nvPr/>
        </p:nvCxnSpPr>
        <p:spPr>
          <a:xfrm flipV="1">
            <a:off x="9483212" y="3244645"/>
            <a:ext cx="1342103" cy="10918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5BEC30D6-F4B3-8D6F-09CE-BC772359C852}"/>
              </a:ext>
            </a:extLst>
          </p:cNvPr>
          <p:cNvCxnSpPr>
            <a:cxnSpLocks/>
            <a:stCxn id="21" idx="0"/>
          </p:cNvCxnSpPr>
          <p:nvPr/>
        </p:nvCxnSpPr>
        <p:spPr>
          <a:xfrm rot="16200000" flipV="1">
            <a:off x="9317286" y="881209"/>
            <a:ext cx="548161" cy="24678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0B08709-C1DF-3669-1D8B-7837DD9290B3}"/>
              </a:ext>
            </a:extLst>
          </p:cNvPr>
          <p:cNvCxnSpPr>
            <a:stCxn id="15" idx="2"/>
          </p:cNvCxnSpPr>
          <p:nvPr/>
        </p:nvCxnSpPr>
        <p:spPr>
          <a:xfrm flipH="1">
            <a:off x="8268929" y="4960834"/>
            <a:ext cx="88490" cy="1312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CCF3C59-F749-FC23-B46C-B3D2D17CC1A6}"/>
              </a:ext>
            </a:extLst>
          </p:cNvPr>
          <p:cNvSpPr txBox="1"/>
          <p:nvPr/>
        </p:nvSpPr>
        <p:spPr>
          <a:xfrm>
            <a:off x="6607277" y="5368413"/>
            <a:ext cx="1465007" cy="646331"/>
          </a:xfrm>
          <a:prstGeom prst="rect">
            <a:avLst/>
          </a:prstGeom>
          <a:noFill/>
        </p:spPr>
        <p:txBody>
          <a:bodyPr wrap="square" rtlCol="0">
            <a:spAutoFit/>
          </a:bodyPr>
          <a:lstStyle/>
          <a:p>
            <a:r>
              <a:rPr lang="en-IN" dirty="0"/>
              <a:t>If condition is False</a:t>
            </a:r>
          </a:p>
        </p:txBody>
      </p:sp>
      <p:sp>
        <p:nvSpPr>
          <p:cNvPr id="34" name="TextBox 33">
            <a:extLst>
              <a:ext uri="{FF2B5EF4-FFF2-40B4-BE49-F238E27FC236}">
                <a16:creationId xmlns:a16="http://schemas.microsoft.com/office/drawing/2014/main" id="{31DD7083-8209-7587-7623-B52E639C1683}"/>
              </a:ext>
            </a:extLst>
          </p:cNvPr>
          <p:cNvSpPr txBox="1"/>
          <p:nvPr/>
        </p:nvSpPr>
        <p:spPr>
          <a:xfrm>
            <a:off x="9232488" y="1090209"/>
            <a:ext cx="1465007" cy="646331"/>
          </a:xfrm>
          <a:prstGeom prst="rect">
            <a:avLst/>
          </a:prstGeom>
          <a:noFill/>
        </p:spPr>
        <p:txBody>
          <a:bodyPr wrap="square" rtlCol="0">
            <a:spAutoFit/>
          </a:bodyPr>
          <a:lstStyle/>
          <a:p>
            <a:r>
              <a:rPr lang="en-IN" dirty="0"/>
              <a:t>If condition is True</a:t>
            </a:r>
          </a:p>
        </p:txBody>
      </p:sp>
    </p:spTree>
    <p:extLst>
      <p:ext uri="{BB962C8B-B14F-4D97-AF65-F5344CB8AC3E}">
        <p14:creationId xmlns:p14="http://schemas.microsoft.com/office/powerpoint/2010/main" val="3894062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0A53-3168-2B8C-E65A-2BE7ABD31F68}"/>
              </a:ext>
            </a:extLst>
          </p:cNvPr>
          <p:cNvSpPr>
            <a:spLocks noGrp="1"/>
          </p:cNvSpPr>
          <p:nvPr>
            <p:ph type="title"/>
          </p:nvPr>
        </p:nvSpPr>
        <p:spPr/>
        <p:txBody>
          <a:bodyPr/>
          <a:lstStyle/>
          <a:p>
            <a:r>
              <a:rPr lang="en-IN" dirty="0"/>
              <a:t>While loop</a:t>
            </a:r>
          </a:p>
        </p:txBody>
      </p:sp>
      <p:sp>
        <p:nvSpPr>
          <p:cNvPr id="3" name="Content Placeholder 2">
            <a:extLst>
              <a:ext uri="{FF2B5EF4-FFF2-40B4-BE49-F238E27FC236}">
                <a16:creationId xmlns:a16="http://schemas.microsoft.com/office/drawing/2014/main" id="{8285E349-7273-FC74-52AD-AB7985426950}"/>
              </a:ext>
            </a:extLst>
          </p:cNvPr>
          <p:cNvSpPr>
            <a:spLocks noGrp="1"/>
          </p:cNvSpPr>
          <p:nvPr>
            <p:ph idx="1"/>
          </p:nvPr>
        </p:nvSpPr>
        <p:spPr>
          <a:xfrm>
            <a:off x="503903" y="1543664"/>
            <a:ext cx="10515600" cy="4351338"/>
          </a:xfrm>
        </p:spPr>
        <p:txBody>
          <a:bodyPr/>
          <a:lstStyle/>
          <a:p>
            <a:pPr marL="0" indent="0">
              <a:buNone/>
            </a:pPr>
            <a:r>
              <a:rPr lang="en-IN" dirty="0"/>
              <a:t>while expression:</a:t>
            </a:r>
          </a:p>
          <a:p>
            <a:pPr marL="0" indent="0">
              <a:buNone/>
            </a:pPr>
            <a:r>
              <a:rPr lang="en-IN" dirty="0"/>
              <a:t>    statements</a:t>
            </a:r>
          </a:p>
        </p:txBody>
      </p:sp>
      <p:sp>
        <p:nvSpPr>
          <p:cNvPr id="4" name="Flowchart: Process 3">
            <a:extLst>
              <a:ext uri="{FF2B5EF4-FFF2-40B4-BE49-F238E27FC236}">
                <a16:creationId xmlns:a16="http://schemas.microsoft.com/office/drawing/2014/main" id="{081FFB16-53F7-7F08-FC54-8585375CA418}"/>
              </a:ext>
            </a:extLst>
          </p:cNvPr>
          <p:cNvSpPr/>
          <p:nvPr/>
        </p:nvSpPr>
        <p:spPr>
          <a:xfrm>
            <a:off x="7747818" y="1543664"/>
            <a:ext cx="2113936" cy="7374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 </a:t>
            </a:r>
          </a:p>
        </p:txBody>
      </p:sp>
      <p:sp>
        <p:nvSpPr>
          <p:cNvPr id="5" name="Flowchart: Decision 4">
            <a:extLst>
              <a:ext uri="{FF2B5EF4-FFF2-40B4-BE49-F238E27FC236}">
                <a16:creationId xmlns:a16="http://schemas.microsoft.com/office/drawing/2014/main" id="{4C3044BE-880E-185A-2380-802357F20CC6}"/>
              </a:ext>
            </a:extLst>
          </p:cNvPr>
          <p:cNvSpPr/>
          <p:nvPr/>
        </p:nvSpPr>
        <p:spPr>
          <a:xfrm>
            <a:off x="7693743" y="2594384"/>
            <a:ext cx="2212259" cy="145517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While </a:t>
            </a:r>
            <a:r>
              <a:rPr lang="en-IN" dirty="0" err="1"/>
              <a:t>condtion</a:t>
            </a:r>
            <a:endParaRPr lang="en-IN" dirty="0"/>
          </a:p>
        </p:txBody>
      </p:sp>
      <p:cxnSp>
        <p:nvCxnSpPr>
          <p:cNvPr id="7" name="Connector: Elbow 6">
            <a:extLst>
              <a:ext uri="{FF2B5EF4-FFF2-40B4-BE49-F238E27FC236}">
                <a16:creationId xmlns:a16="http://schemas.microsoft.com/office/drawing/2014/main" id="{0099C950-6BF1-880B-8F02-B8894128568F}"/>
              </a:ext>
            </a:extLst>
          </p:cNvPr>
          <p:cNvCxnSpPr>
            <a:cxnSpLocks/>
            <a:stCxn id="4" idx="2"/>
            <a:endCxn id="5" idx="0"/>
          </p:cNvCxnSpPr>
          <p:nvPr/>
        </p:nvCxnSpPr>
        <p:spPr>
          <a:xfrm rot="5400000">
            <a:off x="8645680" y="2435277"/>
            <a:ext cx="313301" cy="491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Flowchart: Process 14">
            <a:extLst>
              <a:ext uri="{FF2B5EF4-FFF2-40B4-BE49-F238E27FC236}">
                <a16:creationId xmlns:a16="http://schemas.microsoft.com/office/drawing/2014/main" id="{B0EC5286-E124-D8DD-5E80-8D63017BA64F}"/>
              </a:ext>
            </a:extLst>
          </p:cNvPr>
          <p:cNvSpPr/>
          <p:nvPr/>
        </p:nvSpPr>
        <p:spPr>
          <a:xfrm>
            <a:off x="7777317" y="4262312"/>
            <a:ext cx="2045109" cy="86523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Body of the loop</a:t>
            </a:r>
          </a:p>
        </p:txBody>
      </p:sp>
      <p:cxnSp>
        <p:nvCxnSpPr>
          <p:cNvPr id="17" name="Connector: Elbow 16">
            <a:extLst>
              <a:ext uri="{FF2B5EF4-FFF2-40B4-BE49-F238E27FC236}">
                <a16:creationId xmlns:a16="http://schemas.microsoft.com/office/drawing/2014/main" id="{B99DE82A-5577-82C6-FE80-3FEBD81A32E8}"/>
              </a:ext>
            </a:extLst>
          </p:cNvPr>
          <p:cNvCxnSpPr>
            <a:stCxn id="5" idx="2"/>
            <a:endCxn id="15" idx="0"/>
          </p:cNvCxnSpPr>
          <p:nvPr/>
        </p:nvCxnSpPr>
        <p:spPr>
          <a:xfrm rot="5400000">
            <a:off x="8693496" y="4155935"/>
            <a:ext cx="212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a:extLst>
              <a:ext uri="{FF2B5EF4-FFF2-40B4-BE49-F238E27FC236}">
                <a16:creationId xmlns:a16="http://schemas.microsoft.com/office/drawing/2014/main" id="{69058EB2-B8A9-0548-76BA-977D8CE0A7BF}"/>
              </a:ext>
            </a:extLst>
          </p:cNvPr>
          <p:cNvSpPr/>
          <p:nvPr/>
        </p:nvSpPr>
        <p:spPr>
          <a:xfrm>
            <a:off x="7693743" y="5545282"/>
            <a:ext cx="2133598" cy="63284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Exit</a:t>
            </a:r>
          </a:p>
        </p:txBody>
      </p:sp>
      <p:cxnSp>
        <p:nvCxnSpPr>
          <p:cNvPr id="23" name="Straight Arrow Connector 22">
            <a:extLst>
              <a:ext uri="{FF2B5EF4-FFF2-40B4-BE49-F238E27FC236}">
                <a16:creationId xmlns:a16="http://schemas.microsoft.com/office/drawing/2014/main" id="{CBE991CB-AC95-B0A3-04EF-8034368DC543}"/>
              </a:ext>
            </a:extLst>
          </p:cNvPr>
          <p:cNvCxnSpPr>
            <a:endCxn id="18" idx="0"/>
          </p:cNvCxnSpPr>
          <p:nvPr/>
        </p:nvCxnSpPr>
        <p:spPr>
          <a:xfrm>
            <a:off x="8755626" y="5045195"/>
            <a:ext cx="4916" cy="500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E680EA1-94BF-2F1D-3FE9-5387DD47020B}"/>
              </a:ext>
            </a:extLst>
          </p:cNvPr>
          <p:cNvCxnSpPr>
            <a:endCxn id="5" idx="1"/>
          </p:cNvCxnSpPr>
          <p:nvPr/>
        </p:nvCxnSpPr>
        <p:spPr>
          <a:xfrm rot="16200000" flipV="1">
            <a:off x="7181800" y="3833915"/>
            <a:ext cx="2085771" cy="1061883"/>
          </a:xfrm>
          <a:prstGeom prst="bentConnector4">
            <a:avLst>
              <a:gd name="adj1" fmla="val 8045"/>
              <a:gd name="adj2" fmla="val 12152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739A0767-3341-8FCE-2535-CA044D1CC089}"/>
              </a:ext>
            </a:extLst>
          </p:cNvPr>
          <p:cNvCxnSpPr>
            <a:cxnSpLocks/>
            <a:stCxn id="5" idx="3"/>
          </p:cNvCxnSpPr>
          <p:nvPr/>
        </p:nvCxnSpPr>
        <p:spPr>
          <a:xfrm flipH="1">
            <a:off x="8755625" y="3321971"/>
            <a:ext cx="1150377" cy="1992365"/>
          </a:xfrm>
          <a:prstGeom prst="bentConnector4">
            <a:avLst>
              <a:gd name="adj1" fmla="val -92521"/>
              <a:gd name="adj2" fmla="val 100336"/>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DF22DB5-8F76-DA5C-6CC3-D4D7CD019B88}"/>
              </a:ext>
            </a:extLst>
          </p:cNvPr>
          <p:cNvSpPr txBox="1"/>
          <p:nvPr/>
        </p:nvSpPr>
        <p:spPr>
          <a:xfrm>
            <a:off x="7777317" y="3813651"/>
            <a:ext cx="806244" cy="369332"/>
          </a:xfrm>
          <a:prstGeom prst="rect">
            <a:avLst/>
          </a:prstGeom>
          <a:noFill/>
        </p:spPr>
        <p:txBody>
          <a:bodyPr wrap="square" rtlCol="0">
            <a:spAutoFit/>
          </a:bodyPr>
          <a:lstStyle/>
          <a:p>
            <a:r>
              <a:rPr lang="en-IN" dirty="0"/>
              <a:t>True</a:t>
            </a:r>
          </a:p>
        </p:txBody>
      </p:sp>
      <p:sp>
        <p:nvSpPr>
          <p:cNvPr id="51" name="TextBox 50">
            <a:extLst>
              <a:ext uri="{FF2B5EF4-FFF2-40B4-BE49-F238E27FC236}">
                <a16:creationId xmlns:a16="http://schemas.microsoft.com/office/drawing/2014/main" id="{BD695C11-AF4A-C048-D956-2640689484CF}"/>
              </a:ext>
            </a:extLst>
          </p:cNvPr>
          <p:cNvSpPr txBox="1"/>
          <p:nvPr/>
        </p:nvSpPr>
        <p:spPr>
          <a:xfrm>
            <a:off x="10078066" y="2952639"/>
            <a:ext cx="663677" cy="369332"/>
          </a:xfrm>
          <a:prstGeom prst="rect">
            <a:avLst/>
          </a:prstGeom>
          <a:noFill/>
        </p:spPr>
        <p:txBody>
          <a:bodyPr wrap="square" rtlCol="0">
            <a:spAutoFit/>
          </a:bodyPr>
          <a:lstStyle/>
          <a:p>
            <a:r>
              <a:rPr lang="en-IN" dirty="0"/>
              <a:t>False</a:t>
            </a:r>
          </a:p>
        </p:txBody>
      </p:sp>
    </p:spTree>
    <p:extLst>
      <p:ext uri="{BB962C8B-B14F-4D97-AF65-F5344CB8AC3E}">
        <p14:creationId xmlns:p14="http://schemas.microsoft.com/office/powerpoint/2010/main" val="2701651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CD30-9C9F-BC73-7433-4AEE2550188E}"/>
              </a:ext>
            </a:extLst>
          </p:cNvPr>
          <p:cNvSpPr>
            <a:spLocks noGrp="1"/>
          </p:cNvSpPr>
          <p:nvPr>
            <p:ph type="title"/>
          </p:nvPr>
        </p:nvSpPr>
        <p:spPr/>
        <p:txBody>
          <a:bodyPr/>
          <a:lstStyle/>
          <a:p>
            <a:r>
              <a:rPr lang="en-IN" dirty="0"/>
              <a:t>While loop</a:t>
            </a:r>
          </a:p>
        </p:txBody>
      </p:sp>
      <p:pic>
        <p:nvPicPr>
          <p:cNvPr id="6" name="Picture 5">
            <a:extLst>
              <a:ext uri="{FF2B5EF4-FFF2-40B4-BE49-F238E27FC236}">
                <a16:creationId xmlns:a16="http://schemas.microsoft.com/office/drawing/2014/main" id="{74F6FAE8-B2F2-96E1-DD7B-756924E9C825}"/>
              </a:ext>
            </a:extLst>
          </p:cNvPr>
          <p:cNvPicPr>
            <a:picLocks noChangeAspect="1"/>
          </p:cNvPicPr>
          <p:nvPr/>
        </p:nvPicPr>
        <p:blipFill>
          <a:blip r:embed="rId2"/>
          <a:stretch>
            <a:fillRect/>
          </a:stretch>
        </p:blipFill>
        <p:spPr>
          <a:xfrm>
            <a:off x="1016924" y="1543525"/>
            <a:ext cx="3629532" cy="1981477"/>
          </a:xfrm>
          <a:prstGeom prst="rect">
            <a:avLst/>
          </a:prstGeom>
        </p:spPr>
      </p:pic>
      <p:pic>
        <p:nvPicPr>
          <p:cNvPr id="12" name="Picture 11">
            <a:extLst>
              <a:ext uri="{FF2B5EF4-FFF2-40B4-BE49-F238E27FC236}">
                <a16:creationId xmlns:a16="http://schemas.microsoft.com/office/drawing/2014/main" id="{05CCF752-110B-CB55-0949-2712BAE47AF9}"/>
              </a:ext>
            </a:extLst>
          </p:cNvPr>
          <p:cNvPicPr>
            <a:picLocks noChangeAspect="1"/>
          </p:cNvPicPr>
          <p:nvPr/>
        </p:nvPicPr>
        <p:blipFill>
          <a:blip r:embed="rId3"/>
          <a:stretch>
            <a:fillRect/>
          </a:stretch>
        </p:blipFill>
        <p:spPr>
          <a:xfrm>
            <a:off x="1016924" y="3599733"/>
            <a:ext cx="1247949" cy="2893142"/>
          </a:xfrm>
          <a:prstGeom prst="rect">
            <a:avLst/>
          </a:prstGeom>
        </p:spPr>
      </p:pic>
      <p:sp>
        <p:nvSpPr>
          <p:cNvPr id="13" name="TextBox 12">
            <a:extLst>
              <a:ext uri="{FF2B5EF4-FFF2-40B4-BE49-F238E27FC236}">
                <a16:creationId xmlns:a16="http://schemas.microsoft.com/office/drawing/2014/main" id="{F28B6DB7-DF76-0E9B-F082-03A0B0C14AAE}"/>
              </a:ext>
            </a:extLst>
          </p:cNvPr>
          <p:cNvSpPr txBox="1"/>
          <p:nvPr/>
        </p:nvSpPr>
        <p:spPr>
          <a:xfrm>
            <a:off x="5073445" y="4414684"/>
            <a:ext cx="4945626" cy="646331"/>
          </a:xfrm>
          <a:prstGeom prst="rect">
            <a:avLst/>
          </a:prstGeom>
          <a:noFill/>
        </p:spPr>
        <p:txBody>
          <a:bodyPr wrap="square" rtlCol="0">
            <a:spAutoFit/>
          </a:bodyPr>
          <a:lstStyle/>
          <a:p>
            <a:r>
              <a:rPr lang="en-IN" dirty="0"/>
              <a:t>Output </a:t>
            </a:r>
          </a:p>
          <a:p>
            <a:r>
              <a:rPr lang="en-IN" dirty="0"/>
              <a:t>prints numbers 1 to 15</a:t>
            </a:r>
          </a:p>
        </p:txBody>
      </p:sp>
      <p:cxnSp>
        <p:nvCxnSpPr>
          <p:cNvPr id="15" name="Straight Arrow Connector 14">
            <a:extLst>
              <a:ext uri="{FF2B5EF4-FFF2-40B4-BE49-F238E27FC236}">
                <a16:creationId xmlns:a16="http://schemas.microsoft.com/office/drawing/2014/main" id="{96135979-3A04-8F9D-B852-04128EAABDA3}"/>
              </a:ext>
            </a:extLst>
          </p:cNvPr>
          <p:cNvCxnSpPr>
            <a:endCxn id="13" idx="1"/>
          </p:cNvCxnSpPr>
          <p:nvPr/>
        </p:nvCxnSpPr>
        <p:spPr>
          <a:xfrm>
            <a:off x="2264873" y="4689987"/>
            <a:ext cx="2808572" cy="47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CE36E27-73E5-F18C-31D1-454002B45776}"/>
              </a:ext>
            </a:extLst>
          </p:cNvPr>
          <p:cNvSpPr txBox="1"/>
          <p:nvPr/>
        </p:nvSpPr>
        <p:spPr>
          <a:xfrm>
            <a:off x="6931742" y="1612489"/>
            <a:ext cx="3087329" cy="369332"/>
          </a:xfrm>
          <a:prstGeom prst="rect">
            <a:avLst/>
          </a:prstGeom>
          <a:noFill/>
        </p:spPr>
        <p:txBody>
          <a:bodyPr wrap="square" rtlCol="0">
            <a:spAutoFit/>
          </a:bodyPr>
          <a:lstStyle/>
          <a:p>
            <a:r>
              <a:rPr lang="en-IN" dirty="0"/>
              <a:t>Conditional code</a:t>
            </a:r>
          </a:p>
        </p:txBody>
      </p:sp>
      <p:sp>
        <p:nvSpPr>
          <p:cNvPr id="17" name="TextBox 16">
            <a:extLst>
              <a:ext uri="{FF2B5EF4-FFF2-40B4-BE49-F238E27FC236}">
                <a16:creationId xmlns:a16="http://schemas.microsoft.com/office/drawing/2014/main" id="{C911AE07-A564-464A-0965-B1F80CA649D7}"/>
              </a:ext>
            </a:extLst>
          </p:cNvPr>
          <p:cNvSpPr txBox="1"/>
          <p:nvPr/>
        </p:nvSpPr>
        <p:spPr>
          <a:xfrm>
            <a:off x="6931742" y="2349597"/>
            <a:ext cx="3087329" cy="369332"/>
          </a:xfrm>
          <a:prstGeom prst="rect">
            <a:avLst/>
          </a:prstGeom>
          <a:noFill/>
        </p:spPr>
        <p:txBody>
          <a:bodyPr wrap="square" rtlCol="0">
            <a:spAutoFit/>
          </a:bodyPr>
          <a:lstStyle/>
          <a:p>
            <a:r>
              <a:rPr lang="en-IN" dirty="0"/>
              <a:t>Conditional Code</a:t>
            </a:r>
          </a:p>
        </p:txBody>
      </p:sp>
      <p:cxnSp>
        <p:nvCxnSpPr>
          <p:cNvPr id="19" name="Connector: Elbow 18">
            <a:extLst>
              <a:ext uri="{FF2B5EF4-FFF2-40B4-BE49-F238E27FC236}">
                <a16:creationId xmlns:a16="http://schemas.microsoft.com/office/drawing/2014/main" id="{C8D7EF35-4C56-ECF1-9486-F3B5AC1F3700}"/>
              </a:ext>
            </a:extLst>
          </p:cNvPr>
          <p:cNvCxnSpPr>
            <a:stCxn id="6" idx="3"/>
            <a:endCxn id="16" idx="1"/>
          </p:cNvCxnSpPr>
          <p:nvPr/>
        </p:nvCxnSpPr>
        <p:spPr>
          <a:xfrm flipV="1">
            <a:off x="4646456" y="1797155"/>
            <a:ext cx="2285286" cy="73710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9CBC252-7F84-F129-9001-2B7E1A9D57AD}"/>
              </a:ext>
            </a:extLst>
          </p:cNvPr>
          <p:cNvCxnSpPr>
            <a:stCxn id="6" idx="3"/>
            <a:endCxn id="17" idx="1"/>
          </p:cNvCxnSpPr>
          <p:nvPr/>
        </p:nvCxnSpPr>
        <p:spPr>
          <a:xfrm flipV="1">
            <a:off x="4646456" y="2534263"/>
            <a:ext cx="22852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732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3C1A5-A50B-68B4-A039-E1FE136A1451}"/>
              </a:ext>
            </a:extLst>
          </p:cNvPr>
          <p:cNvSpPr>
            <a:spLocks noGrp="1"/>
          </p:cNvSpPr>
          <p:nvPr>
            <p:ph type="title"/>
          </p:nvPr>
        </p:nvSpPr>
        <p:spPr/>
        <p:txBody>
          <a:bodyPr/>
          <a:lstStyle/>
          <a:p>
            <a:r>
              <a:rPr lang="en-IN" dirty="0"/>
              <a:t>Number guessing game</a:t>
            </a:r>
          </a:p>
        </p:txBody>
      </p:sp>
      <p:sp>
        <p:nvSpPr>
          <p:cNvPr id="3" name="Content Placeholder 2">
            <a:extLst>
              <a:ext uri="{FF2B5EF4-FFF2-40B4-BE49-F238E27FC236}">
                <a16:creationId xmlns:a16="http://schemas.microsoft.com/office/drawing/2014/main" id="{DAB12031-8D4C-D278-05D2-4BDBEF0D89E2}"/>
              </a:ext>
            </a:extLst>
          </p:cNvPr>
          <p:cNvSpPr>
            <a:spLocks noGrp="1"/>
          </p:cNvSpPr>
          <p:nvPr>
            <p:ph idx="1"/>
          </p:nvPr>
        </p:nvSpPr>
        <p:spPr/>
        <p:txBody>
          <a:bodyPr>
            <a:normAutofit fontScale="62500" lnSpcReduction="20000"/>
          </a:bodyPr>
          <a:lstStyle/>
          <a:p>
            <a:r>
              <a:rPr lang="en-US" dirty="0"/>
              <a:t>import random</a:t>
            </a:r>
          </a:p>
          <a:p>
            <a:r>
              <a:rPr lang="en-US" dirty="0"/>
              <a:t>n = </a:t>
            </a:r>
            <a:r>
              <a:rPr lang="en-US" dirty="0" err="1"/>
              <a:t>random.randrange</a:t>
            </a:r>
            <a:r>
              <a:rPr lang="en-US" dirty="0"/>
              <a:t>(1,10)</a:t>
            </a:r>
          </a:p>
          <a:p>
            <a:r>
              <a:rPr lang="en-US" dirty="0"/>
              <a:t>guess = int(input("Enter any number: "))</a:t>
            </a:r>
          </a:p>
          <a:p>
            <a:r>
              <a:rPr lang="en-US" dirty="0"/>
              <a:t>while n!= guess:</a:t>
            </a:r>
          </a:p>
          <a:p>
            <a:r>
              <a:rPr lang="en-US" dirty="0"/>
              <a:t>    if guess &lt; n:</a:t>
            </a:r>
          </a:p>
          <a:p>
            <a:r>
              <a:rPr lang="en-US" dirty="0"/>
              <a:t>        print("Too low")</a:t>
            </a:r>
          </a:p>
          <a:p>
            <a:r>
              <a:rPr lang="en-US" dirty="0"/>
              <a:t>        guess = int(input("Enter number again: "))</a:t>
            </a:r>
          </a:p>
          <a:p>
            <a:r>
              <a:rPr lang="en-US" dirty="0"/>
              <a:t>    </a:t>
            </a:r>
            <a:r>
              <a:rPr lang="en-US" dirty="0" err="1"/>
              <a:t>elif</a:t>
            </a:r>
            <a:r>
              <a:rPr lang="en-US" dirty="0"/>
              <a:t> guess &gt; n:</a:t>
            </a:r>
          </a:p>
          <a:p>
            <a:r>
              <a:rPr lang="en-US" dirty="0"/>
              <a:t>        print("Too high!")</a:t>
            </a:r>
          </a:p>
          <a:p>
            <a:r>
              <a:rPr lang="en-US" dirty="0"/>
              <a:t>        guess = int(input("Enter number again: "))</a:t>
            </a:r>
          </a:p>
          <a:p>
            <a:r>
              <a:rPr lang="en-US" dirty="0"/>
              <a:t>    else:</a:t>
            </a:r>
          </a:p>
          <a:p>
            <a:r>
              <a:rPr lang="en-US" dirty="0"/>
              <a:t>      break</a:t>
            </a:r>
          </a:p>
          <a:p>
            <a:r>
              <a:rPr lang="en-US" dirty="0"/>
              <a:t>print("you guessed it right!!")</a:t>
            </a:r>
            <a:endParaRPr lang="en-IN" dirty="0"/>
          </a:p>
        </p:txBody>
      </p:sp>
    </p:spTree>
    <p:extLst>
      <p:ext uri="{BB962C8B-B14F-4D97-AF65-F5344CB8AC3E}">
        <p14:creationId xmlns:p14="http://schemas.microsoft.com/office/powerpoint/2010/main" val="629809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F8A5-5504-7C00-4AD2-2BC725ECB410}"/>
              </a:ext>
            </a:extLst>
          </p:cNvPr>
          <p:cNvSpPr>
            <a:spLocks noGrp="1"/>
          </p:cNvSpPr>
          <p:nvPr>
            <p:ph type="title"/>
          </p:nvPr>
        </p:nvSpPr>
        <p:spPr/>
        <p:txBody>
          <a:bodyPr/>
          <a:lstStyle/>
          <a:p>
            <a:r>
              <a:rPr lang="en-IN" dirty="0"/>
              <a:t>For loop</a:t>
            </a:r>
          </a:p>
        </p:txBody>
      </p:sp>
      <p:sp>
        <p:nvSpPr>
          <p:cNvPr id="3" name="Content Placeholder 2">
            <a:extLst>
              <a:ext uri="{FF2B5EF4-FFF2-40B4-BE49-F238E27FC236}">
                <a16:creationId xmlns:a16="http://schemas.microsoft.com/office/drawing/2014/main" id="{10836982-F05C-486D-0D25-21C1BBAA9F9B}"/>
              </a:ext>
            </a:extLst>
          </p:cNvPr>
          <p:cNvSpPr>
            <a:spLocks noGrp="1"/>
          </p:cNvSpPr>
          <p:nvPr>
            <p:ph idx="1"/>
          </p:nvPr>
        </p:nvSpPr>
        <p:spPr/>
        <p:txBody>
          <a:bodyPr>
            <a:normAutofit fontScale="92500" lnSpcReduction="20000"/>
          </a:bodyPr>
          <a:lstStyle/>
          <a:p>
            <a:r>
              <a:rPr lang="en-IN" b="0" dirty="0">
                <a:solidFill>
                  <a:srgbClr val="C586C0"/>
                </a:solidFill>
                <a:effectLst/>
                <a:highlight>
                  <a:srgbClr val="1F1F1F"/>
                </a:highlight>
                <a:latin typeface="Consolas" panose="020B0609020204030204" pitchFamily="49" charset="0"/>
              </a:rPr>
              <a:t>for</a:t>
            </a:r>
            <a:r>
              <a:rPr lang="en-IN" b="0" dirty="0">
                <a:solidFill>
                  <a:srgbClr val="CCCCCC"/>
                </a:solidFill>
                <a:effectLst/>
                <a:highlight>
                  <a:srgbClr val="1F1F1F"/>
                </a:highlight>
                <a:latin typeface="Consolas" panose="020B0609020204030204" pitchFamily="49" charset="0"/>
              </a:rPr>
              <a:t> </a:t>
            </a:r>
            <a:r>
              <a:rPr lang="en-IN" b="0" dirty="0" err="1">
                <a:solidFill>
                  <a:srgbClr val="9CDCFE"/>
                </a:solidFill>
                <a:effectLst/>
                <a:highlight>
                  <a:srgbClr val="1F1F1F"/>
                </a:highlight>
                <a:latin typeface="Consolas" panose="020B0609020204030204" pitchFamily="49" charset="0"/>
              </a:rPr>
              <a:t>i</a:t>
            </a:r>
            <a:r>
              <a:rPr lang="en-IN" b="0" dirty="0">
                <a:solidFill>
                  <a:srgbClr val="CCCCCC"/>
                </a:solidFill>
                <a:effectLst/>
                <a:highlight>
                  <a:srgbClr val="1F1F1F"/>
                </a:highlight>
                <a:latin typeface="Consolas" panose="020B0609020204030204" pitchFamily="49" charset="0"/>
              </a:rPr>
              <a:t> </a:t>
            </a:r>
            <a:r>
              <a:rPr lang="en-IN" b="0" dirty="0">
                <a:solidFill>
                  <a:srgbClr val="DCDCAA"/>
                </a:solidFill>
                <a:effectLst/>
                <a:highlight>
                  <a:srgbClr val="1F1F1F"/>
                </a:highlight>
                <a:latin typeface="Consolas" panose="020B0609020204030204" pitchFamily="49" charset="0"/>
              </a:rPr>
              <a:t>in</a:t>
            </a:r>
            <a:r>
              <a:rPr lang="en-IN" b="0" dirty="0">
                <a:solidFill>
                  <a:srgbClr val="CCCCCC"/>
                </a:solidFill>
                <a:effectLst/>
                <a:highlight>
                  <a:srgbClr val="1F1F1F"/>
                </a:highlight>
                <a:latin typeface="Consolas" panose="020B0609020204030204" pitchFamily="49" charset="0"/>
              </a:rPr>
              <a:t> </a:t>
            </a:r>
            <a:r>
              <a:rPr lang="en-IN" b="0" dirty="0">
                <a:solidFill>
                  <a:srgbClr val="4EC9B0"/>
                </a:solidFill>
                <a:effectLst/>
                <a:highlight>
                  <a:srgbClr val="1F1F1F"/>
                </a:highlight>
                <a:latin typeface="Consolas" panose="020B0609020204030204" pitchFamily="49" charset="0"/>
              </a:rPr>
              <a:t>range</a:t>
            </a:r>
            <a:r>
              <a:rPr lang="en-IN" b="0" dirty="0">
                <a:solidFill>
                  <a:srgbClr val="CCCCCC"/>
                </a:solidFill>
                <a:effectLst/>
                <a:highlight>
                  <a:srgbClr val="1F1F1F"/>
                </a:highlight>
                <a:latin typeface="Consolas" panose="020B0609020204030204" pitchFamily="49" charset="0"/>
              </a:rPr>
              <a:t>(</a:t>
            </a:r>
            <a:r>
              <a:rPr lang="en-IN" b="0" dirty="0">
                <a:solidFill>
                  <a:srgbClr val="B5CEA8"/>
                </a:solidFill>
                <a:effectLst/>
                <a:highlight>
                  <a:srgbClr val="1F1F1F"/>
                </a:highlight>
                <a:latin typeface="Consolas" panose="020B0609020204030204" pitchFamily="49" charset="0"/>
              </a:rPr>
              <a:t>100</a:t>
            </a:r>
            <a:r>
              <a:rPr lang="en-IN" b="0" dirty="0">
                <a:solidFill>
                  <a:srgbClr val="CCCCCC"/>
                </a:solidFill>
                <a:effectLst/>
                <a:highlight>
                  <a:srgbClr val="1F1F1F"/>
                </a:highlight>
                <a:latin typeface="Consolas" panose="020B0609020204030204" pitchFamily="49" charset="0"/>
              </a:rPr>
              <a:t>):</a:t>
            </a:r>
          </a:p>
          <a:p>
            <a:r>
              <a:rPr lang="en-IN" b="0" dirty="0">
                <a:solidFill>
                  <a:srgbClr val="CCCCCC"/>
                </a:solidFill>
                <a:effectLst/>
                <a:highlight>
                  <a:srgbClr val="1F1F1F"/>
                </a:highlight>
                <a:latin typeface="Consolas" panose="020B0609020204030204" pitchFamily="49" charset="0"/>
              </a:rPr>
              <a:t>    </a:t>
            </a:r>
            <a:r>
              <a:rPr lang="en-IN" b="0" dirty="0">
                <a:solidFill>
                  <a:srgbClr val="DCDCAA"/>
                </a:solidFill>
                <a:effectLst/>
                <a:highlight>
                  <a:srgbClr val="1F1F1F"/>
                </a:highlight>
                <a:latin typeface="Consolas" panose="020B0609020204030204" pitchFamily="49" charset="0"/>
              </a:rPr>
              <a:t>print</a:t>
            </a:r>
            <a:r>
              <a:rPr lang="en-IN" b="0" dirty="0">
                <a:solidFill>
                  <a:srgbClr val="CCCCCC"/>
                </a:solidFill>
                <a:effectLst/>
                <a:highlight>
                  <a:srgbClr val="1F1F1F"/>
                </a:highlight>
                <a:latin typeface="Consolas" panose="020B0609020204030204" pitchFamily="49" charset="0"/>
              </a:rPr>
              <a:t>(</a:t>
            </a:r>
            <a:r>
              <a:rPr lang="en-IN" b="0" dirty="0" err="1">
                <a:solidFill>
                  <a:srgbClr val="9CDCFE"/>
                </a:solidFill>
                <a:effectLst/>
                <a:highlight>
                  <a:srgbClr val="1F1F1F"/>
                </a:highlight>
                <a:latin typeface="Consolas" panose="020B0609020204030204" pitchFamily="49" charset="0"/>
              </a:rPr>
              <a:t>i</a:t>
            </a:r>
            <a:r>
              <a:rPr lang="en-IN" b="0" dirty="0">
                <a:solidFill>
                  <a:srgbClr val="CCCCCC"/>
                </a:solidFill>
                <a:effectLst/>
                <a:highlight>
                  <a:srgbClr val="1F1F1F"/>
                </a:highlight>
                <a:latin typeface="Consolas" panose="020B0609020204030204" pitchFamily="49" charset="0"/>
              </a:rPr>
              <a:t>)</a:t>
            </a:r>
          </a:p>
          <a:p>
            <a:endParaRPr lang="en-IN" dirty="0">
              <a:solidFill>
                <a:srgbClr val="CCCCCC"/>
              </a:solidFill>
              <a:highlight>
                <a:srgbClr val="1F1F1F"/>
              </a:highlight>
              <a:latin typeface="Consolas" panose="020B0609020204030204" pitchFamily="49" charset="0"/>
            </a:endParaRPr>
          </a:p>
          <a:p>
            <a:endParaRPr lang="en-IN" b="0" dirty="0">
              <a:solidFill>
                <a:srgbClr val="CCCCCC"/>
              </a:solidFill>
              <a:effectLst/>
              <a:highlight>
                <a:srgbClr val="1F1F1F"/>
              </a:highlight>
              <a:latin typeface="Consolas" panose="020B0609020204030204" pitchFamily="49" charset="0"/>
            </a:endParaRPr>
          </a:p>
          <a:p>
            <a:pPr algn="l">
              <a:buFont typeface="+mj-lt"/>
              <a:buAutoNum type="arabicPeriod"/>
            </a:pPr>
            <a:r>
              <a:rPr lang="en-US" b="0" i="0" dirty="0">
                <a:solidFill>
                  <a:srgbClr val="0D0D0D"/>
                </a:solidFill>
                <a:effectLst/>
                <a:highlight>
                  <a:srgbClr val="FFFFFF"/>
                </a:highlight>
                <a:latin typeface="Söhne"/>
              </a:rPr>
              <a:t>Start the loop from 0.</a:t>
            </a:r>
          </a:p>
          <a:p>
            <a:pPr algn="l">
              <a:buFont typeface="+mj-lt"/>
              <a:buAutoNum type="arabicPeriod"/>
            </a:pPr>
            <a:r>
              <a:rPr lang="en-US" b="0" i="0" dirty="0">
                <a:solidFill>
                  <a:srgbClr val="0D0D0D"/>
                </a:solidFill>
                <a:effectLst/>
                <a:highlight>
                  <a:srgbClr val="FFFFFF"/>
                </a:highlight>
                <a:latin typeface="Söhne"/>
              </a:rPr>
              <a:t>Check if the current value of the loop variable is less than 100.</a:t>
            </a:r>
          </a:p>
          <a:p>
            <a:pPr algn="l">
              <a:buFont typeface="+mj-lt"/>
              <a:buAutoNum type="arabicPeriod"/>
            </a:pPr>
            <a:r>
              <a:rPr lang="en-US" b="0" i="0" dirty="0">
                <a:solidFill>
                  <a:srgbClr val="0D0D0D"/>
                </a:solidFill>
                <a:effectLst/>
                <a:highlight>
                  <a:srgbClr val="FFFFFF"/>
                </a:highlight>
                <a:latin typeface="Söhne"/>
              </a:rPr>
              <a:t>If the condition is true, print the current value of the loop variable.</a:t>
            </a:r>
          </a:p>
          <a:p>
            <a:pPr algn="l">
              <a:buFont typeface="+mj-lt"/>
              <a:buAutoNum type="arabicPeriod"/>
            </a:pPr>
            <a:r>
              <a:rPr lang="en-US" b="0" i="0" dirty="0">
                <a:solidFill>
                  <a:srgbClr val="0D0D0D"/>
                </a:solidFill>
                <a:effectLst/>
                <a:highlight>
                  <a:srgbClr val="FFFFFF"/>
                </a:highlight>
                <a:latin typeface="Söhne"/>
              </a:rPr>
              <a:t>Increment the loop variable by 1.</a:t>
            </a:r>
          </a:p>
          <a:p>
            <a:pPr algn="l">
              <a:buFont typeface="+mj-lt"/>
              <a:buAutoNum type="arabicPeriod"/>
            </a:pPr>
            <a:r>
              <a:rPr lang="en-US" b="0" i="0" dirty="0">
                <a:solidFill>
                  <a:srgbClr val="0D0D0D"/>
                </a:solidFill>
                <a:effectLst/>
                <a:highlight>
                  <a:srgbClr val="FFFFFF"/>
                </a:highlight>
                <a:latin typeface="Söhne"/>
              </a:rPr>
              <a:t>Repeat steps 2-4 until the loop variable reaches 100.</a:t>
            </a:r>
          </a:p>
          <a:p>
            <a:pPr algn="l">
              <a:buFont typeface="+mj-lt"/>
              <a:buAutoNum type="arabicPeriod"/>
            </a:pPr>
            <a:r>
              <a:rPr lang="en-US" b="0" i="0" dirty="0">
                <a:solidFill>
                  <a:srgbClr val="0D0D0D"/>
                </a:solidFill>
                <a:effectLst/>
                <a:highlight>
                  <a:srgbClr val="FFFFFF"/>
                </a:highlight>
                <a:latin typeface="Söhne"/>
              </a:rPr>
              <a:t>End the algorithm</a:t>
            </a:r>
          </a:p>
          <a:p>
            <a:endParaRPr lang="en-IN" dirty="0"/>
          </a:p>
        </p:txBody>
      </p:sp>
    </p:spTree>
    <p:extLst>
      <p:ext uri="{BB962C8B-B14F-4D97-AF65-F5344CB8AC3E}">
        <p14:creationId xmlns:p14="http://schemas.microsoft.com/office/powerpoint/2010/main" val="405682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88FB6-582C-554A-11D1-4C1E18767FBB}"/>
              </a:ext>
            </a:extLst>
          </p:cNvPr>
          <p:cNvSpPr>
            <a:spLocks noGrp="1"/>
          </p:cNvSpPr>
          <p:nvPr>
            <p:ph type="title"/>
          </p:nvPr>
        </p:nvSpPr>
        <p:spPr/>
        <p:txBody>
          <a:bodyPr/>
          <a:lstStyle/>
          <a:p>
            <a:r>
              <a:rPr lang="en-IN" dirty="0"/>
              <a:t>For loop</a:t>
            </a:r>
          </a:p>
        </p:txBody>
      </p:sp>
      <p:sp>
        <p:nvSpPr>
          <p:cNvPr id="3" name="Content Placeholder 2">
            <a:extLst>
              <a:ext uri="{FF2B5EF4-FFF2-40B4-BE49-F238E27FC236}">
                <a16:creationId xmlns:a16="http://schemas.microsoft.com/office/drawing/2014/main" id="{3EBAF537-A78F-F926-2F97-275C198B919D}"/>
              </a:ext>
            </a:extLst>
          </p:cNvPr>
          <p:cNvSpPr>
            <a:spLocks noGrp="1"/>
          </p:cNvSpPr>
          <p:nvPr>
            <p:ph idx="1"/>
          </p:nvPr>
        </p:nvSpPr>
        <p:spPr/>
        <p:txBody>
          <a:bodyPr/>
          <a:lstStyle/>
          <a:p>
            <a:r>
              <a:rPr lang="en-IN" dirty="0"/>
              <a:t>Name=[“</a:t>
            </a:r>
            <a:r>
              <a:rPr lang="en-IN" dirty="0" err="1"/>
              <a:t>raja”,”Venkat”,”Pal</a:t>
            </a:r>
            <a:r>
              <a:rPr lang="en-IN" dirty="0"/>
              <a:t>”] </a:t>
            </a:r>
            <a:r>
              <a:rPr lang="en-IN" dirty="0">
                <a:sym typeface="Wingdings" panose="05000000000000000000" pitchFamily="2" charset="2"/>
              </a:rPr>
              <a:t> sequence </a:t>
            </a:r>
            <a:endParaRPr lang="en-IN" dirty="0"/>
          </a:p>
          <a:p>
            <a:pPr marL="0" indent="0">
              <a:buNone/>
            </a:pPr>
            <a:r>
              <a:rPr lang="en-IN" dirty="0"/>
              <a:t>for name in Name: </a:t>
            </a:r>
            <a:r>
              <a:rPr lang="en-IN" dirty="0">
                <a:sym typeface="Wingdings" panose="05000000000000000000" pitchFamily="2" charset="2"/>
              </a:rPr>
              <a:t> Iterator</a:t>
            </a:r>
            <a:endParaRPr lang="en-IN" dirty="0"/>
          </a:p>
          <a:p>
            <a:pPr marL="0" indent="0">
              <a:buNone/>
            </a:pPr>
            <a:r>
              <a:rPr lang="en-IN" dirty="0"/>
              <a:t>	print(name)    </a:t>
            </a:r>
          </a:p>
          <a:p>
            <a:pPr marL="0" indent="0">
              <a:buNone/>
            </a:pPr>
            <a:r>
              <a:rPr lang="en-IN" dirty="0"/>
              <a:t>Output: </a:t>
            </a:r>
          </a:p>
          <a:p>
            <a:pPr marL="0" indent="0">
              <a:buNone/>
            </a:pPr>
            <a:r>
              <a:rPr lang="en-IN" dirty="0"/>
              <a:t> raja</a:t>
            </a:r>
          </a:p>
          <a:p>
            <a:pPr marL="0" indent="0">
              <a:buNone/>
            </a:pPr>
            <a:r>
              <a:rPr lang="en-IN" dirty="0"/>
              <a:t>Venkat</a:t>
            </a:r>
          </a:p>
          <a:p>
            <a:pPr marL="0" indent="0">
              <a:buNone/>
            </a:pPr>
            <a:r>
              <a:rPr lang="en-IN" dirty="0"/>
              <a:t>Pal </a:t>
            </a:r>
          </a:p>
          <a:p>
            <a:pPr marL="0" indent="0">
              <a:buNone/>
            </a:pPr>
            <a:r>
              <a:rPr lang="en-IN" dirty="0"/>
              <a:t>	</a:t>
            </a:r>
          </a:p>
        </p:txBody>
      </p:sp>
    </p:spTree>
    <p:extLst>
      <p:ext uri="{BB962C8B-B14F-4D97-AF65-F5344CB8AC3E}">
        <p14:creationId xmlns:p14="http://schemas.microsoft.com/office/powerpoint/2010/main" val="4047202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B0A0-BED7-2B2A-8173-892173561FF0}"/>
              </a:ext>
            </a:extLst>
          </p:cNvPr>
          <p:cNvSpPr>
            <a:spLocks noGrp="1"/>
          </p:cNvSpPr>
          <p:nvPr>
            <p:ph type="title"/>
          </p:nvPr>
        </p:nvSpPr>
        <p:spPr/>
        <p:txBody>
          <a:bodyPr/>
          <a:lstStyle/>
          <a:p>
            <a:r>
              <a:rPr lang="en-IN" dirty="0"/>
              <a:t>Matrix addition</a:t>
            </a:r>
          </a:p>
        </p:txBody>
      </p:sp>
      <p:pic>
        <p:nvPicPr>
          <p:cNvPr id="5" name="Content Placeholder 4">
            <a:extLst>
              <a:ext uri="{FF2B5EF4-FFF2-40B4-BE49-F238E27FC236}">
                <a16:creationId xmlns:a16="http://schemas.microsoft.com/office/drawing/2014/main" id="{374102BA-64A3-511D-9DC8-A50C4AA85415}"/>
              </a:ext>
            </a:extLst>
          </p:cNvPr>
          <p:cNvPicPr>
            <a:picLocks noGrp="1" noChangeAspect="1"/>
          </p:cNvPicPr>
          <p:nvPr>
            <p:ph idx="1"/>
          </p:nvPr>
        </p:nvPicPr>
        <p:blipFill>
          <a:blip r:embed="rId2"/>
          <a:stretch>
            <a:fillRect/>
          </a:stretch>
        </p:blipFill>
        <p:spPr>
          <a:xfrm>
            <a:off x="1042219" y="1825625"/>
            <a:ext cx="9802762" cy="4351338"/>
          </a:xfrm>
        </p:spPr>
      </p:pic>
    </p:spTree>
    <p:extLst>
      <p:ext uri="{BB962C8B-B14F-4D97-AF65-F5344CB8AC3E}">
        <p14:creationId xmlns:p14="http://schemas.microsoft.com/office/powerpoint/2010/main" val="464347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6615-4280-4E76-7FEC-BEF69F6D6147}"/>
              </a:ext>
            </a:extLst>
          </p:cNvPr>
          <p:cNvSpPr>
            <a:spLocks noGrp="1"/>
          </p:cNvSpPr>
          <p:nvPr>
            <p:ph type="title"/>
          </p:nvPr>
        </p:nvSpPr>
        <p:spPr/>
        <p:txBody>
          <a:bodyPr/>
          <a:lstStyle/>
          <a:p>
            <a:r>
              <a:rPr lang="en-IN" dirty="0"/>
              <a:t>Loop control statements</a:t>
            </a:r>
          </a:p>
        </p:txBody>
      </p:sp>
      <p:sp>
        <p:nvSpPr>
          <p:cNvPr id="3" name="Content Placeholder 2">
            <a:extLst>
              <a:ext uri="{FF2B5EF4-FFF2-40B4-BE49-F238E27FC236}">
                <a16:creationId xmlns:a16="http://schemas.microsoft.com/office/drawing/2014/main" id="{32E1D927-7F36-5628-9BB8-7082257650C8}"/>
              </a:ext>
            </a:extLst>
          </p:cNvPr>
          <p:cNvSpPr>
            <a:spLocks noGrp="1"/>
          </p:cNvSpPr>
          <p:nvPr>
            <p:ph idx="1"/>
          </p:nvPr>
        </p:nvSpPr>
        <p:spPr/>
        <p:txBody>
          <a:bodyPr/>
          <a:lstStyle/>
          <a:p>
            <a:pPr marL="0" indent="0">
              <a:buNone/>
            </a:pPr>
            <a:r>
              <a:rPr lang="en-IN" dirty="0"/>
              <a:t>break stops the execution of a for loop while loop and pass execution to next statement</a:t>
            </a:r>
          </a:p>
          <a:p>
            <a:pPr marL="0" indent="0">
              <a:buNone/>
            </a:pPr>
            <a:r>
              <a:rPr lang="en-IN" dirty="0"/>
              <a:t>continue </a:t>
            </a:r>
          </a:p>
          <a:p>
            <a:pPr marL="0" indent="0">
              <a:buNone/>
            </a:pPr>
            <a:r>
              <a:rPr lang="en-IN" dirty="0"/>
              <a:t>Skips the execution of next statement and go to next index</a:t>
            </a:r>
          </a:p>
          <a:p>
            <a:pPr marL="0" indent="0">
              <a:buNone/>
            </a:pPr>
            <a:endParaRPr lang="en-IN" dirty="0"/>
          </a:p>
          <a:p>
            <a:pPr marL="0" indent="0">
              <a:buNone/>
            </a:pPr>
            <a:r>
              <a:rPr lang="en-IN" dirty="0"/>
              <a:t>Pass the pass statement in python is used when a statement is required in the absence of executing code. In other case its just a </a:t>
            </a:r>
            <a:r>
              <a:rPr lang="en-IN"/>
              <a:t>place holder</a:t>
            </a:r>
            <a:endParaRPr lang="en-IN" dirty="0"/>
          </a:p>
          <a:p>
            <a:pPr marL="0" indent="0">
              <a:buNone/>
            </a:pPr>
            <a:r>
              <a:rPr lang="en-IN" dirty="0"/>
              <a:t>Pass and continue difference </a:t>
            </a:r>
          </a:p>
        </p:txBody>
      </p:sp>
    </p:spTree>
    <p:extLst>
      <p:ext uri="{BB962C8B-B14F-4D97-AF65-F5344CB8AC3E}">
        <p14:creationId xmlns:p14="http://schemas.microsoft.com/office/powerpoint/2010/main" val="3215225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9C76-F4B8-AF4F-9922-1E43F5955448}"/>
              </a:ext>
            </a:extLst>
          </p:cNvPr>
          <p:cNvSpPr>
            <a:spLocks noGrp="1"/>
          </p:cNvSpPr>
          <p:nvPr>
            <p:ph type="title"/>
          </p:nvPr>
        </p:nvSpPr>
        <p:spPr/>
        <p:txBody>
          <a:bodyPr/>
          <a:lstStyle/>
          <a:p>
            <a:r>
              <a:rPr lang="en-IN" dirty="0"/>
              <a:t>Machine learning tips</a:t>
            </a:r>
          </a:p>
        </p:txBody>
      </p:sp>
      <p:sp>
        <p:nvSpPr>
          <p:cNvPr id="3" name="Content Placeholder 2">
            <a:extLst>
              <a:ext uri="{FF2B5EF4-FFF2-40B4-BE49-F238E27FC236}">
                <a16:creationId xmlns:a16="http://schemas.microsoft.com/office/drawing/2014/main" id="{B2FC1A17-07A5-1A75-00FD-FF43880CEF4F}"/>
              </a:ext>
            </a:extLst>
          </p:cNvPr>
          <p:cNvSpPr>
            <a:spLocks noGrp="1"/>
          </p:cNvSpPr>
          <p:nvPr>
            <p:ph idx="1"/>
          </p:nvPr>
        </p:nvSpPr>
        <p:spPr/>
        <p:txBody>
          <a:bodyPr/>
          <a:lstStyle/>
          <a:p>
            <a:r>
              <a:rPr lang="en-IN" dirty="0"/>
              <a:t>Machine learning basic concepts classification regression</a:t>
            </a:r>
          </a:p>
          <a:p>
            <a:pPr>
              <a:buFontTx/>
              <a:buChar char="-"/>
            </a:pPr>
            <a:r>
              <a:rPr lang="en-IN" dirty="0"/>
              <a:t>Ensemble models Random </a:t>
            </a:r>
            <a:r>
              <a:rPr lang="en-IN" dirty="0" err="1"/>
              <a:t>forest,xgboost</a:t>
            </a:r>
            <a:r>
              <a:rPr lang="en-IN" dirty="0"/>
              <a:t> </a:t>
            </a:r>
            <a:r>
              <a:rPr lang="en-IN" dirty="0" err="1"/>
              <a:t>dession</a:t>
            </a:r>
            <a:r>
              <a:rPr lang="en-IN" dirty="0"/>
              <a:t> trees etc</a:t>
            </a:r>
          </a:p>
          <a:p>
            <a:pPr>
              <a:buFontTx/>
              <a:buChar char="-"/>
            </a:pPr>
            <a:r>
              <a:rPr lang="en-IN" dirty="0"/>
              <a:t>Identifying outliers</a:t>
            </a:r>
          </a:p>
          <a:p>
            <a:pPr>
              <a:buFontTx/>
              <a:buChar char="-"/>
            </a:pPr>
            <a:r>
              <a:rPr lang="en-IN" dirty="0"/>
              <a:t>Dataset Imbalance methods</a:t>
            </a:r>
          </a:p>
          <a:p>
            <a:pPr>
              <a:buFontTx/>
              <a:buChar char="-"/>
            </a:pPr>
            <a:r>
              <a:rPr lang="en-IN" dirty="0"/>
              <a:t>Imputation</a:t>
            </a:r>
          </a:p>
          <a:p>
            <a:pPr>
              <a:buFontTx/>
              <a:buChar char="-"/>
            </a:pPr>
            <a:r>
              <a:rPr lang="en-IN"/>
              <a:t>Gradient decent </a:t>
            </a:r>
            <a:endParaRPr lang="en-IN" dirty="0"/>
          </a:p>
          <a:p>
            <a:pPr>
              <a:buFontTx/>
              <a:buChar char="-"/>
            </a:pPr>
            <a:r>
              <a:rPr lang="en-IN" dirty="0"/>
              <a:t>Crop detection use case based upon soil quality</a:t>
            </a:r>
          </a:p>
          <a:p>
            <a:pPr>
              <a:buFontTx/>
              <a:buChar char="-"/>
            </a:pPr>
            <a:endParaRPr lang="en-IN" dirty="0"/>
          </a:p>
          <a:p>
            <a:pPr>
              <a:buFontTx/>
              <a:buChar char="-"/>
            </a:pPr>
            <a:endParaRPr lang="en-IN" dirty="0"/>
          </a:p>
          <a:p>
            <a:pPr>
              <a:buFontTx/>
              <a:buChar char="-"/>
            </a:pPr>
            <a:endParaRPr lang="en-IN" dirty="0"/>
          </a:p>
          <a:p>
            <a:endParaRPr lang="en-IN" dirty="0"/>
          </a:p>
          <a:p>
            <a:endParaRPr lang="en-IN" dirty="0"/>
          </a:p>
        </p:txBody>
      </p:sp>
    </p:spTree>
    <p:extLst>
      <p:ext uri="{BB962C8B-B14F-4D97-AF65-F5344CB8AC3E}">
        <p14:creationId xmlns:p14="http://schemas.microsoft.com/office/powerpoint/2010/main" val="3423554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6755</TotalTime>
  <Words>1727</Words>
  <Application>Microsoft Office PowerPoint</Application>
  <PresentationFormat>Widescreen</PresentationFormat>
  <Paragraphs>269</Paragraphs>
  <Slides>37</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8" baseType="lpstr">
      <vt:lpstr>Arial</vt:lpstr>
      <vt:lpstr>Calibri</vt:lpstr>
      <vt:lpstr>Calibri Light</vt:lpstr>
      <vt:lpstr>Consolas</vt:lpstr>
      <vt:lpstr>Courier New</vt:lpstr>
      <vt:lpstr>Google Sans</vt:lpstr>
      <vt:lpstr>Nunito</vt:lpstr>
      <vt:lpstr>Söhne</vt:lpstr>
      <vt:lpstr>Wingdings</vt:lpstr>
      <vt:lpstr>Office Theme</vt:lpstr>
      <vt:lpstr>Packager Shell Object</vt:lpstr>
      <vt:lpstr>Python basics and its modules for ML</vt:lpstr>
      <vt:lpstr>Python Modules </vt:lpstr>
      <vt:lpstr>Objectives</vt:lpstr>
      <vt:lpstr>Anaconda download</vt:lpstr>
      <vt:lpstr>Download and install visual studio code</vt:lpstr>
      <vt:lpstr>Virtual environment creation and activation</vt:lpstr>
      <vt:lpstr>What is pip</vt:lpstr>
      <vt:lpstr>Python identifers</vt:lpstr>
      <vt:lpstr>Variables</vt:lpstr>
      <vt:lpstr>Applications of python</vt:lpstr>
      <vt:lpstr>Web development</vt:lpstr>
      <vt:lpstr>Testing</vt:lpstr>
      <vt:lpstr>Web crawling  </vt:lpstr>
      <vt:lpstr>Computer vision </vt:lpstr>
      <vt:lpstr>Machine Learning Overview </vt:lpstr>
      <vt:lpstr>Machine learning libaries</vt:lpstr>
      <vt:lpstr>Pandas library</vt:lpstr>
      <vt:lpstr>A.I and GPT</vt:lpstr>
      <vt:lpstr>Python data types</vt:lpstr>
      <vt:lpstr>PowerPoint Presentation</vt:lpstr>
      <vt:lpstr>Data types</vt:lpstr>
      <vt:lpstr>Mutable/Immutable datatype</vt:lpstr>
      <vt:lpstr>PowerPoint Presentation</vt:lpstr>
      <vt:lpstr>Python operators</vt:lpstr>
      <vt:lpstr>Conditional statements</vt:lpstr>
      <vt:lpstr>Loops in Python </vt:lpstr>
      <vt:lpstr>More on conditional statements</vt:lpstr>
      <vt:lpstr>If,Else, and Else Statements</vt:lpstr>
      <vt:lpstr>Loops</vt:lpstr>
      <vt:lpstr>While loop</vt:lpstr>
      <vt:lpstr>While loop</vt:lpstr>
      <vt:lpstr>Number guessing game</vt:lpstr>
      <vt:lpstr>For loop</vt:lpstr>
      <vt:lpstr>For loop</vt:lpstr>
      <vt:lpstr>Matrix addition</vt:lpstr>
      <vt:lpstr>Loop control statements</vt:lpstr>
      <vt:lpstr>Machine learning 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basics and its modules for ML</dc:title>
  <dc:creator>Rajasekhar Amirapu</dc:creator>
  <cp:lastModifiedBy>Rajasekhar Amirapu</cp:lastModifiedBy>
  <cp:revision>9</cp:revision>
  <dcterms:created xsi:type="dcterms:W3CDTF">2024-04-23T02:14:22Z</dcterms:created>
  <dcterms:modified xsi:type="dcterms:W3CDTF">2025-12-20T10:35:17Z</dcterms:modified>
</cp:coreProperties>
</file>